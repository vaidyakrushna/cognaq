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9D2706"/>
          </a:solidFill>
          <a:ln/>
        </p:spPr>
      </p:sp>
      <p:sp>
        <p:nvSpPr>
          <p:cNvPr id="3" name="Shape 1"/>
          <p:cNvSpPr/>
          <p:nvPr/>
        </p:nvSpPr>
        <p:spPr>
          <a:xfrm>
            <a:off x="182880" y="0"/>
            <a:ext cx="4572000" cy="6858000"/>
          </a:xfrm>
          <a:prstGeom prst="rect">
            <a:avLst/>
          </a:prstGeom>
          <a:solidFill>
            <a:srgbClr val="FFFFFF"/>
          </a:solidFill>
          <a:ln/>
        </p:spPr>
      </p:sp>
      <p:sp>
        <p:nvSpPr>
          <p:cNvPr id="4" name="Shape 2"/>
          <p:cNvSpPr/>
          <p:nvPr/>
        </p:nvSpPr>
        <p:spPr>
          <a:xfrm>
            <a:off x="4754880" y="0"/>
            <a:ext cx="27432" cy="6858000"/>
          </a:xfrm>
          <a:prstGeom prst="rect">
            <a:avLst/>
          </a:prstGeom>
          <a:solidFill>
            <a:srgbClr val="E2E8F0"/>
          </a:solidFill>
          <a:ln/>
        </p:spPr>
      </p:sp>
      <p:sp>
        <p:nvSpPr>
          <p:cNvPr id="5" name="Text 3"/>
          <p:cNvSpPr/>
          <p:nvPr/>
        </p:nvSpPr>
        <p:spPr>
          <a:xfrm>
            <a:off x="731520" y="1371600"/>
            <a:ext cx="347472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6" name="Text 4"/>
          <p:cNvSpPr/>
          <p:nvPr/>
        </p:nvSpPr>
        <p:spPr>
          <a:xfrm>
            <a:off x="731520" y="2560320"/>
            <a:ext cx="3474720" cy="731520"/>
          </a:xfrm>
          <a:prstGeom prst="rect">
            <a:avLst/>
          </a:prstGeom>
          <a:noFill/>
          <a:ln/>
        </p:spPr>
        <p:txBody>
          <a:bodyPr wrap="square" rtlCol="0" anchor="ctr"/>
          <a:lstStyle/>
          <a:p>
            <a:pPr algn="ctr" indent="0" marL="0">
              <a:buNone/>
            </a:pPr>
            <a:r>
              <a:rPr lang="en-US" sz="3600" b="1" spc="600" kern="0" dirty="0">
                <a:solidFill>
                  <a:srgbClr val="9D2706"/>
                </a:solidFill>
              </a:rPr>
              <a:t>COGNAQ</a:t>
            </a:r>
            <a:endParaRPr lang="en-US" sz="3600" dirty="0"/>
          </a:p>
        </p:txBody>
      </p:sp>
      <p:sp>
        <p:nvSpPr>
          <p:cNvPr id="7" name="Shape 5"/>
          <p:cNvSpPr/>
          <p:nvPr/>
        </p:nvSpPr>
        <p:spPr>
          <a:xfrm>
            <a:off x="1097280" y="3337560"/>
            <a:ext cx="2743200" cy="36576"/>
          </a:xfrm>
          <a:prstGeom prst="rect">
            <a:avLst/>
          </a:prstGeom>
          <a:solidFill>
            <a:srgbClr val="9D2706"/>
          </a:solidFill>
          <a:ln/>
        </p:spPr>
      </p:sp>
      <p:sp>
        <p:nvSpPr>
          <p:cNvPr id="8" name="Text 6"/>
          <p:cNvSpPr/>
          <p:nvPr/>
        </p:nvSpPr>
        <p:spPr>
          <a:xfrm>
            <a:off x="731520" y="3474720"/>
            <a:ext cx="3474720" cy="0"/>
          </a:xfrm>
          <a:prstGeom prst="rect">
            <a:avLst/>
          </a:prstGeom>
          <a:noFill/>
          <a:ln/>
        </p:spPr>
        <p:txBody>
          <a:bodyPr wrap="square" rtlCol="0" anchor="ctr"/>
          <a:lstStyle/>
          <a:p>
            <a:pPr algn="ctr" indent="0" marL="0">
              <a:buNone/>
            </a:pPr>
            <a:r>
              <a:rPr lang="en-US" sz="1050" b="1" spc="150" kern="0" dirty="0">
                <a:solidFill>
                  <a:srgbClr val="2C3E50"/>
                </a:solidFill>
              </a:rPr>
              <a:t>3D CONFIGURATOR &amp; AR PLATFORM</a:t>
            </a:r>
            <a:endParaRPr lang="en-US" sz="1050" dirty="0"/>
          </a:p>
        </p:txBody>
      </p:sp>
      <p:sp>
        <p:nvSpPr>
          <p:cNvPr id="9" name="Text 7"/>
          <p:cNvSpPr/>
          <p:nvPr/>
        </p:nvSpPr>
        <p:spPr>
          <a:xfrm>
            <a:off x="5303520" y="1463040"/>
            <a:ext cx="6583680" cy="0"/>
          </a:xfrm>
          <a:prstGeom prst="rect">
            <a:avLst/>
          </a:prstGeom>
          <a:noFill/>
          <a:ln/>
        </p:spPr>
        <p:txBody>
          <a:bodyPr wrap="square" rtlCol="0" anchor="ctr"/>
          <a:lstStyle/>
          <a:p>
            <a:pPr indent="0" marL="0">
              <a:buNone/>
            </a:pPr>
            <a:r>
              <a:rPr lang="en-US" sz="3200" b="1" dirty="0">
                <a:solidFill>
                  <a:srgbClr val="2C3E50"/>
                </a:solidFill>
              </a:rPr>
              <a:t>Product Roadmap &amp; Business Plan</a:t>
            </a:r>
            <a:endParaRPr lang="en-US" sz="3200" dirty="0"/>
          </a:p>
        </p:txBody>
      </p:sp>
      <p:sp>
        <p:nvSpPr>
          <p:cNvPr id="10" name="Text 8"/>
          <p:cNvSpPr/>
          <p:nvPr/>
        </p:nvSpPr>
        <p:spPr>
          <a:xfrm>
            <a:off x="5303520" y="2148840"/>
            <a:ext cx="6583680" cy="0"/>
          </a:xfrm>
          <a:prstGeom prst="rect">
            <a:avLst/>
          </a:prstGeom>
          <a:noFill/>
          <a:ln/>
        </p:spPr>
        <p:txBody>
          <a:bodyPr wrap="square" rtlCol="0" anchor="ctr"/>
          <a:lstStyle/>
          <a:p>
            <a:pPr indent="0" marL="0">
              <a:buNone/>
            </a:pPr>
            <a:r>
              <a:rPr lang="en-US" sz="1600" b="1" dirty="0">
                <a:solidFill>
                  <a:srgbClr val="9D2706"/>
                </a:solidFill>
              </a:rPr>
              <a:t>End-to-End Visualisation SaaS &amp; 3D Services</a:t>
            </a:r>
            <a:endParaRPr lang="en-US" sz="1600" dirty="0"/>
          </a:p>
        </p:txBody>
      </p:sp>
      <p:sp>
        <p:nvSpPr>
          <p:cNvPr id="11" name="Shape 9"/>
          <p:cNvSpPr/>
          <p:nvPr/>
        </p:nvSpPr>
        <p:spPr>
          <a:xfrm>
            <a:off x="5303520" y="2606040"/>
            <a:ext cx="6400800" cy="36576"/>
          </a:xfrm>
          <a:prstGeom prst="rect">
            <a:avLst/>
          </a:prstGeom>
          <a:solidFill>
            <a:srgbClr val="9D2706"/>
          </a:solidFill>
          <a:ln/>
        </p:spPr>
      </p:sp>
      <p:sp>
        <p:nvSpPr>
          <p:cNvPr id="12" name="Text 10"/>
          <p:cNvSpPr/>
          <p:nvPr/>
        </p:nvSpPr>
        <p:spPr>
          <a:xfrm>
            <a:off x="5303520" y="2834640"/>
            <a:ext cx="6583680" cy="0"/>
          </a:xfrm>
          <a:prstGeom prst="rect">
            <a:avLst/>
          </a:prstGeom>
          <a:noFill/>
          <a:ln/>
        </p:spPr>
        <p:txBody>
          <a:bodyPr wrap="square" rtlCol="0" anchor="ctr"/>
          <a:lstStyle/>
          <a:p>
            <a:pPr indent="0" marL="0">
              <a:lnSpc>
                <a:spcPct val="160000"/>
              </a:lnSpc>
              <a:buNone/>
            </a:pPr>
            <a:r>
              <a:rPr lang="en-US" sz="1250" dirty="0">
                <a:solidFill>
                  <a:srgbClr val="5A6B7C"/>
                </a:solidFill>
              </a:rPr>
              <a:t>A structured strategic blueprint detailing our solution architecture, target industry verticals, 3D modelling asset pipelines, competitive differentiators, and phased implementation timeline.</a:t>
            </a:r>
            <a:endParaRPr lang="en-US" sz="1250" dirty="0"/>
          </a:p>
        </p:txBody>
      </p:sp>
      <p:sp>
        <p:nvSpPr>
          <p:cNvPr id="13" name="Shape 11"/>
          <p:cNvSpPr/>
          <p:nvPr/>
        </p:nvSpPr>
        <p:spPr>
          <a:xfrm>
            <a:off x="5303520" y="4389120"/>
            <a:ext cx="2926080" cy="411480"/>
          </a:xfrm>
          <a:prstGeom prst="rect">
            <a:avLst/>
          </a:prstGeom>
          <a:solidFill>
            <a:srgbClr val="FFFFFF"/>
          </a:solidFill>
          <a:ln w="12700">
            <a:solidFill>
              <a:srgbClr val="E2E8F0"/>
            </a:solidFill>
            <a:prstDash val="solid"/>
          </a:ln>
        </p:spPr>
      </p:sp>
      <p:sp>
        <p:nvSpPr>
          <p:cNvPr id="14" name="Text 12"/>
          <p:cNvSpPr/>
          <p:nvPr/>
        </p:nvSpPr>
        <p:spPr>
          <a:xfrm>
            <a:off x="5486400" y="4480560"/>
            <a:ext cx="2651760" cy="0"/>
          </a:xfrm>
          <a:prstGeom prst="rect">
            <a:avLst/>
          </a:prstGeom>
          <a:noFill/>
          <a:ln/>
        </p:spPr>
        <p:txBody>
          <a:bodyPr wrap="square" rtlCol="0" anchor="ctr"/>
          <a:lstStyle/>
          <a:p>
            <a:pPr indent="0" marL="0">
              <a:buNone/>
            </a:pPr>
            <a:r>
              <a:rPr lang="en-US" sz="1100" b="1" dirty="0">
                <a:solidFill>
                  <a:srgbClr val="2C3E50"/>
                </a:solidFill>
              </a:rPr>
              <a:t>🏠 Room AR</a:t>
            </a:r>
            <a:endParaRPr lang="en-US" sz="1100" dirty="0"/>
          </a:p>
        </p:txBody>
      </p:sp>
      <p:sp>
        <p:nvSpPr>
          <p:cNvPr id="15" name="Shape 13"/>
          <p:cNvSpPr/>
          <p:nvPr/>
        </p:nvSpPr>
        <p:spPr>
          <a:xfrm>
            <a:off x="8503920" y="4389120"/>
            <a:ext cx="2926080" cy="411480"/>
          </a:xfrm>
          <a:prstGeom prst="rect">
            <a:avLst/>
          </a:prstGeom>
          <a:solidFill>
            <a:srgbClr val="FFFFFF"/>
          </a:solidFill>
          <a:ln w="12700">
            <a:solidFill>
              <a:srgbClr val="E2E8F0"/>
            </a:solidFill>
            <a:prstDash val="solid"/>
          </a:ln>
        </p:spPr>
      </p:sp>
      <p:sp>
        <p:nvSpPr>
          <p:cNvPr id="16" name="Text 14"/>
          <p:cNvSpPr/>
          <p:nvPr/>
        </p:nvSpPr>
        <p:spPr>
          <a:xfrm>
            <a:off x="8686800" y="4480560"/>
            <a:ext cx="2651760" cy="0"/>
          </a:xfrm>
          <a:prstGeom prst="rect">
            <a:avLst/>
          </a:prstGeom>
          <a:noFill/>
          <a:ln/>
        </p:spPr>
        <p:txBody>
          <a:bodyPr wrap="square" rtlCol="0" anchor="ctr"/>
          <a:lstStyle/>
          <a:p>
            <a:pPr indent="0" marL="0">
              <a:buNone/>
            </a:pPr>
            <a:r>
              <a:rPr lang="en-US" sz="1100" b="1" dirty="0">
                <a:solidFill>
                  <a:srgbClr val="2C3E50"/>
                </a:solidFill>
              </a:rPr>
              <a:t>👟 Virtual Try-On</a:t>
            </a:r>
            <a:endParaRPr lang="en-US" sz="1100" dirty="0"/>
          </a:p>
        </p:txBody>
      </p:sp>
      <p:sp>
        <p:nvSpPr>
          <p:cNvPr id="17" name="Shape 15"/>
          <p:cNvSpPr/>
          <p:nvPr/>
        </p:nvSpPr>
        <p:spPr>
          <a:xfrm>
            <a:off x="5303520" y="4937760"/>
            <a:ext cx="2926080" cy="411480"/>
          </a:xfrm>
          <a:prstGeom prst="rect">
            <a:avLst/>
          </a:prstGeom>
          <a:solidFill>
            <a:srgbClr val="FFFFFF"/>
          </a:solidFill>
          <a:ln w="12700">
            <a:solidFill>
              <a:srgbClr val="E2E8F0"/>
            </a:solidFill>
            <a:prstDash val="solid"/>
          </a:ln>
        </p:spPr>
      </p:sp>
      <p:sp>
        <p:nvSpPr>
          <p:cNvPr id="18" name="Text 16"/>
          <p:cNvSpPr/>
          <p:nvPr/>
        </p:nvSpPr>
        <p:spPr>
          <a:xfrm>
            <a:off x="5486400" y="4480560"/>
            <a:ext cx="2651760" cy="0"/>
          </a:xfrm>
          <a:prstGeom prst="rect">
            <a:avLst/>
          </a:prstGeom>
          <a:noFill/>
          <a:ln/>
        </p:spPr>
        <p:txBody>
          <a:bodyPr wrap="square" rtlCol="0" anchor="ctr"/>
          <a:lstStyle/>
          <a:p>
            <a:pPr indent="0" marL="0">
              <a:buNone/>
            </a:pPr>
            <a:r>
              <a:rPr lang="en-US" sz="1100" b="1" dirty="0">
                <a:solidFill>
                  <a:srgbClr val="2C3E50"/>
                </a:solidFill>
              </a:rPr>
              <a:t>🛒 Shopify Native App</a:t>
            </a:r>
            <a:endParaRPr lang="en-US" sz="1100" dirty="0"/>
          </a:p>
        </p:txBody>
      </p:sp>
      <p:sp>
        <p:nvSpPr>
          <p:cNvPr id="19" name="Shape 17"/>
          <p:cNvSpPr/>
          <p:nvPr/>
        </p:nvSpPr>
        <p:spPr>
          <a:xfrm>
            <a:off x="8503920" y="4937760"/>
            <a:ext cx="2926080" cy="411480"/>
          </a:xfrm>
          <a:prstGeom prst="rect">
            <a:avLst/>
          </a:prstGeom>
          <a:solidFill>
            <a:srgbClr val="FFFFFF"/>
          </a:solidFill>
          <a:ln w="12700">
            <a:solidFill>
              <a:srgbClr val="E2E8F0"/>
            </a:solidFill>
            <a:prstDash val="solid"/>
          </a:ln>
        </p:spPr>
      </p:sp>
      <p:sp>
        <p:nvSpPr>
          <p:cNvPr id="20" name="Text 18"/>
          <p:cNvSpPr/>
          <p:nvPr/>
        </p:nvSpPr>
        <p:spPr>
          <a:xfrm>
            <a:off x="8686800" y="4480560"/>
            <a:ext cx="2651760" cy="0"/>
          </a:xfrm>
          <a:prstGeom prst="rect">
            <a:avLst/>
          </a:prstGeom>
          <a:noFill/>
          <a:ln/>
        </p:spPr>
        <p:txBody>
          <a:bodyPr wrap="square" rtlCol="0" anchor="ctr"/>
          <a:lstStyle/>
          <a:p>
            <a:pPr indent="0" marL="0">
              <a:buNone/>
            </a:pPr>
            <a:r>
              <a:rPr lang="en-US" sz="1100" b="1" dirty="0">
                <a:solidFill>
                  <a:srgbClr val="2C3E50"/>
                </a:solidFill>
              </a:rPr>
              <a:t>🎨 3D Asset Service</a:t>
            </a:r>
            <a:endParaRPr lang="en-US" sz="1100" dirty="0"/>
          </a:p>
        </p:txBody>
      </p:sp>
      <p:sp>
        <p:nvSpPr>
          <p:cNvPr id="21" name="Text 19"/>
          <p:cNvSpPr/>
          <p:nvPr/>
        </p:nvSpPr>
        <p:spPr>
          <a:xfrm>
            <a:off x="5303520" y="5806440"/>
            <a:ext cx="6583680" cy="0"/>
          </a:xfrm>
          <a:prstGeom prst="rect">
            <a:avLst/>
          </a:prstGeom>
          <a:noFill/>
          <a:ln/>
        </p:spPr>
        <p:txBody>
          <a:bodyPr wrap="square" rtlCol="0" anchor="ctr"/>
          <a:lstStyle/>
          <a:p>
            <a:pPr indent="0" marL="0">
              <a:buNone/>
            </a:pPr>
            <a:r>
              <a:rPr lang="en-US" sz="1000" i="1" dirty="0">
                <a:solidFill>
                  <a:srgbClr val="8A9BA8"/>
                </a:solidFill>
              </a:rPr>
              <a:t>July 2026  |  Version 3.0  |  github.com/Vaidyakrushna/Cognaq</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Table of Contents</a:t>
            </a:r>
            <a:endParaRPr lang="en-US" sz="2200" dirty="0"/>
          </a:p>
        </p:txBody>
      </p:sp>
      <p:sp>
        <p:nvSpPr>
          <p:cNvPr id="7" name="Shape 5"/>
          <p:cNvSpPr/>
          <p:nvPr/>
        </p:nvSpPr>
        <p:spPr>
          <a:xfrm>
            <a:off x="91440" y="6309360"/>
            <a:ext cx="12070080" cy="91440"/>
          </a:xfrm>
          <a:prstGeom prst="rect">
            <a:avLst/>
          </a:prstGeom>
          <a:solidFill>
            <a:srgbClr val="FFFFFF"/>
          </a:solidFill>
          <a:ln/>
        </p:spPr>
      </p:sp>
      <p:sp>
        <p:nvSpPr>
          <p:cNvPr id="8" name="Shape 6"/>
          <p:cNvSpPr/>
          <p:nvPr/>
        </p:nvSpPr>
        <p:spPr>
          <a:xfrm>
            <a:off x="91440" y="6291072"/>
            <a:ext cx="12070080" cy="18288"/>
          </a:xfrm>
          <a:prstGeom prst="rect">
            <a:avLst/>
          </a:prstGeom>
          <a:solidFill>
            <a:srgbClr val="E2E8F0"/>
          </a:solidFill>
          <a:ln/>
        </p:spPr>
      </p:sp>
      <p:sp>
        <p:nvSpPr>
          <p:cNvPr id="9" name="Text 7"/>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0" name="Shape 8"/>
          <p:cNvSpPr/>
          <p:nvPr/>
        </p:nvSpPr>
        <p:spPr>
          <a:xfrm>
            <a:off x="320040" y="1051560"/>
            <a:ext cx="5669280" cy="731520"/>
          </a:xfrm>
          <a:prstGeom prst="rect">
            <a:avLst/>
          </a:prstGeom>
          <a:solidFill>
            <a:srgbClr val="FFFFFF"/>
          </a:solidFill>
          <a:ln w="12700">
            <a:solidFill>
              <a:srgbClr val="E2E8F0"/>
            </a:solidFill>
            <a:prstDash val="solid"/>
          </a:ln>
        </p:spPr>
      </p:sp>
      <p:sp>
        <p:nvSpPr>
          <p:cNvPr id="11" name="Shape 9"/>
          <p:cNvSpPr/>
          <p:nvPr/>
        </p:nvSpPr>
        <p:spPr>
          <a:xfrm>
            <a:off x="320040" y="1051560"/>
            <a:ext cx="685800" cy="731520"/>
          </a:xfrm>
          <a:prstGeom prst="rect">
            <a:avLst/>
          </a:prstGeom>
          <a:solidFill>
            <a:srgbClr val="EDF2F7"/>
          </a:solidFill>
          <a:ln/>
        </p:spPr>
      </p:sp>
      <p:sp>
        <p:nvSpPr>
          <p:cNvPr id="12" name="Text 10"/>
          <p:cNvSpPr/>
          <p:nvPr/>
        </p:nvSpPr>
        <p:spPr>
          <a:xfrm>
            <a:off x="320040" y="1252728"/>
            <a:ext cx="685800" cy="0"/>
          </a:xfrm>
          <a:prstGeom prst="rect">
            <a:avLst/>
          </a:prstGeom>
          <a:noFill/>
          <a:ln/>
        </p:spPr>
        <p:txBody>
          <a:bodyPr wrap="square" rtlCol="0" anchor="ctr"/>
          <a:lstStyle/>
          <a:p>
            <a:pPr algn="ctr" indent="0" marL="0">
              <a:buNone/>
            </a:pPr>
            <a:r>
              <a:rPr lang="en-US" sz="1400" b="1" dirty="0">
                <a:solidFill>
                  <a:srgbClr val="9D2706"/>
                </a:solidFill>
              </a:rPr>
              <a:t>01</a:t>
            </a:r>
            <a:endParaRPr lang="en-US" sz="1400" dirty="0"/>
          </a:p>
        </p:txBody>
      </p:sp>
      <p:sp>
        <p:nvSpPr>
          <p:cNvPr id="13" name="Text 11"/>
          <p:cNvSpPr/>
          <p:nvPr/>
        </p:nvSpPr>
        <p:spPr>
          <a:xfrm>
            <a:off x="1143000" y="1143000"/>
            <a:ext cx="4389120" cy="0"/>
          </a:xfrm>
          <a:prstGeom prst="rect">
            <a:avLst/>
          </a:prstGeom>
          <a:noFill/>
          <a:ln/>
        </p:spPr>
        <p:txBody>
          <a:bodyPr wrap="square" rtlCol="0" anchor="ctr"/>
          <a:lstStyle/>
          <a:p>
            <a:pPr indent="0" marL="0">
              <a:buNone/>
            </a:pPr>
            <a:r>
              <a:rPr lang="en-US" sz="1300" b="1" dirty="0">
                <a:solidFill>
                  <a:srgbClr val="2C3E50"/>
                </a:solidFill>
              </a:rPr>
              <a:t>Executive Summary</a:t>
            </a:r>
            <a:endParaRPr lang="en-US" sz="1300" dirty="0"/>
          </a:p>
        </p:txBody>
      </p:sp>
      <p:sp>
        <p:nvSpPr>
          <p:cNvPr id="14" name="Text 12"/>
          <p:cNvSpPr/>
          <p:nvPr/>
        </p:nvSpPr>
        <p:spPr>
          <a:xfrm>
            <a:off x="1143000" y="1463040"/>
            <a:ext cx="4389120" cy="0"/>
          </a:xfrm>
          <a:prstGeom prst="rect">
            <a:avLst/>
          </a:prstGeom>
          <a:noFill/>
          <a:ln/>
        </p:spPr>
        <p:txBody>
          <a:bodyPr wrap="square" rtlCol="0" anchor="ctr"/>
          <a:lstStyle/>
          <a:p>
            <a:pPr indent="0" marL="0">
              <a:buNone/>
            </a:pPr>
            <a:r>
              <a:rPr lang="en-US" sz="1100" dirty="0">
                <a:solidFill>
                  <a:srgbClr val="5A6B7C"/>
                </a:solidFill>
              </a:rPr>
              <a:t>The big picture and strategic vision</a:t>
            </a:r>
            <a:endParaRPr lang="en-US" sz="1100" dirty="0"/>
          </a:p>
        </p:txBody>
      </p:sp>
      <p:sp>
        <p:nvSpPr>
          <p:cNvPr id="15" name="Shape 13"/>
          <p:cNvSpPr/>
          <p:nvPr/>
        </p:nvSpPr>
        <p:spPr>
          <a:xfrm>
            <a:off x="6309360" y="1051560"/>
            <a:ext cx="5669280" cy="731520"/>
          </a:xfrm>
          <a:prstGeom prst="rect">
            <a:avLst/>
          </a:prstGeom>
          <a:solidFill>
            <a:srgbClr val="FFFFFF"/>
          </a:solidFill>
          <a:ln w="12700">
            <a:solidFill>
              <a:srgbClr val="E2E8F0"/>
            </a:solidFill>
            <a:prstDash val="solid"/>
          </a:ln>
        </p:spPr>
      </p:sp>
      <p:sp>
        <p:nvSpPr>
          <p:cNvPr id="16" name="Shape 14"/>
          <p:cNvSpPr/>
          <p:nvPr/>
        </p:nvSpPr>
        <p:spPr>
          <a:xfrm>
            <a:off x="6309360" y="1051560"/>
            <a:ext cx="685800" cy="731520"/>
          </a:xfrm>
          <a:prstGeom prst="rect">
            <a:avLst/>
          </a:prstGeom>
          <a:solidFill>
            <a:srgbClr val="EDF2F7"/>
          </a:solidFill>
          <a:ln/>
        </p:spPr>
      </p:sp>
      <p:sp>
        <p:nvSpPr>
          <p:cNvPr id="17" name="Text 15"/>
          <p:cNvSpPr/>
          <p:nvPr/>
        </p:nvSpPr>
        <p:spPr>
          <a:xfrm>
            <a:off x="6309360" y="1252728"/>
            <a:ext cx="685800" cy="0"/>
          </a:xfrm>
          <a:prstGeom prst="rect">
            <a:avLst/>
          </a:prstGeom>
          <a:noFill/>
          <a:ln/>
        </p:spPr>
        <p:txBody>
          <a:bodyPr wrap="square" rtlCol="0" anchor="ctr"/>
          <a:lstStyle/>
          <a:p>
            <a:pPr algn="ctr" indent="0" marL="0">
              <a:buNone/>
            </a:pPr>
            <a:r>
              <a:rPr lang="en-US" sz="1400" b="1" dirty="0">
                <a:solidFill>
                  <a:srgbClr val="9D2706"/>
                </a:solidFill>
              </a:rPr>
              <a:t>02</a:t>
            </a:r>
            <a:endParaRPr lang="en-US" sz="1400" dirty="0"/>
          </a:p>
        </p:txBody>
      </p:sp>
      <p:sp>
        <p:nvSpPr>
          <p:cNvPr id="18" name="Text 16"/>
          <p:cNvSpPr/>
          <p:nvPr/>
        </p:nvSpPr>
        <p:spPr>
          <a:xfrm>
            <a:off x="7132320" y="1143000"/>
            <a:ext cx="4389120" cy="0"/>
          </a:xfrm>
          <a:prstGeom prst="rect">
            <a:avLst/>
          </a:prstGeom>
          <a:noFill/>
          <a:ln/>
        </p:spPr>
        <p:txBody>
          <a:bodyPr wrap="square" rtlCol="0" anchor="ctr"/>
          <a:lstStyle/>
          <a:p>
            <a:pPr indent="0" marL="0">
              <a:buNone/>
            </a:pPr>
            <a:r>
              <a:rPr lang="en-US" sz="1300" b="1" dirty="0">
                <a:solidFill>
                  <a:srgbClr val="2C3E50"/>
                </a:solidFill>
              </a:rPr>
              <a:t>Problem Statement</a:t>
            </a:r>
            <a:endParaRPr lang="en-US" sz="1300" dirty="0"/>
          </a:p>
        </p:txBody>
      </p:sp>
      <p:sp>
        <p:nvSpPr>
          <p:cNvPr id="19" name="Text 17"/>
          <p:cNvSpPr/>
          <p:nvPr/>
        </p:nvSpPr>
        <p:spPr>
          <a:xfrm>
            <a:off x="7132320" y="1463040"/>
            <a:ext cx="4389120" cy="0"/>
          </a:xfrm>
          <a:prstGeom prst="rect">
            <a:avLst/>
          </a:prstGeom>
          <a:noFill/>
          <a:ln/>
        </p:spPr>
        <p:txBody>
          <a:bodyPr wrap="square" rtlCol="0" anchor="ctr"/>
          <a:lstStyle/>
          <a:p>
            <a:pPr indent="0" marL="0">
              <a:buNone/>
            </a:pPr>
            <a:r>
              <a:rPr lang="en-US" sz="1100" dirty="0">
                <a:solidFill>
                  <a:srgbClr val="5A6B7C"/>
                </a:solidFill>
              </a:rPr>
              <a:t>The market challenges we address</a:t>
            </a:r>
            <a:endParaRPr lang="en-US" sz="1100" dirty="0"/>
          </a:p>
        </p:txBody>
      </p:sp>
      <p:sp>
        <p:nvSpPr>
          <p:cNvPr id="20" name="Shape 18"/>
          <p:cNvSpPr/>
          <p:nvPr/>
        </p:nvSpPr>
        <p:spPr>
          <a:xfrm>
            <a:off x="320040" y="1901952"/>
            <a:ext cx="5669280" cy="731520"/>
          </a:xfrm>
          <a:prstGeom prst="rect">
            <a:avLst/>
          </a:prstGeom>
          <a:solidFill>
            <a:srgbClr val="FFFFFF"/>
          </a:solidFill>
          <a:ln w="12700">
            <a:solidFill>
              <a:srgbClr val="E2E8F0"/>
            </a:solidFill>
            <a:prstDash val="solid"/>
          </a:ln>
        </p:spPr>
      </p:sp>
      <p:sp>
        <p:nvSpPr>
          <p:cNvPr id="21" name="Shape 19"/>
          <p:cNvSpPr/>
          <p:nvPr/>
        </p:nvSpPr>
        <p:spPr>
          <a:xfrm>
            <a:off x="320040" y="1901952"/>
            <a:ext cx="685800" cy="731520"/>
          </a:xfrm>
          <a:prstGeom prst="rect">
            <a:avLst/>
          </a:prstGeom>
          <a:solidFill>
            <a:srgbClr val="EDF2F7"/>
          </a:solidFill>
          <a:ln/>
        </p:spPr>
      </p:sp>
      <p:sp>
        <p:nvSpPr>
          <p:cNvPr id="22" name="Text 20"/>
          <p:cNvSpPr/>
          <p:nvPr/>
        </p:nvSpPr>
        <p:spPr>
          <a:xfrm>
            <a:off x="320040" y="2103120"/>
            <a:ext cx="685800" cy="0"/>
          </a:xfrm>
          <a:prstGeom prst="rect">
            <a:avLst/>
          </a:prstGeom>
          <a:noFill/>
          <a:ln/>
        </p:spPr>
        <p:txBody>
          <a:bodyPr wrap="square" rtlCol="0" anchor="ctr"/>
          <a:lstStyle/>
          <a:p>
            <a:pPr algn="ctr" indent="0" marL="0">
              <a:buNone/>
            </a:pPr>
            <a:r>
              <a:rPr lang="en-US" sz="1400" b="1" dirty="0">
                <a:solidFill>
                  <a:srgbClr val="9D2706"/>
                </a:solidFill>
              </a:rPr>
              <a:t>03</a:t>
            </a:r>
            <a:endParaRPr lang="en-US" sz="1400" dirty="0"/>
          </a:p>
        </p:txBody>
      </p:sp>
      <p:sp>
        <p:nvSpPr>
          <p:cNvPr id="23" name="Text 21"/>
          <p:cNvSpPr/>
          <p:nvPr/>
        </p:nvSpPr>
        <p:spPr>
          <a:xfrm>
            <a:off x="1143000" y="1993392"/>
            <a:ext cx="4389120" cy="0"/>
          </a:xfrm>
          <a:prstGeom prst="rect">
            <a:avLst/>
          </a:prstGeom>
          <a:noFill/>
          <a:ln/>
        </p:spPr>
        <p:txBody>
          <a:bodyPr wrap="square" rtlCol="0" anchor="ctr"/>
          <a:lstStyle/>
          <a:p>
            <a:pPr indent="0" marL="0">
              <a:buNone/>
            </a:pPr>
            <a:r>
              <a:rPr lang="en-US" sz="1300" b="1" dirty="0">
                <a:solidFill>
                  <a:srgbClr val="2C3E50"/>
                </a:solidFill>
              </a:rPr>
              <a:t>Our Solution</a:t>
            </a:r>
            <a:endParaRPr lang="en-US" sz="1300" dirty="0"/>
          </a:p>
        </p:txBody>
      </p:sp>
      <p:sp>
        <p:nvSpPr>
          <p:cNvPr id="24" name="Text 22"/>
          <p:cNvSpPr/>
          <p:nvPr/>
        </p:nvSpPr>
        <p:spPr>
          <a:xfrm>
            <a:off x="1143000" y="2313432"/>
            <a:ext cx="4389120" cy="0"/>
          </a:xfrm>
          <a:prstGeom prst="rect">
            <a:avLst/>
          </a:prstGeom>
          <a:noFill/>
          <a:ln/>
        </p:spPr>
        <p:txBody>
          <a:bodyPr wrap="square" rtlCol="0" anchor="ctr"/>
          <a:lstStyle/>
          <a:p>
            <a:pPr indent="0" marL="0">
              <a:buNone/>
            </a:pPr>
            <a:r>
              <a:rPr lang="en-US" sz="1100" dirty="0">
                <a:solidFill>
                  <a:srgbClr val="5A6B7C"/>
                </a:solidFill>
              </a:rPr>
              <a:t>What Cognaq delivers end-to-end</a:t>
            </a:r>
            <a:endParaRPr lang="en-US" sz="1100" dirty="0"/>
          </a:p>
        </p:txBody>
      </p:sp>
      <p:sp>
        <p:nvSpPr>
          <p:cNvPr id="25" name="Shape 23"/>
          <p:cNvSpPr/>
          <p:nvPr/>
        </p:nvSpPr>
        <p:spPr>
          <a:xfrm>
            <a:off x="6309360" y="1901952"/>
            <a:ext cx="5669280" cy="731520"/>
          </a:xfrm>
          <a:prstGeom prst="rect">
            <a:avLst/>
          </a:prstGeom>
          <a:solidFill>
            <a:srgbClr val="FFFFFF"/>
          </a:solidFill>
          <a:ln w="12700">
            <a:solidFill>
              <a:srgbClr val="E2E8F0"/>
            </a:solidFill>
            <a:prstDash val="solid"/>
          </a:ln>
        </p:spPr>
      </p:sp>
      <p:sp>
        <p:nvSpPr>
          <p:cNvPr id="26" name="Shape 24"/>
          <p:cNvSpPr/>
          <p:nvPr/>
        </p:nvSpPr>
        <p:spPr>
          <a:xfrm>
            <a:off x="6309360" y="1901952"/>
            <a:ext cx="685800" cy="731520"/>
          </a:xfrm>
          <a:prstGeom prst="rect">
            <a:avLst/>
          </a:prstGeom>
          <a:solidFill>
            <a:srgbClr val="EDF2F7"/>
          </a:solidFill>
          <a:ln/>
        </p:spPr>
      </p:sp>
      <p:sp>
        <p:nvSpPr>
          <p:cNvPr id="27" name="Text 25"/>
          <p:cNvSpPr/>
          <p:nvPr/>
        </p:nvSpPr>
        <p:spPr>
          <a:xfrm>
            <a:off x="6309360" y="2103120"/>
            <a:ext cx="685800" cy="0"/>
          </a:xfrm>
          <a:prstGeom prst="rect">
            <a:avLst/>
          </a:prstGeom>
          <a:noFill/>
          <a:ln/>
        </p:spPr>
        <p:txBody>
          <a:bodyPr wrap="square" rtlCol="0" anchor="ctr"/>
          <a:lstStyle/>
          <a:p>
            <a:pPr algn="ctr" indent="0" marL="0">
              <a:buNone/>
            </a:pPr>
            <a:r>
              <a:rPr lang="en-US" sz="1400" b="1" dirty="0">
                <a:solidFill>
                  <a:srgbClr val="9D2706"/>
                </a:solidFill>
              </a:rPr>
              <a:t>04</a:t>
            </a:r>
            <a:endParaRPr lang="en-US" sz="1400" dirty="0"/>
          </a:p>
        </p:txBody>
      </p:sp>
      <p:sp>
        <p:nvSpPr>
          <p:cNvPr id="28" name="Text 26"/>
          <p:cNvSpPr/>
          <p:nvPr/>
        </p:nvSpPr>
        <p:spPr>
          <a:xfrm>
            <a:off x="7132320" y="1993392"/>
            <a:ext cx="4389120" cy="0"/>
          </a:xfrm>
          <a:prstGeom prst="rect">
            <a:avLst/>
          </a:prstGeom>
          <a:noFill/>
          <a:ln/>
        </p:spPr>
        <p:txBody>
          <a:bodyPr wrap="square" rtlCol="0" anchor="ctr"/>
          <a:lstStyle/>
          <a:p>
            <a:pPr indent="0" marL="0">
              <a:buNone/>
            </a:pPr>
            <a:r>
              <a:rPr lang="en-US" sz="1300" b="1" dirty="0">
                <a:solidFill>
                  <a:srgbClr val="2C3E50"/>
                </a:solidFill>
              </a:rPr>
              <a:t>Target Industries</a:t>
            </a:r>
            <a:endParaRPr lang="en-US" sz="1300" dirty="0"/>
          </a:p>
        </p:txBody>
      </p:sp>
      <p:sp>
        <p:nvSpPr>
          <p:cNvPr id="29" name="Text 27"/>
          <p:cNvSpPr/>
          <p:nvPr/>
        </p:nvSpPr>
        <p:spPr>
          <a:xfrm>
            <a:off x="7132320" y="2313432"/>
            <a:ext cx="4389120" cy="0"/>
          </a:xfrm>
          <a:prstGeom prst="rect">
            <a:avLst/>
          </a:prstGeom>
          <a:noFill/>
          <a:ln/>
        </p:spPr>
        <p:txBody>
          <a:bodyPr wrap="square" rtlCol="0" anchor="ctr"/>
          <a:lstStyle/>
          <a:p>
            <a:pPr indent="0" marL="0">
              <a:buNone/>
            </a:pPr>
            <a:r>
              <a:rPr lang="en-US" sz="1100" dirty="0">
                <a:solidFill>
                  <a:srgbClr val="5A6B7C"/>
                </a:solidFill>
              </a:rPr>
              <a:t>Market opportunity and verticals</a:t>
            </a:r>
            <a:endParaRPr lang="en-US" sz="1100" dirty="0"/>
          </a:p>
        </p:txBody>
      </p:sp>
      <p:sp>
        <p:nvSpPr>
          <p:cNvPr id="30" name="Shape 28"/>
          <p:cNvSpPr/>
          <p:nvPr/>
        </p:nvSpPr>
        <p:spPr>
          <a:xfrm>
            <a:off x="320040" y="2752344"/>
            <a:ext cx="5669280" cy="731520"/>
          </a:xfrm>
          <a:prstGeom prst="rect">
            <a:avLst/>
          </a:prstGeom>
          <a:solidFill>
            <a:srgbClr val="FFFFFF"/>
          </a:solidFill>
          <a:ln w="12700">
            <a:solidFill>
              <a:srgbClr val="E2E8F0"/>
            </a:solidFill>
            <a:prstDash val="solid"/>
          </a:ln>
        </p:spPr>
      </p:sp>
      <p:sp>
        <p:nvSpPr>
          <p:cNvPr id="31" name="Shape 29"/>
          <p:cNvSpPr/>
          <p:nvPr/>
        </p:nvSpPr>
        <p:spPr>
          <a:xfrm>
            <a:off x="320040" y="2752344"/>
            <a:ext cx="685800" cy="731520"/>
          </a:xfrm>
          <a:prstGeom prst="rect">
            <a:avLst/>
          </a:prstGeom>
          <a:solidFill>
            <a:srgbClr val="EDF2F7"/>
          </a:solidFill>
          <a:ln/>
        </p:spPr>
      </p:sp>
      <p:sp>
        <p:nvSpPr>
          <p:cNvPr id="32" name="Text 30"/>
          <p:cNvSpPr/>
          <p:nvPr/>
        </p:nvSpPr>
        <p:spPr>
          <a:xfrm>
            <a:off x="320040" y="2953512"/>
            <a:ext cx="685800" cy="0"/>
          </a:xfrm>
          <a:prstGeom prst="rect">
            <a:avLst/>
          </a:prstGeom>
          <a:noFill/>
          <a:ln/>
        </p:spPr>
        <p:txBody>
          <a:bodyPr wrap="square" rtlCol="0" anchor="ctr"/>
          <a:lstStyle/>
          <a:p>
            <a:pPr algn="ctr" indent="0" marL="0">
              <a:buNone/>
            </a:pPr>
            <a:r>
              <a:rPr lang="en-US" sz="1400" b="1" dirty="0">
                <a:solidFill>
                  <a:srgbClr val="9D2706"/>
                </a:solidFill>
              </a:rPr>
              <a:t>05</a:t>
            </a:r>
            <a:endParaRPr lang="en-US" sz="1400" dirty="0"/>
          </a:p>
        </p:txBody>
      </p:sp>
      <p:sp>
        <p:nvSpPr>
          <p:cNvPr id="33" name="Text 31"/>
          <p:cNvSpPr/>
          <p:nvPr/>
        </p:nvSpPr>
        <p:spPr>
          <a:xfrm>
            <a:off x="1143000" y="2843784"/>
            <a:ext cx="4389120" cy="0"/>
          </a:xfrm>
          <a:prstGeom prst="rect">
            <a:avLst/>
          </a:prstGeom>
          <a:noFill/>
          <a:ln/>
        </p:spPr>
        <p:txBody>
          <a:bodyPr wrap="square" rtlCol="0" anchor="ctr"/>
          <a:lstStyle/>
          <a:p>
            <a:pPr indent="0" marL="0">
              <a:buNone/>
            </a:pPr>
            <a:r>
              <a:rPr lang="en-US" sz="1300" b="1" dirty="0">
                <a:solidFill>
                  <a:srgbClr val="2C3E50"/>
                </a:solidFill>
              </a:rPr>
              <a:t>AR Technology Deep Dive</a:t>
            </a:r>
            <a:endParaRPr lang="en-US" sz="1300" dirty="0"/>
          </a:p>
        </p:txBody>
      </p:sp>
      <p:sp>
        <p:nvSpPr>
          <p:cNvPr id="34" name="Text 32"/>
          <p:cNvSpPr/>
          <p:nvPr/>
        </p:nvSpPr>
        <p:spPr>
          <a:xfrm>
            <a:off x="1143000" y="3163824"/>
            <a:ext cx="4389120" cy="0"/>
          </a:xfrm>
          <a:prstGeom prst="rect">
            <a:avLst/>
          </a:prstGeom>
          <a:noFill/>
          <a:ln/>
        </p:spPr>
        <p:txBody>
          <a:bodyPr wrap="square" rtlCol="0" anchor="ctr"/>
          <a:lstStyle/>
          <a:p>
            <a:pPr indent="0" marL="0">
              <a:buNone/>
            </a:pPr>
            <a:r>
              <a:rPr lang="en-US" sz="1100" dirty="0">
                <a:solidFill>
                  <a:srgbClr val="5A6B7C"/>
                </a:solidFill>
              </a:rPr>
              <a:t>Room AR and Virtual Try-On mechanics</a:t>
            </a:r>
            <a:endParaRPr lang="en-US" sz="1100" dirty="0"/>
          </a:p>
        </p:txBody>
      </p:sp>
      <p:sp>
        <p:nvSpPr>
          <p:cNvPr id="35" name="Shape 33"/>
          <p:cNvSpPr/>
          <p:nvPr/>
        </p:nvSpPr>
        <p:spPr>
          <a:xfrm>
            <a:off x="6309360" y="2752344"/>
            <a:ext cx="5669280" cy="731520"/>
          </a:xfrm>
          <a:prstGeom prst="rect">
            <a:avLst/>
          </a:prstGeom>
          <a:solidFill>
            <a:srgbClr val="FFFFFF"/>
          </a:solidFill>
          <a:ln w="12700">
            <a:solidFill>
              <a:srgbClr val="E2E8F0"/>
            </a:solidFill>
            <a:prstDash val="solid"/>
          </a:ln>
        </p:spPr>
      </p:sp>
      <p:sp>
        <p:nvSpPr>
          <p:cNvPr id="36" name="Shape 34"/>
          <p:cNvSpPr/>
          <p:nvPr/>
        </p:nvSpPr>
        <p:spPr>
          <a:xfrm>
            <a:off x="6309360" y="2752344"/>
            <a:ext cx="685800" cy="731520"/>
          </a:xfrm>
          <a:prstGeom prst="rect">
            <a:avLst/>
          </a:prstGeom>
          <a:solidFill>
            <a:srgbClr val="EDF2F7"/>
          </a:solidFill>
          <a:ln/>
        </p:spPr>
      </p:sp>
      <p:sp>
        <p:nvSpPr>
          <p:cNvPr id="37" name="Text 35"/>
          <p:cNvSpPr/>
          <p:nvPr/>
        </p:nvSpPr>
        <p:spPr>
          <a:xfrm>
            <a:off x="6309360" y="2953512"/>
            <a:ext cx="685800" cy="0"/>
          </a:xfrm>
          <a:prstGeom prst="rect">
            <a:avLst/>
          </a:prstGeom>
          <a:noFill/>
          <a:ln/>
        </p:spPr>
        <p:txBody>
          <a:bodyPr wrap="square" rtlCol="0" anchor="ctr"/>
          <a:lstStyle/>
          <a:p>
            <a:pPr algn="ctr" indent="0" marL="0">
              <a:buNone/>
            </a:pPr>
            <a:r>
              <a:rPr lang="en-US" sz="1400" b="1" dirty="0">
                <a:solidFill>
                  <a:srgbClr val="9D2706"/>
                </a:solidFill>
              </a:rPr>
              <a:t>06</a:t>
            </a:r>
            <a:endParaRPr lang="en-US" sz="1400" dirty="0"/>
          </a:p>
        </p:txBody>
      </p:sp>
      <p:sp>
        <p:nvSpPr>
          <p:cNvPr id="38" name="Text 36"/>
          <p:cNvSpPr/>
          <p:nvPr/>
        </p:nvSpPr>
        <p:spPr>
          <a:xfrm>
            <a:off x="7132320" y="2843784"/>
            <a:ext cx="4389120" cy="0"/>
          </a:xfrm>
          <a:prstGeom prst="rect">
            <a:avLst/>
          </a:prstGeom>
          <a:noFill/>
          <a:ln/>
        </p:spPr>
        <p:txBody>
          <a:bodyPr wrap="square" rtlCol="0" anchor="ctr"/>
          <a:lstStyle/>
          <a:p>
            <a:pPr indent="0" marL="0">
              <a:buNone/>
            </a:pPr>
            <a:r>
              <a:rPr lang="en-US" sz="1300" b="1" dirty="0">
                <a:solidFill>
                  <a:srgbClr val="2C3E50"/>
                </a:solidFill>
              </a:rPr>
              <a:t>Technology Stack</a:t>
            </a:r>
            <a:endParaRPr lang="en-US" sz="1300" dirty="0"/>
          </a:p>
        </p:txBody>
      </p:sp>
      <p:sp>
        <p:nvSpPr>
          <p:cNvPr id="39" name="Text 37"/>
          <p:cNvSpPr/>
          <p:nvPr/>
        </p:nvSpPr>
        <p:spPr>
          <a:xfrm>
            <a:off x="7132320" y="3163824"/>
            <a:ext cx="4389120" cy="0"/>
          </a:xfrm>
          <a:prstGeom prst="rect">
            <a:avLst/>
          </a:prstGeom>
          <a:noFill/>
          <a:ln/>
        </p:spPr>
        <p:txBody>
          <a:bodyPr wrap="square" rtlCol="0" anchor="ctr"/>
          <a:lstStyle/>
          <a:p>
            <a:pPr indent="0" marL="0">
              <a:buNone/>
            </a:pPr>
            <a:r>
              <a:rPr lang="en-US" sz="1100" dirty="0">
                <a:solidFill>
                  <a:srgbClr val="5A6B7C"/>
                </a:solidFill>
              </a:rPr>
              <a:t>Full client, server, and AR architecture</a:t>
            </a:r>
            <a:endParaRPr lang="en-US" sz="1100" dirty="0"/>
          </a:p>
        </p:txBody>
      </p:sp>
      <p:sp>
        <p:nvSpPr>
          <p:cNvPr id="40" name="Shape 38"/>
          <p:cNvSpPr/>
          <p:nvPr/>
        </p:nvSpPr>
        <p:spPr>
          <a:xfrm>
            <a:off x="320040" y="3602736"/>
            <a:ext cx="5669280" cy="731520"/>
          </a:xfrm>
          <a:prstGeom prst="rect">
            <a:avLst/>
          </a:prstGeom>
          <a:solidFill>
            <a:srgbClr val="FFFFFF"/>
          </a:solidFill>
          <a:ln w="12700">
            <a:solidFill>
              <a:srgbClr val="E2E8F0"/>
            </a:solidFill>
            <a:prstDash val="solid"/>
          </a:ln>
        </p:spPr>
      </p:sp>
      <p:sp>
        <p:nvSpPr>
          <p:cNvPr id="41" name="Shape 39"/>
          <p:cNvSpPr/>
          <p:nvPr/>
        </p:nvSpPr>
        <p:spPr>
          <a:xfrm>
            <a:off x="320040" y="3602736"/>
            <a:ext cx="685800" cy="731520"/>
          </a:xfrm>
          <a:prstGeom prst="rect">
            <a:avLst/>
          </a:prstGeom>
          <a:solidFill>
            <a:srgbClr val="EDF2F7"/>
          </a:solidFill>
          <a:ln/>
        </p:spPr>
      </p:sp>
      <p:sp>
        <p:nvSpPr>
          <p:cNvPr id="42" name="Text 40"/>
          <p:cNvSpPr/>
          <p:nvPr/>
        </p:nvSpPr>
        <p:spPr>
          <a:xfrm>
            <a:off x="320040" y="3803904"/>
            <a:ext cx="685800" cy="0"/>
          </a:xfrm>
          <a:prstGeom prst="rect">
            <a:avLst/>
          </a:prstGeom>
          <a:noFill/>
          <a:ln/>
        </p:spPr>
        <p:txBody>
          <a:bodyPr wrap="square" rtlCol="0" anchor="ctr"/>
          <a:lstStyle/>
          <a:p>
            <a:pPr algn="ctr" indent="0" marL="0">
              <a:buNone/>
            </a:pPr>
            <a:r>
              <a:rPr lang="en-US" sz="1400" b="1" dirty="0">
                <a:solidFill>
                  <a:srgbClr val="9D2706"/>
                </a:solidFill>
              </a:rPr>
              <a:t>07</a:t>
            </a:r>
            <a:endParaRPr lang="en-US" sz="1400" dirty="0"/>
          </a:p>
        </p:txBody>
      </p:sp>
      <p:sp>
        <p:nvSpPr>
          <p:cNvPr id="43" name="Text 41"/>
          <p:cNvSpPr/>
          <p:nvPr/>
        </p:nvSpPr>
        <p:spPr>
          <a:xfrm>
            <a:off x="1143000" y="3694176"/>
            <a:ext cx="4389120" cy="0"/>
          </a:xfrm>
          <a:prstGeom prst="rect">
            <a:avLst/>
          </a:prstGeom>
          <a:noFill/>
          <a:ln/>
        </p:spPr>
        <p:txBody>
          <a:bodyPr wrap="square" rtlCol="0" anchor="ctr"/>
          <a:lstStyle/>
          <a:p>
            <a:pPr indent="0" marL="0">
              <a:buNone/>
            </a:pPr>
            <a:r>
              <a:rPr lang="en-US" sz="1300" b="1" dirty="0">
                <a:solidFill>
                  <a:srgbClr val="2C3E50"/>
                </a:solidFill>
              </a:rPr>
              <a:t>Project Roadmap</a:t>
            </a:r>
            <a:endParaRPr lang="en-US" sz="1300" dirty="0"/>
          </a:p>
        </p:txBody>
      </p:sp>
      <p:sp>
        <p:nvSpPr>
          <p:cNvPr id="44" name="Text 42"/>
          <p:cNvSpPr/>
          <p:nvPr/>
        </p:nvSpPr>
        <p:spPr>
          <a:xfrm>
            <a:off x="1143000" y="4014216"/>
            <a:ext cx="4389120" cy="0"/>
          </a:xfrm>
          <a:prstGeom prst="rect">
            <a:avLst/>
          </a:prstGeom>
          <a:noFill/>
          <a:ln/>
        </p:spPr>
        <p:txBody>
          <a:bodyPr wrap="square" rtlCol="0" anchor="ctr"/>
          <a:lstStyle/>
          <a:p>
            <a:pPr indent="0" marL="0">
              <a:buNone/>
            </a:pPr>
            <a:r>
              <a:rPr lang="en-US" sz="1100" dirty="0">
                <a:solidFill>
                  <a:srgbClr val="5A6B7C"/>
                </a:solidFill>
              </a:rPr>
              <a:t>Phased week-by-week implementation</a:t>
            </a:r>
            <a:endParaRPr lang="en-US" sz="1100" dirty="0"/>
          </a:p>
        </p:txBody>
      </p:sp>
      <p:sp>
        <p:nvSpPr>
          <p:cNvPr id="45" name="Shape 43"/>
          <p:cNvSpPr/>
          <p:nvPr/>
        </p:nvSpPr>
        <p:spPr>
          <a:xfrm>
            <a:off x="6309360" y="3602736"/>
            <a:ext cx="5669280" cy="731520"/>
          </a:xfrm>
          <a:prstGeom prst="rect">
            <a:avLst/>
          </a:prstGeom>
          <a:solidFill>
            <a:srgbClr val="FFFFFF"/>
          </a:solidFill>
          <a:ln w="12700">
            <a:solidFill>
              <a:srgbClr val="E2E8F0"/>
            </a:solidFill>
            <a:prstDash val="solid"/>
          </a:ln>
        </p:spPr>
      </p:sp>
      <p:sp>
        <p:nvSpPr>
          <p:cNvPr id="46" name="Shape 44"/>
          <p:cNvSpPr/>
          <p:nvPr/>
        </p:nvSpPr>
        <p:spPr>
          <a:xfrm>
            <a:off x="6309360" y="3602736"/>
            <a:ext cx="685800" cy="731520"/>
          </a:xfrm>
          <a:prstGeom prst="rect">
            <a:avLst/>
          </a:prstGeom>
          <a:solidFill>
            <a:srgbClr val="EDF2F7"/>
          </a:solidFill>
          <a:ln/>
        </p:spPr>
      </p:sp>
      <p:sp>
        <p:nvSpPr>
          <p:cNvPr id="47" name="Text 45"/>
          <p:cNvSpPr/>
          <p:nvPr/>
        </p:nvSpPr>
        <p:spPr>
          <a:xfrm>
            <a:off x="6309360" y="3803904"/>
            <a:ext cx="685800" cy="0"/>
          </a:xfrm>
          <a:prstGeom prst="rect">
            <a:avLst/>
          </a:prstGeom>
          <a:noFill/>
          <a:ln/>
        </p:spPr>
        <p:txBody>
          <a:bodyPr wrap="square" rtlCol="0" anchor="ctr"/>
          <a:lstStyle/>
          <a:p>
            <a:pPr algn="ctr" indent="0" marL="0">
              <a:buNone/>
            </a:pPr>
            <a:r>
              <a:rPr lang="en-US" sz="1400" b="1" dirty="0">
                <a:solidFill>
                  <a:srgbClr val="9D2706"/>
                </a:solidFill>
              </a:rPr>
              <a:t>08</a:t>
            </a:r>
            <a:endParaRPr lang="en-US" sz="1400" dirty="0"/>
          </a:p>
        </p:txBody>
      </p:sp>
      <p:sp>
        <p:nvSpPr>
          <p:cNvPr id="48" name="Text 46"/>
          <p:cNvSpPr/>
          <p:nvPr/>
        </p:nvSpPr>
        <p:spPr>
          <a:xfrm>
            <a:off x="7132320" y="3694176"/>
            <a:ext cx="4389120" cy="0"/>
          </a:xfrm>
          <a:prstGeom prst="rect">
            <a:avLst/>
          </a:prstGeom>
          <a:noFill/>
          <a:ln/>
        </p:spPr>
        <p:txBody>
          <a:bodyPr wrap="square" rtlCol="0" anchor="ctr"/>
          <a:lstStyle/>
          <a:p>
            <a:pPr indent="0" marL="0">
              <a:buNone/>
            </a:pPr>
            <a:r>
              <a:rPr lang="en-US" sz="1300" b="1" dirty="0">
                <a:solidFill>
                  <a:srgbClr val="2C3E50"/>
                </a:solidFill>
              </a:rPr>
              <a:t>3D Asset Pipeline</a:t>
            </a:r>
            <a:endParaRPr lang="en-US" sz="1300" dirty="0"/>
          </a:p>
        </p:txBody>
      </p:sp>
      <p:sp>
        <p:nvSpPr>
          <p:cNvPr id="49" name="Text 47"/>
          <p:cNvSpPr/>
          <p:nvPr/>
        </p:nvSpPr>
        <p:spPr>
          <a:xfrm>
            <a:off x="7132320" y="4014216"/>
            <a:ext cx="4389120" cy="0"/>
          </a:xfrm>
          <a:prstGeom prst="rect">
            <a:avLst/>
          </a:prstGeom>
          <a:noFill/>
          <a:ln/>
        </p:spPr>
        <p:txBody>
          <a:bodyPr wrap="square" rtlCol="0" anchor="ctr"/>
          <a:lstStyle/>
          <a:p>
            <a:pPr indent="0" marL="0">
              <a:buNone/>
            </a:pPr>
            <a:r>
              <a:rPr lang="en-US" sz="1100" dirty="0">
                <a:solidFill>
                  <a:srgbClr val="5A6B7C"/>
                </a:solidFill>
              </a:rPr>
              <a:t>End-to-end model creation workflow</a:t>
            </a:r>
            <a:endParaRPr lang="en-US" sz="1100" dirty="0"/>
          </a:p>
        </p:txBody>
      </p:sp>
      <p:sp>
        <p:nvSpPr>
          <p:cNvPr id="50" name="Shape 48"/>
          <p:cNvSpPr/>
          <p:nvPr/>
        </p:nvSpPr>
        <p:spPr>
          <a:xfrm>
            <a:off x="320040" y="4453128"/>
            <a:ext cx="5669280" cy="731520"/>
          </a:xfrm>
          <a:prstGeom prst="rect">
            <a:avLst/>
          </a:prstGeom>
          <a:solidFill>
            <a:srgbClr val="FFFFFF"/>
          </a:solidFill>
          <a:ln w="12700">
            <a:solidFill>
              <a:srgbClr val="E2E8F0"/>
            </a:solidFill>
            <a:prstDash val="solid"/>
          </a:ln>
        </p:spPr>
      </p:sp>
      <p:sp>
        <p:nvSpPr>
          <p:cNvPr id="51" name="Shape 49"/>
          <p:cNvSpPr/>
          <p:nvPr/>
        </p:nvSpPr>
        <p:spPr>
          <a:xfrm>
            <a:off x="320040" y="4453128"/>
            <a:ext cx="685800" cy="731520"/>
          </a:xfrm>
          <a:prstGeom prst="rect">
            <a:avLst/>
          </a:prstGeom>
          <a:solidFill>
            <a:srgbClr val="EDF2F7"/>
          </a:solidFill>
          <a:ln/>
        </p:spPr>
      </p:sp>
      <p:sp>
        <p:nvSpPr>
          <p:cNvPr id="52" name="Text 50"/>
          <p:cNvSpPr/>
          <p:nvPr/>
        </p:nvSpPr>
        <p:spPr>
          <a:xfrm>
            <a:off x="320040" y="4654296"/>
            <a:ext cx="685800" cy="0"/>
          </a:xfrm>
          <a:prstGeom prst="rect">
            <a:avLst/>
          </a:prstGeom>
          <a:noFill/>
          <a:ln/>
        </p:spPr>
        <p:txBody>
          <a:bodyPr wrap="square" rtlCol="0" anchor="ctr"/>
          <a:lstStyle/>
          <a:p>
            <a:pPr algn="ctr" indent="0" marL="0">
              <a:buNone/>
            </a:pPr>
            <a:r>
              <a:rPr lang="en-US" sz="1400" b="1" dirty="0">
                <a:solidFill>
                  <a:srgbClr val="9D2706"/>
                </a:solidFill>
              </a:rPr>
              <a:t>09</a:t>
            </a:r>
            <a:endParaRPr lang="en-US" sz="1400" dirty="0"/>
          </a:p>
        </p:txBody>
      </p:sp>
      <p:sp>
        <p:nvSpPr>
          <p:cNvPr id="53" name="Text 51"/>
          <p:cNvSpPr/>
          <p:nvPr/>
        </p:nvSpPr>
        <p:spPr>
          <a:xfrm>
            <a:off x="1143000" y="4544568"/>
            <a:ext cx="4389120" cy="0"/>
          </a:xfrm>
          <a:prstGeom prst="rect">
            <a:avLst/>
          </a:prstGeom>
          <a:noFill/>
          <a:ln/>
        </p:spPr>
        <p:txBody>
          <a:bodyPr wrap="square" rtlCol="0" anchor="ctr"/>
          <a:lstStyle/>
          <a:p>
            <a:pPr indent="0" marL="0">
              <a:buNone/>
            </a:pPr>
            <a:r>
              <a:rPr lang="en-US" sz="1300" b="1" dirty="0">
                <a:solidFill>
                  <a:srgbClr val="2C3E50"/>
                </a:solidFill>
              </a:rPr>
              <a:t>Competitor Analysis</a:t>
            </a:r>
            <a:endParaRPr lang="en-US" sz="1300" dirty="0"/>
          </a:p>
        </p:txBody>
      </p:sp>
      <p:sp>
        <p:nvSpPr>
          <p:cNvPr id="54" name="Text 52"/>
          <p:cNvSpPr/>
          <p:nvPr/>
        </p:nvSpPr>
        <p:spPr>
          <a:xfrm>
            <a:off x="1143000" y="4864608"/>
            <a:ext cx="4389120" cy="0"/>
          </a:xfrm>
          <a:prstGeom prst="rect">
            <a:avLst/>
          </a:prstGeom>
          <a:noFill/>
          <a:ln/>
        </p:spPr>
        <p:txBody>
          <a:bodyPr wrap="square" rtlCol="0" anchor="ctr"/>
          <a:lstStyle/>
          <a:p>
            <a:pPr indent="0" marL="0">
              <a:buNone/>
            </a:pPr>
            <a:r>
              <a:rPr lang="en-US" sz="1100" dirty="0">
                <a:solidFill>
                  <a:srgbClr val="5A6B7C"/>
                </a:solidFill>
              </a:rPr>
              <a:t>How Cognaq compares with market options</a:t>
            </a:r>
            <a:endParaRPr lang="en-US" sz="1100" dirty="0"/>
          </a:p>
        </p:txBody>
      </p:sp>
      <p:sp>
        <p:nvSpPr>
          <p:cNvPr id="55" name="Shape 53"/>
          <p:cNvSpPr/>
          <p:nvPr/>
        </p:nvSpPr>
        <p:spPr>
          <a:xfrm>
            <a:off x="6309360" y="4453128"/>
            <a:ext cx="5669280" cy="731520"/>
          </a:xfrm>
          <a:prstGeom prst="rect">
            <a:avLst/>
          </a:prstGeom>
          <a:solidFill>
            <a:srgbClr val="FFFFFF"/>
          </a:solidFill>
          <a:ln w="12700">
            <a:solidFill>
              <a:srgbClr val="E2E8F0"/>
            </a:solidFill>
            <a:prstDash val="solid"/>
          </a:ln>
        </p:spPr>
      </p:sp>
      <p:sp>
        <p:nvSpPr>
          <p:cNvPr id="56" name="Shape 54"/>
          <p:cNvSpPr/>
          <p:nvPr/>
        </p:nvSpPr>
        <p:spPr>
          <a:xfrm>
            <a:off x="6309360" y="4453128"/>
            <a:ext cx="685800" cy="731520"/>
          </a:xfrm>
          <a:prstGeom prst="rect">
            <a:avLst/>
          </a:prstGeom>
          <a:solidFill>
            <a:srgbClr val="EDF2F7"/>
          </a:solidFill>
          <a:ln/>
        </p:spPr>
      </p:sp>
      <p:sp>
        <p:nvSpPr>
          <p:cNvPr id="57" name="Text 55"/>
          <p:cNvSpPr/>
          <p:nvPr/>
        </p:nvSpPr>
        <p:spPr>
          <a:xfrm>
            <a:off x="6309360" y="4654296"/>
            <a:ext cx="685800" cy="0"/>
          </a:xfrm>
          <a:prstGeom prst="rect">
            <a:avLst/>
          </a:prstGeom>
          <a:noFill/>
          <a:ln/>
        </p:spPr>
        <p:txBody>
          <a:bodyPr wrap="square" rtlCol="0" anchor="ctr"/>
          <a:lstStyle/>
          <a:p>
            <a:pPr algn="ctr" indent="0" marL="0">
              <a:buNone/>
            </a:pPr>
            <a:r>
              <a:rPr lang="en-US" sz="1400" b="1" dirty="0">
                <a:solidFill>
                  <a:srgbClr val="9D2706"/>
                </a:solidFill>
              </a:rPr>
              <a:t>10</a:t>
            </a:r>
            <a:endParaRPr lang="en-US" sz="1400" dirty="0"/>
          </a:p>
        </p:txBody>
      </p:sp>
      <p:sp>
        <p:nvSpPr>
          <p:cNvPr id="58" name="Text 56"/>
          <p:cNvSpPr/>
          <p:nvPr/>
        </p:nvSpPr>
        <p:spPr>
          <a:xfrm>
            <a:off x="7132320" y="4544568"/>
            <a:ext cx="4389120" cy="0"/>
          </a:xfrm>
          <a:prstGeom prst="rect">
            <a:avLst/>
          </a:prstGeom>
          <a:noFill/>
          <a:ln/>
        </p:spPr>
        <p:txBody>
          <a:bodyPr wrap="square" rtlCol="0" anchor="ctr"/>
          <a:lstStyle/>
          <a:p>
            <a:pPr indent="0" marL="0">
              <a:buNone/>
            </a:pPr>
            <a:r>
              <a:rPr lang="en-US" sz="1300" b="1" dirty="0">
                <a:solidFill>
                  <a:srgbClr val="2C3E50"/>
                </a:solidFill>
              </a:rPr>
              <a:t>Business Model</a:t>
            </a:r>
            <a:endParaRPr lang="en-US" sz="1300" dirty="0"/>
          </a:p>
        </p:txBody>
      </p:sp>
      <p:sp>
        <p:nvSpPr>
          <p:cNvPr id="59" name="Text 57"/>
          <p:cNvSpPr/>
          <p:nvPr/>
        </p:nvSpPr>
        <p:spPr>
          <a:xfrm>
            <a:off x="7132320" y="4864608"/>
            <a:ext cx="4389120" cy="0"/>
          </a:xfrm>
          <a:prstGeom prst="rect">
            <a:avLst/>
          </a:prstGeom>
          <a:noFill/>
          <a:ln/>
        </p:spPr>
        <p:txBody>
          <a:bodyPr wrap="square" rtlCol="0" anchor="ctr"/>
          <a:lstStyle/>
          <a:p>
            <a:pPr indent="0" marL="0">
              <a:buNone/>
            </a:pPr>
            <a:r>
              <a:rPr lang="en-US" sz="1100" dirty="0">
                <a:solidFill>
                  <a:srgbClr val="5A6B7C"/>
                </a:solidFill>
              </a:rPr>
              <a:t>Subscription pricing and revenue streams</a:t>
            </a:r>
            <a:endParaRPr lang="en-US" sz="1100" dirty="0"/>
          </a:p>
        </p:txBody>
      </p:sp>
      <p:sp>
        <p:nvSpPr>
          <p:cNvPr id="60" name="Shape 58"/>
          <p:cNvSpPr/>
          <p:nvPr/>
        </p:nvSpPr>
        <p:spPr>
          <a:xfrm>
            <a:off x="320040" y="5303520"/>
            <a:ext cx="5669280" cy="731520"/>
          </a:xfrm>
          <a:prstGeom prst="rect">
            <a:avLst/>
          </a:prstGeom>
          <a:solidFill>
            <a:srgbClr val="FFFFFF"/>
          </a:solidFill>
          <a:ln w="12700">
            <a:solidFill>
              <a:srgbClr val="E2E8F0"/>
            </a:solidFill>
            <a:prstDash val="solid"/>
          </a:ln>
        </p:spPr>
      </p:sp>
      <p:sp>
        <p:nvSpPr>
          <p:cNvPr id="61" name="Shape 59"/>
          <p:cNvSpPr/>
          <p:nvPr/>
        </p:nvSpPr>
        <p:spPr>
          <a:xfrm>
            <a:off x="320040" y="5303520"/>
            <a:ext cx="685800" cy="731520"/>
          </a:xfrm>
          <a:prstGeom prst="rect">
            <a:avLst/>
          </a:prstGeom>
          <a:solidFill>
            <a:srgbClr val="EDF2F7"/>
          </a:solidFill>
          <a:ln/>
        </p:spPr>
      </p:sp>
      <p:sp>
        <p:nvSpPr>
          <p:cNvPr id="62" name="Text 60"/>
          <p:cNvSpPr/>
          <p:nvPr/>
        </p:nvSpPr>
        <p:spPr>
          <a:xfrm>
            <a:off x="320040" y="5504688"/>
            <a:ext cx="685800" cy="0"/>
          </a:xfrm>
          <a:prstGeom prst="rect">
            <a:avLst/>
          </a:prstGeom>
          <a:noFill/>
          <a:ln/>
        </p:spPr>
        <p:txBody>
          <a:bodyPr wrap="square" rtlCol="0" anchor="ctr"/>
          <a:lstStyle/>
          <a:p>
            <a:pPr algn="ctr" indent="0" marL="0">
              <a:buNone/>
            </a:pPr>
            <a:r>
              <a:rPr lang="en-US" sz="1400" b="1" dirty="0">
                <a:solidFill>
                  <a:srgbClr val="9D2706"/>
                </a:solidFill>
              </a:rPr>
              <a:t>11</a:t>
            </a:r>
            <a:endParaRPr lang="en-US" sz="1400" dirty="0"/>
          </a:p>
        </p:txBody>
      </p:sp>
      <p:sp>
        <p:nvSpPr>
          <p:cNvPr id="63" name="Text 61"/>
          <p:cNvSpPr/>
          <p:nvPr/>
        </p:nvSpPr>
        <p:spPr>
          <a:xfrm>
            <a:off x="1143000" y="5394960"/>
            <a:ext cx="4389120" cy="0"/>
          </a:xfrm>
          <a:prstGeom prst="rect">
            <a:avLst/>
          </a:prstGeom>
          <a:noFill/>
          <a:ln/>
        </p:spPr>
        <p:txBody>
          <a:bodyPr wrap="square" rtlCol="0" anchor="ctr"/>
          <a:lstStyle/>
          <a:p>
            <a:pPr indent="0" marL="0">
              <a:buNone/>
            </a:pPr>
            <a:r>
              <a:rPr lang="en-US" sz="1300" b="1" dirty="0">
                <a:solidFill>
                  <a:srgbClr val="2C3E50"/>
                </a:solidFill>
              </a:rPr>
              <a:t>Technical Requirements</a:t>
            </a:r>
            <a:endParaRPr lang="en-US" sz="1300" dirty="0"/>
          </a:p>
        </p:txBody>
      </p:sp>
      <p:sp>
        <p:nvSpPr>
          <p:cNvPr id="64" name="Text 62"/>
          <p:cNvSpPr/>
          <p:nvPr/>
        </p:nvSpPr>
        <p:spPr>
          <a:xfrm>
            <a:off x="1143000" y="5715000"/>
            <a:ext cx="4389120" cy="0"/>
          </a:xfrm>
          <a:prstGeom prst="rect">
            <a:avLst/>
          </a:prstGeom>
          <a:noFill/>
          <a:ln/>
        </p:spPr>
        <p:txBody>
          <a:bodyPr wrap="square" rtlCol="0" anchor="ctr"/>
          <a:lstStyle/>
          <a:p>
            <a:pPr indent="0" marL="0">
              <a:buNone/>
            </a:pPr>
            <a:r>
              <a:rPr lang="en-US" sz="1100" dirty="0">
                <a:solidFill>
                  <a:srgbClr val="5A6B7C"/>
                </a:solidFill>
              </a:rPr>
              <a:t>Core specs, scaling, and compliance</a:t>
            </a:r>
            <a:endParaRPr lang="en-US" sz="1100" dirty="0"/>
          </a:p>
        </p:txBody>
      </p:sp>
      <p:sp>
        <p:nvSpPr>
          <p:cNvPr id="65" name="Shape 63"/>
          <p:cNvSpPr/>
          <p:nvPr/>
        </p:nvSpPr>
        <p:spPr>
          <a:xfrm>
            <a:off x="6309360" y="5303520"/>
            <a:ext cx="5669280" cy="731520"/>
          </a:xfrm>
          <a:prstGeom prst="rect">
            <a:avLst/>
          </a:prstGeom>
          <a:solidFill>
            <a:srgbClr val="FFFFFF"/>
          </a:solidFill>
          <a:ln w="12700">
            <a:solidFill>
              <a:srgbClr val="E2E8F0"/>
            </a:solidFill>
            <a:prstDash val="solid"/>
          </a:ln>
        </p:spPr>
      </p:sp>
      <p:sp>
        <p:nvSpPr>
          <p:cNvPr id="66" name="Shape 64"/>
          <p:cNvSpPr/>
          <p:nvPr/>
        </p:nvSpPr>
        <p:spPr>
          <a:xfrm>
            <a:off x="6309360" y="5303520"/>
            <a:ext cx="685800" cy="731520"/>
          </a:xfrm>
          <a:prstGeom prst="rect">
            <a:avLst/>
          </a:prstGeom>
          <a:solidFill>
            <a:srgbClr val="EDF2F7"/>
          </a:solidFill>
          <a:ln/>
        </p:spPr>
      </p:sp>
      <p:sp>
        <p:nvSpPr>
          <p:cNvPr id="67" name="Text 65"/>
          <p:cNvSpPr/>
          <p:nvPr/>
        </p:nvSpPr>
        <p:spPr>
          <a:xfrm>
            <a:off x="6309360" y="5504688"/>
            <a:ext cx="685800" cy="0"/>
          </a:xfrm>
          <a:prstGeom prst="rect">
            <a:avLst/>
          </a:prstGeom>
          <a:noFill/>
          <a:ln/>
        </p:spPr>
        <p:txBody>
          <a:bodyPr wrap="square" rtlCol="0" anchor="ctr"/>
          <a:lstStyle/>
          <a:p>
            <a:pPr algn="ctr" indent="0" marL="0">
              <a:buNone/>
            </a:pPr>
            <a:r>
              <a:rPr lang="en-US" sz="1400" b="1" dirty="0">
                <a:solidFill>
                  <a:srgbClr val="9D2706"/>
                </a:solidFill>
              </a:rPr>
              <a:t>12</a:t>
            </a:r>
            <a:endParaRPr lang="en-US" sz="1400" dirty="0"/>
          </a:p>
        </p:txBody>
      </p:sp>
      <p:sp>
        <p:nvSpPr>
          <p:cNvPr id="68" name="Text 66"/>
          <p:cNvSpPr/>
          <p:nvPr/>
        </p:nvSpPr>
        <p:spPr>
          <a:xfrm>
            <a:off x="7132320" y="5394960"/>
            <a:ext cx="4389120" cy="0"/>
          </a:xfrm>
          <a:prstGeom prst="rect">
            <a:avLst/>
          </a:prstGeom>
          <a:noFill/>
          <a:ln/>
        </p:spPr>
        <p:txBody>
          <a:bodyPr wrap="square" rtlCol="0" anchor="ctr"/>
          <a:lstStyle/>
          <a:p>
            <a:pPr indent="0" marL="0">
              <a:buNone/>
            </a:pPr>
            <a:r>
              <a:rPr lang="en-US" sz="1300" b="1" dirty="0">
                <a:solidFill>
                  <a:srgbClr val="2C3E50"/>
                </a:solidFill>
              </a:rPr>
              <a:t>Success Metrics</a:t>
            </a:r>
            <a:endParaRPr lang="en-US" sz="1300" dirty="0"/>
          </a:p>
        </p:txBody>
      </p:sp>
      <p:sp>
        <p:nvSpPr>
          <p:cNvPr id="69" name="Text 67"/>
          <p:cNvSpPr/>
          <p:nvPr/>
        </p:nvSpPr>
        <p:spPr>
          <a:xfrm>
            <a:off x="7132320" y="5715000"/>
            <a:ext cx="4389120" cy="0"/>
          </a:xfrm>
          <a:prstGeom prst="rect">
            <a:avLst/>
          </a:prstGeom>
          <a:noFill/>
          <a:ln/>
        </p:spPr>
        <p:txBody>
          <a:bodyPr wrap="square" rtlCol="0" anchor="ctr"/>
          <a:lstStyle/>
          <a:p>
            <a:pPr indent="0" marL="0">
              <a:buNone/>
            </a:pPr>
            <a:r>
              <a:rPr lang="en-US" sz="1100" dirty="0">
                <a:solidFill>
                  <a:srgbClr val="5A6B7C"/>
                </a:solidFill>
              </a:rPr>
              <a:t>KPIs and target launch deliverables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Executive Summary</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What is Cognaq? — The platform at a glance.</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1005840"/>
            <a:ext cx="54864" cy="1097280"/>
          </a:xfrm>
          <a:prstGeom prst="rect">
            <a:avLst/>
          </a:prstGeom>
          <a:solidFill>
            <a:srgbClr val="9D2706"/>
          </a:solidFill>
          <a:ln/>
        </p:spPr>
      </p:sp>
      <p:sp>
        <p:nvSpPr>
          <p:cNvPr id="12" name="Text 10"/>
          <p:cNvSpPr/>
          <p:nvPr/>
        </p:nvSpPr>
        <p:spPr>
          <a:xfrm>
            <a:off x="502920" y="960120"/>
            <a:ext cx="11338560" cy="1188720"/>
          </a:xfrm>
          <a:prstGeom prst="rect">
            <a:avLst/>
          </a:prstGeom>
          <a:noFill/>
          <a:ln/>
        </p:spPr>
        <p:txBody>
          <a:bodyPr wrap="square" rtlCol="0" anchor="ctr"/>
          <a:lstStyle/>
          <a:p>
            <a:pPr indent="0" marL="0">
              <a:lnSpc>
                <a:spcPct val="150000"/>
              </a:lnSpc>
              <a:buNone/>
            </a:pPr>
            <a:r>
              <a:rPr lang="en-US" sz="1350" i="1" dirty="0">
                <a:solidFill>
                  <a:srgbClr val="2C3E50"/>
                </a:solidFill>
              </a:rPr>
              <a:t>Cognaq is a next-generation 3D Product Configurator and Augmented Reality (AR) SaaS platform. We enable online brands to let their customers interact with, customise, and virtually try on products directly from their mobile or desktop web browser, driving sales conversion while reducing returns.</a:t>
            </a:r>
            <a:endParaRPr lang="en-US" sz="1350" dirty="0"/>
          </a:p>
        </p:txBody>
      </p:sp>
      <p:sp>
        <p:nvSpPr>
          <p:cNvPr id="13" name="Shape 11"/>
          <p:cNvSpPr/>
          <p:nvPr/>
        </p:nvSpPr>
        <p:spPr>
          <a:xfrm>
            <a:off x="320040" y="2423160"/>
            <a:ext cx="3611880" cy="1691640"/>
          </a:xfrm>
          <a:prstGeom prst="rect">
            <a:avLst/>
          </a:prstGeom>
          <a:solidFill>
            <a:srgbClr val="FFFFFF"/>
          </a:solidFill>
          <a:ln w="12700">
            <a:solidFill>
              <a:srgbClr val="E2E8F0"/>
            </a:solidFill>
            <a:prstDash val="solid"/>
          </a:ln>
        </p:spPr>
      </p:sp>
      <p:sp>
        <p:nvSpPr>
          <p:cNvPr id="14" name="Shape 12"/>
          <p:cNvSpPr/>
          <p:nvPr/>
        </p:nvSpPr>
        <p:spPr>
          <a:xfrm>
            <a:off x="320040" y="2423160"/>
            <a:ext cx="3611880" cy="502920"/>
          </a:xfrm>
          <a:prstGeom prst="rect">
            <a:avLst/>
          </a:prstGeom>
          <a:solidFill>
            <a:srgbClr val="EDF2F7"/>
          </a:solidFill>
          <a:ln/>
        </p:spPr>
      </p:sp>
      <p:sp>
        <p:nvSpPr>
          <p:cNvPr id="15" name="Text 13"/>
          <p:cNvSpPr/>
          <p:nvPr/>
        </p:nvSpPr>
        <p:spPr>
          <a:xfrm>
            <a:off x="457200" y="2532888"/>
            <a:ext cx="3383280" cy="0"/>
          </a:xfrm>
          <a:prstGeom prst="rect">
            <a:avLst/>
          </a:prstGeom>
          <a:noFill/>
          <a:ln/>
        </p:spPr>
        <p:txBody>
          <a:bodyPr wrap="square" rtlCol="0" anchor="ctr"/>
          <a:lstStyle/>
          <a:p>
            <a:pPr indent="0" marL="0">
              <a:buNone/>
            </a:pPr>
            <a:r>
              <a:rPr lang="en-US" sz="1300" b="1" dirty="0">
                <a:solidFill>
                  <a:srgbClr val="2C3E50"/>
                </a:solidFill>
              </a:rPr>
              <a:t>🧊  Interactive 3D Configurator</a:t>
            </a:r>
            <a:endParaRPr lang="en-US" sz="1300" dirty="0"/>
          </a:p>
        </p:txBody>
      </p:sp>
      <p:sp>
        <p:nvSpPr>
          <p:cNvPr id="16" name="Shape 14"/>
          <p:cNvSpPr/>
          <p:nvPr/>
        </p:nvSpPr>
        <p:spPr>
          <a:xfrm>
            <a:off x="320040" y="2926080"/>
            <a:ext cx="3657600" cy="36576"/>
          </a:xfrm>
          <a:prstGeom prst="rect">
            <a:avLst/>
          </a:prstGeom>
          <a:solidFill>
            <a:srgbClr val="9D2706"/>
          </a:solidFill>
          <a:ln/>
        </p:spPr>
      </p:sp>
      <p:sp>
        <p:nvSpPr>
          <p:cNvPr id="17" name="Text 15"/>
          <p:cNvSpPr/>
          <p:nvPr/>
        </p:nvSpPr>
        <p:spPr>
          <a:xfrm>
            <a:off x="457200" y="3081528"/>
            <a:ext cx="3383280" cy="0"/>
          </a:xfrm>
          <a:prstGeom prst="rect">
            <a:avLst/>
          </a:prstGeom>
          <a:noFill/>
          <a:ln/>
        </p:spPr>
        <p:txBody>
          <a:bodyPr wrap="square" rtlCol="0" anchor="ctr"/>
          <a:lstStyle/>
          <a:p>
            <a:pPr indent="0" marL="0">
              <a:lnSpc>
                <a:spcPct val="140000"/>
              </a:lnSpc>
              <a:buNone/>
            </a:pPr>
            <a:r>
              <a:rPr lang="en-US" sz="1150" dirty="0">
                <a:solidFill>
                  <a:srgbClr val="5A6B7C"/>
                </a:solidFill>
              </a:rPr>
              <a:t>Real-time customisation of colors, parts, and materials directly in-browser. Zero plugins required.</a:t>
            </a:r>
            <a:endParaRPr lang="en-US" sz="1150" dirty="0"/>
          </a:p>
        </p:txBody>
      </p:sp>
      <p:sp>
        <p:nvSpPr>
          <p:cNvPr id="18" name="Shape 16"/>
          <p:cNvSpPr/>
          <p:nvPr/>
        </p:nvSpPr>
        <p:spPr>
          <a:xfrm>
            <a:off x="4206240" y="2423160"/>
            <a:ext cx="3611880" cy="1691640"/>
          </a:xfrm>
          <a:prstGeom prst="rect">
            <a:avLst/>
          </a:prstGeom>
          <a:solidFill>
            <a:srgbClr val="FFFFFF"/>
          </a:solidFill>
          <a:ln w="12700">
            <a:solidFill>
              <a:srgbClr val="E2E8F0"/>
            </a:solidFill>
            <a:prstDash val="solid"/>
          </a:ln>
        </p:spPr>
      </p:sp>
      <p:sp>
        <p:nvSpPr>
          <p:cNvPr id="19" name="Shape 17"/>
          <p:cNvSpPr/>
          <p:nvPr/>
        </p:nvSpPr>
        <p:spPr>
          <a:xfrm>
            <a:off x="4206240" y="2423160"/>
            <a:ext cx="3611880" cy="502920"/>
          </a:xfrm>
          <a:prstGeom prst="rect">
            <a:avLst/>
          </a:prstGeom>
          <a:solidFill>
            <a:srgbClr val="EDF2F7"/>
          </a:solidFill>
          <a:ln/>
        </p:spPr>
      </p:sp>
      <p:sp>
        <p:nvSpPr>
          <p:cNvPr id="20" name="Text 18"/>
          <p:cNvSpPr/>
          <p:nvPr/>
        </p:nvSpPr>
        <p:spPr>
          <a:xfrm>
            <a:off x="4343400" y="2532888"/>
            <a:ext cx="3383280" cy="0"/>
          </a:xfrm>
          <a:prstGeom prst="rect">
            <a:avLst/>
          </a:prstGeom>
          <a:noFill/>
          <a:ln/>
        </p:spPr>
        <p:txBody>
          <a:bodyPr wrap="square" rtlCol="0" anchor="ctr"/>
          <a:lstStyle/>
          <a:p>
            <a:pPr indent="0" marL="0">
              <a:buNone/>
            </a:pPr>
            <a:r>
              <a:rPr lang="en-US" sz="1300" b="1" dirty="0">
                <a:solidFill>
                  <a:srgbClr val="2C3E50"/>
                </a:solidFill>
              </a:rPr>
              <a:t>🪄  Augmented Reality (AR)</a:t>
            </a:r>
            <a:endParaRPr lang="en-US" sz="1300" dirty="0"/>
          </a:p>
        </p:txBody>
      </p:sp>
      <p:sp>
        <p:nvSpPr>
          <p:cNvPr id="21" name="Shape 19"/>
          <p:cNvSpPr/>
          <p:nvPr/>
        </p:nvSpPr>
        <p:spPr>
          <a:xfrm>
            <a:off x="4206240" y="2926080"/>
            <a:ext cx="3657600" cy="36576"/>
          </a:xfrm>
          <a:prstGeom prst="rect">
            <a:avLst/>
          </a:prstGeom>
          <a:solidFill>
            <a:srgbClr val="9D2706"/>
          </a:solidFill>
          <a:ln/>
        </p:spPr>
      </p:sp>
      <p:sp>
        <p:nvSpPr>
          <p:cNvPr id="22" name="Text 20"/>
          <p:cNvSpPr/>
          <p:nvPr/>
        </p:nvSpPr>
        <p:spPr>
          <a:xfrm>
            <a:off x="4343400" y="3081528"/>
            <a:ext cx="3383280" cy="0"/>
          </a:xfrm>
          <a:prstGeom prst="rect">
            <a:avLst/>
          </a:prstGeom>
          <a:noFill/>
          <a:ln/>
        </p:spPr>
        <p:txBody>
          <a:bodyPr wrap="square" rtlCol="0" anchor="ctr"/>
          <a:lstStyle/>
          <a:p>
            <a:pPr indent="0" marL="0">
              <a:lnSpc>
                <a:spcPct val="140000"/>
              </a:lnSpc>
              <a:buNone/>
            </a:pPr>
            <a:r>
              <a:rPr lang="en-US" sz="1150" dirty="0">
                <a:solidFill>
                  <a:srgbClr val="5A6B7C"/>
                </a:solidFill>
              </a:rPr>
              <a:t>Instant 'View in Space' placement and Virtual Try-On powered by WebXR and on-device AI.</a:t>
            </a:r>
            <a:endParaRPr lang="en-US" sz="1150" dirty="0"/>
          </a:p>
        </p:txBody>
      </p:sp>
      <p:sp>
        <p:nvSpPr>
          <p:cNvPr id="23" name="Shape 21"/>
          <p:cNvSpPr/>
          <p:nvPr/>
        </p:nvSpPr>
        <p:spPr>
          <a:xfrm>
            <a:off x="8092440" y="2423160"/>
            <a:ext cx="3611880" cy="1691640"/>
          </a:xfrm>
          <a:prstGeom prst="rect">
            <a:avLst/>
          </a:prstGeom>
          <a:solidFill>
            <a:srgbClr val="FFFFFF"/>
          </a:solidFill>
          <a:ln w="12700">
            <a:solidFill>
              <a:srgbClr val="E2E8F0"/>
            </a:solidFill>
            <a:prstDash val="solid"/>
          </a:ln>
        </p:spPr>
      </p:sp>
      <p:sp>
        <p:nvSpPr>
          <p:cNvPr id="24" name="Shape 22"/>
          <p:cNvSpPr/>
          <p:nvPr/>
        </p:nvSpPr>
        <p:spPr>
          <a:xfrm>
            <a:off x="8092440" y="2423160"/>
            <a:ext cx="3611880" cy="502920"/>
          </a:xfrm>
          <a:prstGeom prst="rect">
            <a:avLst/>
          </a:prstGeom>
          <a:solidFill>
            <a:srgbClr val="EDF2F7"/>
          </a:solidFill>
          <a:ln/>
        </p:spPr>
      </p:sp>
      <p:sp>
        <p:nvSpPr>
          <p:cNvPr id="25" name="Text 23"/>
          <p:cNvSpPr/>
          <p:nvPr/>
        </p:nvSpPr>
        <p:spPr>
          <a:xfrm>
            <a:off x="8229600" y="2532888"/>
            <a:ext cx="3383280" cy="0"/>
          </a:xfrm>
          <a:prstGeom prst="rect">
            <a:avLst/>
          </a:prstGeom>
          <a:noFill/>
          <a:ln/>
        </p:spPr>
        <p:txBody>
          <a:bodyPr wrap="square" rtlCol="0" anchor="ctr"/>
          <a:lstStyle/>
          <a:p>
            <a:pPr indent="0" marL="0">
              <a:buNone/>
            </a:pPr>
            <a:r>
              <a:rPr lang="en-US" sz="1300" b="1" dirty="0">
                <a:solidFill>
                  <a:srgbClr val="2C3E50"/>
                </a:solidFill>
              </a:rPr>
              <a:t>🛒  Shopify Integration</a:t>
            </a:r>
            <a:endParaRPr lang="en-US" sz="1300" dirty="0"/>
          </a:p>
        </p:txBody>
      </p:sp>
      <p:sp>
        <p:nvSpPr>
          <p:cNvPr id="26" name="Shape 24"/>
          <p:cNvSpPr/>
          <p:nvPr/>
        </p:nvSpPr>
        <p:spPr>
          <a:xfrm>
            <a:off x="8092440" y="2926080"/>
            <a:ext cx="3657600" cy="36576"/>
          </a:xfrm>
          <a:prstGeom prst="rect">
            <a:avLst/>
          </a:prstGeom>
          <a:solidFill>
            <a:srgbClr val="9D2706"/>
          </a:solidFill>
          <a:ln/>
        </p:spPr>
      </p:sp>
      <p:sp>
        <p:nvSpPr>
          <p:cNvPr id="27" name="Text 25"/>
          <p:cNvSpPr/>
          <p:nvPr/>
        </p:nvSpPr>
        <p:spPr>
          <a:xfrm>
            <a:off x="8229600" y="3081528"/>
            <a:ext cx="3383280" cy="0"/>
          </a:xfrm>
          <a:prstGeom prst="rect">
            <a:avLst/>
          </a:prstGeom>
          <a:noFill/>
          <a:ln/>
        </p:spPr>
        <p:txBody>
          <a:bodyPr wrap="square" rtlCol="0" anchor="ctr"/>
          <a:lstStyle/>
          <a:p>
            <a:pPr indent="0" marL="0">
              <a:lnSpc>
                <a:spcPct val="140000"/>
              </a:lnSpc>
              <a:buNone/>
            </a:pPr>
            <a:r>
              <a:rPr lang="en-US" sz="1150" dirty="0">
                <a:solidFill>
                  <a:srgbClr val="5A6B7C"/>
                </a:solidFill>
              </a:rPr>
              <a:t>Native Shopify app installation. Syncs dynamic custom variants to cart and checkout instantly.</a:t>
            </a:r>
            <a:endParaRPr lang="en-US" sz="1150" dirty="0"/>
          </a:p>
        </p:txBody>
      </p:sp>
      <p:sp>
        <p:nvSpPr>
          <p:cNvPr id="28" name="Shape 26"/>
          <p:cNvSpPr/>
          <p:nvPr/>
        </p:nvSpPr>
        <p:spPr>
          <a:xfrm>
            <a:off x="320040" y="4297680"/>
            <a:ext cx="3611880" cy="1691640"/>
          </a:xfrm>
          <a:prstGeom prst="rect">
            <a:avLst/>
          </a:prstGeom>
          <a:solidFill>
            <a:srgbClr val="FFFFFF"/>
          </a:solidFill>
          <a:ln w="12700">
            <a:solidFill>
              <a:srgbClr val="E2E8F0"/>
            </a:solidFill>
            <a:prstDash val="solid"/>
          </a:ln>
        </p:spPr>
      </p:sp>
      <p:sp>
        <p:nvSpPr>
          <p:cNvPr id="29" name="Shape 27"/>
          <p:cNvSpPr/>
          <p:nvPr/>
        </p:nvSpPr>
        <p:spPr>
          <a:xfrm>
            <a:off x="320040" y="4297680"/>
            <a:ext cx="3611880" cy="502920"/>
          </a:xfrm>
          <a:prstGeom prst="rect">
            <a:avLst/>
          </a:prstGeom>
          <a:solidFill>
            <a:srgbClr val="EDF2F7"/>
          </a:solidFill>
          <a:ln/>
        </p:spPr>
      </p:sp>
      <p:sp>
        <p:nvSpPr>
          <p:cNvPr id="30" name="Text 28"/>
          <p:cNvSpPr/>
          <p:nvPr/>
        </p:nvSpPr>
        <p:spPr>
          <a:xfrm>
            <a:off x="457200" y="4407408"/>
            <a:ext cx="3383280" cy="0"/>
          </a:xfrm>
          <a:prstGeom prst="rect">
            <a:avLst/>
          </a:prstGeom>
          <a:noFill/>
          <a:ln/>
        </p:spPr>
        <p:txBody>
          <a:bodyPr wrap="square" rtlCol="0" anchor="ctr"/>
          <a:lstStyle/>
          <a:p>
            <a:pPr indent="0" marL="0">
              <a:buNone/>
            </a:pPr>
            <a:r>
              <a:rPr lang="en-US" sz="1300" b="1" dirty="0">
                <a:solidFill>
                  <a:srgbClr val="2C3E50"/>
                </a:solidFill>
              </a:rPr>
              <a:t>🎨  End-to-End Asset Service</a:t>
            </a:r>
            <a:endParaRPr lang="en-US" sz="1300" dirty="0"/>
          </a:p>
        </p:txBody>
      </p:sp>
      <p:sp>
        <p:nvSpPr>
          <p:cNvPr id="31" name="Shape 29"/>
          <p:cNvSpPr/>
          <p:nvPr/>
        </p:nvSpPr>
        <p:spPr>
          <a:xfrm>
            <a:off x="320040" y="4800600"/>
            <a:ext cx="3657600" cy="36576"/>
          </a:xfrm>
          <a:prstGeom prst="rect">
            <a:avLst/>
          </a:prstGeom>
          <a:solidFill>
            <a:srgbClr val="9D2706"/>
          </a:solidFill>
          <a:ln/>
        </p:spPr>
      </p:sp>
      <p:sp>
        <p:nvSpPr>
          <p:cNvPr id="32" name="Text 30"/>
          <p:cNvSpPr/>
          <p:nvPr/>
        </p:nvSpPr>
        <p:spPr>
          <a:xfrm>
            <a:off x="457200" y="4956048"/>
            <a:ext cx="3383280" cy="0"/>
          </a:xfrm>
          <a:prstGeom prst="rect">
            <a:avLst/>
          </a:prstGeom>
          <a:noFill/>
          <a:ln/>
        </p:spPr>
        <p:txBody>
          <a:bodyPr wrap="square" rtlCol="0" anchor="ctr"/>
          <a:lstStyle/>
          <a:p>
            <a:pPr indent="0" marL="0">
              <a:lnSpc>
                <a:spcPct val="140000"/>
              </a:lnSpc>
              <a:buNone/>
            </a:pPr>
            <a:r>
              <a:rPr lang="en-US" sz="1150" dirty="0">
                <a:solidFill>
                  <a:srgbClr val="5A6B7C"/>
                </a:solidFill>
              </a:rPr>
              <a:t>Full service model: we partner with experienced 3D artists to model and digitise client catalogues.</a:t>
            </a:r>
            <a:endParaRPr lang="en-US" sz="1150" dirty="0"/>
          </a:p>
        </p:txBody>
      </p:sp>
      <p:sp>
        <p:nvSpPr>
          <p:cNvPr id="33" name="Shape 31"/>
          <p:cNvSpPr/>
          <p:nvPr/>
        </p:nvSpPr>
        <p:spPr>
          <a:xfrm>
            <a:off x="4206240" y="4297680"/>
            <a:ext cx="3611880" cy="1691640"/>
          </a:xfrm>
          <a:prstGeom prst="rect">
            <a:avLst/>
          </a:prstGeom>
          <a:solidFill>
            <a:srgbClr val="FFFFFF"/>
          </a:solidFill>
          <a:ln w="12700">
            <a:solidFill>
              <a:srgbClr val="E2E8F0"/>
            </a:solidFill>
            <a:prstDash val="solid"/>
          </a:ln>
        </p:spPr>
      </p:sp>
      <p:sp>
        <p:nvSpPr>
          <p:cNvPr id="34" name="Shape 32"/>
          <p:cNvSpPr/>
          <p:nvPr/>
        </p:nvSpPr>
        <p:spPr>
          <a:xfrm>
            <a:off x="4206240" y="4297680"/>
            <a:ext cx="3611880" cy="502920"/>
          </a:xfrm>
          <a:prstGeom prst="rect">
            <a:avLst/>
          </a:prstGeom>
          <a:solidFill>
            <a:srgbClr val="EDF2F7"/>
          </a:solidFill>
          <a:ln/>
        </p:spPr>
      </p:sp>
      <p:sp>
        <p:nvSpPr>
          <p:cNvPr id="35" name="Text 33"/>
          <p:cNvSpPr/>
          <p:nvPr/>
        </p:nvSpPr>
        <p:spPr>
          <a:xfrm>
            <a:off x="4343400" y="4407408"/>
            <a:ext cx="3383280" cy="0"/>
          </a:xfrm>
          <a:prstGeom prst="rect">
            <a:avLst/>
          </a:prstGeom>
          <a:noFill/>
          <a:ln/>
        </p:spPr>
        <p:txBody>
          <a:bodyPr wrap="square" rtlCol="0" anchor="ctr"/>
          <a:lstStyle/>
          <a:p>
            <a:pPr indent="0" marL="0">
              <a:buNone/>
            </a:pPr>
            <a:r>
              <a:rPr lang="en-US" sz="1300" b="1" dirty="0">
                <a:solidFill>
                  <a:srgbClr val="2C3E50"/>
                </a:solidFill>
              </a:rPr>
              <a:t>📊  Merchant SaaS Dashboard</a:t>
            </a:r>
            <a:endParaRPr lang="en-US" sz="1300" dirty="0"/>
          </a:p>
        </p:txBody>
      </p:sp>
      <p:sp>
        <p:nvSpPr>
          <p:cNvPr id="36" name="Shape 34"/>
          <p:cNvSpPr/>
          <p:nvPr/>
        </p:nvSpPr>
        <p:spPr>
          <a:xfrm>
            <a:off x="4206240" y="4800600"/>
            <a:ext cx="3657600" cy="36576"/>
          </a:xfrm>
          <a:prstGeom prst="rect">
            <a:avLst/>
          </a:prstGeom>
          <a:solidFill>
            <a:srgbClr val="9D2706"/>
          </a:solidFill>
          <a:ln/>
        </p:spPr>
      </p:sp>
      <p:sp>
        <p:nvSpPr>
          <p:cNvPr id="37" name="Text 35"/>
          <p:cNvSpPr/>
          <p:nvPr/>
        </p:nvSpPr>
        <p:spPr>
          <a:xfrm>
            <a:off x="4343400" y="4956048"/>
            <a:ext cx="3383280" cy="0"/>
          </a:xfrm>
          <a:prstGeom prst="rect">
            <a:avLst/>
          </a:prstGeom>
          <a:noFill/>
          <a:ln/>
        </p:spPr>
        <p:txBody>
          <a:bodyPr wrap="square" rtlCol="0" anchor="ctr"/>
          <a:lstStyle/>
          <a:p>
            <a:pPr indent="0" marL="0">
              <a:lnSpc>
                <a:spcPct val="140000"/>
              </a:lnSpc>
              <a:buNone/>
            </a:pPr>
            <a:r>
              <a:rPr lang="en-US" sz="1150" dirty="0">
                <a:solidFill>
                  <a:srgbClr val="5A6B7C"/>
                </a:solidFill>
              </a:rPr>
              <a:t>Self-serve admin panel where merchants upload models, configure options, and see analytics.</a:t>
            </a:r>
            <a:endParaRPr lang="en-US" sz="1150" dirty="0"/>
          </a:p>
        </p:txBody>
      </p:sp>
      <p:sp>
        <p:nvSpPr>
          <p:cNvPr id="38" name="Shape 36"/>
          <p:cNvSpPr/>
          <p:nvPr/>
        </p:nvSpPr>
        <p:spPr>
          <a:xfrm>
            <a:off x="8092440" y="4297680"/>
            <a:ext cx="3611880" cy="1691640"/>
          </a:xfrm>
          <a:prstGeom prst="rect">
            <a:avLst/>
          </a:prstGeom>
          <a:solidFill>
            <a:srgbClr val="FFFFFF"/>
          </a:solidFill>
          <a:ln w="12700">
            <a:solidFill>
              <a:srgbClr val="E2E8F0"/>
            </a:solidFill>
            <a:prstDash val="solid"/>
          </a:ln>
        </p:spPr>
      </p:sp>
      <p:sp>
        <p:nvSpPr>
          <p:cNvPr id="39" name="Shape 37"/>
          <p:cNvSpPr/>
          <p:nvPr/>
        </p:nvSpPr>
        <p:spPr>
          <a:xfrm>
            <a:off x="8092440" y="4297680"/>
            <a:ext cx="3611880" cy="502920"/>
          </a:xfrm>
          <a:prstGeom prst="rect">
            <a:avLst/>
          </a:prstGeom>
          <a:solidFill>
            <a:srgbClr val="EDF2F7"/>
          </a:solidFill>
          <a:ln/>
        </p:spPr>
      </p:sp>
      <p:sp>
        <p:nvSpPr>
          <p:cNvPr id="40" name="Text 38"/>
          <p:cNvSpPr/>
          <p:nvPr/>
        </p:nvSpPr>
        <p:spPr>
          <a:xfrm>
            <a:off x="8229600" y="4407408"/>
            <a:ext cx="3383280" cy="0"/>
          </a:xfrm>
          <a:prstGeom prst="rect">
            <a:avLst/>
          </a:prstGeom>
          <a:noFill/>
          <a:ln/>
        </p:spPr>
        <p:txBody>
          <a:bodyPr wrap="square" rtlCol="0" anchor="ctr"/>
          <a:lstStyle/>
          <a:p>
            <a:pPr indent="0" marL="0">
              <a:buNone/>
            </a:pPr>
            <a:r>
              <a:rPr lang="en-US" sz="1300" b="1" dirty="0">
                <a:solidFill>
                  <a:srgbClr val="2C3E50"/>
                </a:solidFill>
              </a:rPr>
              <a:t>💰  Dynamic Pricing Engine</a:t>
            </a:r>
            <a:endParaRPr lang="en-US" sz="1300" dirty="0"/>
          </a:p>
        </p:txBody>
      </p:sp>
      <p:sp>
        <p:nvSpPr>
          <p:cNvPr id="41" name="Shape 39"/>
          <p:cNvSpPr/>
          <p:nvPr/>
        </p:nvSpPr>
        <p:spPr>
          <a:xfrm>
            <a:off x="8092440" y="4800600"/>
            <a:ext cx="3657600" cy="36576"/>
          </a:xfrm>
          <a:prstGeom prst="rect">
            <a:avLst/>
          </a:prstGeom>
          <a:solidFill>
            <a:srgbClr val="9D2706"/>
          </a:solidFill>
          <a:ln/>
        </p:spPr>
      </p:sp>
      <p:sp>
        <p:nvSpPr>
          <p:cNvPr id="42" name="Text 40"/>
          <p:cNvSpPr/>
          <p:nvPr/>
        </p:nvSpPr>
        <p:spPr>
          <a:xfrm>
            <a:off x="8229600" y="4956048"/>
            <a:ext cx="3383280" cy="0"/>
          </a:xfrm>
          <a:prstGeom prst="rect">
            <a:avLst/>
          </a:prstGeom>
          <a:noFill/>
          <a:ln/>
        </p:spPr>
        <p:txBody>
          <a:bodyPr wrap="square" rtlCol="0" anchor="ctr"/>
          <a:lstStyle/>
          <a:p>
            <a:pPr indent="0" marL="0">
              <a:lnSpc>
                <a:spcPct val="140000"/>
              </a:lnSpc>
              <a:buNone/>
            </a:pPr>
            <a:r>
              <a:rPr lang="en-US" sz="1150" dirty="0">
                <a:solidFill>
                  <a:srgbClr val="5A6B7C"/>
                </a:solidFill>
              </a:rPr>
              <a:t>Material and accessory upgrades dynamically recalculate total price in the shopper's view.</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The Problem We Solve</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Market pain points for e-commerce merchants.</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960120"/>
            <a:ext cx="11612880" cy="594360"/>
          </a:xfrm>
          <a:prstGeom prst="rect">
            <a:avLst/>
          </a:prstGeom>
          <a:solidFill>
            <a:srgbClr val="EDF2F7"/>
          </a:solidFill>
          <a:ln w="12700">
            <a:solidFill>
              <a:srgbClr val="E2E8F0"/>
            </a:solidFill>
            <a:prstDash val="solid"/>
          </a:ln>
        </p:spPr>
      </p:sp>
      <p:sp>
        <p:nvSpPr>
          <p:cNvPr id="12" name="Shape 10"/>
          <p:cNvSpPr/>
          <p:nvPr/>
        </p:nvSpPr>
        <p:spPr>
          <a:xfrm>
            <a:off x="320040" y="960120"/>
            <a:ext cx="365760" cy="594360"/>
          </a:xfrm>
          <a:prstGeom prst="rect">
            <a:avLst/>
          </a:prstGeom>
          <a:solidFill>
            <a:srgbClr val="9D2706"/>
          </a:solidFill>
          <a:ln/>
        </p:spPr>
      </p:sp>
      <p:sp>
        <p:nvSpPr>
          <p:cNvPr id="13" name="Text 11"/>
          <p:cNvSpPr/>
          <p:nvPr/>
        </p:nvSpPr>
        <p:spPr>
          <a:xfrm>
            <a:off x="822960" y="1033272"/>
            <a:ext cx="10881360" cy="0"/>
          </a:xfrm>
          <a:prstGeom prst="rect">
            <a:avLst/>
          </a:prstGeom>
          <a:noFill/>
          <a:ln/>
        </p:spPr>
        <p:txBody>
          <a:bodyPr wrap="square" rtlCol="0" anchor="ctr"/>
          <a:lstStyle/>
          <a:p>
            <a:pPr indent="0" marL="0">
              <a:buNone/>
            </a:pPr>
            <a:r>
              <a:rPr lang="en-US" sz="1250" b="1" dirty="0">
                <a:solidFill>
                  <a:srgbClr val="2C3E50"/>
                </a:solidFill>
              </a:rPr>
              <a:t>E-commerce brands lose billions due to product expectation mismatches, return logistics, and low cart conversions.</a:t>
            </a:r>
            <a:endParaRPr lang="en-US" sz="1250" dirty="0"/>
          </a:p>
        </p:txBody>
      </p:sp>
      <p:sp>
        <p:nvSpPr>
          <p:cNvPr id="14" name="Shape 12"/>
          <p:cNvSpPr/>
          <p:nvPr/>
        </p:nvSpPr>
        <p:spPr>
          <a:xfrm>
            <a:off x="320040" y="1874520"/>
            <a:ext cx="5669280" cy="1920240"/>
          </a:xfrm>
          <a:prstGeom prst="rect">
            <a:avLst/>
          </a:prstGeom>
          <a:solidFill>
            <a:srgbClr val="FFFFFF"/>
          </a:solidFill>
          <a:ln w="12700">
            <a:solidFill>
              <a:srgbClr val="E2E8F0"/>
            </a:solidFill>
            <a:prstDash val="solid"/>
          </a:ln>
        </p:spPr>
      </p:sp>
      <p:sp>
        <p:nvSpPr>
          <p:cNvPr id="15" name="Shape 13"/>
          <p:cNvSpPr/>
          <p:nvPr/>
        </p:nvSpPr>
        <p:spPr>
          <a:xfrm>
            <a:off x="320040" y="1874520"/>
            <a:ext cx="1463040" cy="1920240"/>
          </a:xfrm>
          <a:prstGeom prst="rect">
            <a:avLst/>
          </a:prstGeom>
          <a:solidFill>
            <a:srgbClr val="EDF2F7"/>
          </a:solidFill>
          <a:ln/>
        </p:spPr>
      </p:sp>
      <p:sp>
        <p:nvSpPr>
          <p:cNvPr id="16" name="Text 14"/>
          <p:cNvSpPr/>
          <p:nvPr/>
        </p:nvSpPr>
        <p:spPr>
          <a:xfrm>
            <a:off x="320040" y="2194560"/>
            <a:ext cx="1463040" cy="0"/>
          </a:xfrm>
          <a:prstGeom prst="rect">
            <a:avLst/>
          </a:prstGeom>
          <a:noFill/>
          <a:ln/>
        </p:spPr>
        <p:txBody>
          <a:bodyPr wrap="square" rtlCol="0" anchor="ctr"/>
          <a:lstStyle/>
          <a:p>
            <a:pPr algn="ctr" indent="0" marL="0">
              <a:buNone/>
            </a:pPr>
            <a:r>
              <a:rPr lang="en-US" sz="2200" b="1" dirty="0">
                <a:solidFill>
                  <a:srgbClr val="9D2706"/>
                </a:solidFill>
              </a:rPr>
              <a:t>30–40%</a:t>
            </a:r>
            <a:endParaRPr lang="en-US" sz="2200" dirty="0"/>
          </a:p>
        </p:txBody>
      </p:sp>
      <p:sp>
        <p:nvSpPr>
          <p:cNvPr id="17" name="Text 15"/>
          <p:cNvSpPr/>
          <p:nvPr/>
        </p:nvSpPr>
        <p:spPr>
          <a:xfrm>
            <a:off x="320040" y="2697480"/>
            <a:ext cx="1463040" cy="0"/>
          </a:xfrm>
          <a:prstGeom prst="rect">
            <a:avLst/>
          </a:prstGeom>
          <a:noFill/>
          <a:ln/>
        </p:spPr>
        <p:txBody>
          <a:bodyPr wrap="square" rtlCol="0" anchor="ctr"/>
          <a:lstStyle/>
          <a:p>
            <a:pPr algn="ctr" indent="0" marL="0">
              <a:buNone/>
            </a:pPr>
            <a:r>
              <a:rPr lang="en-US" sz="1050" dirty="0">
                <a:solidFill>
                  <a:srgbClr val="5A6B7C"/>
                </a:solidFill>
              </a:rPr>
              <a:t>Return Rate</a:t>
            </a:r>
            <a:endParaRPr lang="en-US" sz="1050" dirty="0"/>
          </a:p>
        </p:txBody>
      </p:sp>
      <p:sp>
        <p:nvSpPr>
          <p:cNvPr id="18" name="Shape 16"/>
          <p:cNvSpPr/>
          <p:nvPr/>
        </p:nvSpPr>
        <p:spPr>
          <a:xfrm>
            <a:off x="1783080" y="1874520"/>
            <a:ext cx="36576" cy="1920240"/>
          </a:xfrm>
          <a:prstGeom prst="rect">
            <a:avLst/>
          </a:prstGeom>
          <a:solidFill>
            <a:srgbClr val="9D2706"/>
          </a:solidFill>
          <a:ln/>
        </p:spPr>
      </p:sp>
      <p:sp>
        <p:nvSpPr>
          <p:cNvPr id="19" name="Text 17"/>
          <p:cNvSpPr/>
          <p:nvPr/>
        </p:nvSpPr>
        <p:spPr>
          <a:xfrm>
            <a:off x="1920240" y="1984248"/>
            <a:ext cx="3931920" cy="0"/>
          </a:xfrm>
          <a:prstGeom prst="rect">
            <a:avLst/>
          </a:prstGeom>
          <a:noFill/>
          <a:ln/>
        </p:spPr>
        <p:txBody>
          <a:bodyPr wrap="square" rtlCol="0" anchor="ctr"/>
          <a:lstStyle/>
          <a:p>
            <a:pPr indent="0" marL="0">
              <a:buNone/>
            </a:pPr>
            <a:r>
              <a:rPr lang="en-US" sz="1300" b="1" dirty="0">
                <a:solidFill>
                  <a:srgbClr val="2C3E50"/>
                </a:solidFill>
              </a:rPr>
              <a:t>👟 Expectation Vs Reality Gap</a:t>
            </a:r>
            <a:endParaRPr lang="en-US" sz="1300" dirty="0"/>
          </a:p>
        </p:txBody>
      </p:sp>
      <p:sp>
        <p:nvSpPr>
          <p:cNvPr id="20" name="Text 18"/>
          <p:cNvSpPr/>
          <p:nvPr/>
        </p:nvSpPr>
        <p:spPr>
          <a:xfrm>
            <a:off x="1920240" y="2350008"/>
            <a:ext cx="3931920" cy="1280160"/>
          </a:xfrm>
          <a:prstGeom prst="rect">
            <a:avLst/>
          </a:prstGeom>
          <a:noFill/>
          <a:ln/>
        </p:spPr>
        <p:txBody>
          <a:bodyPr wrap="square" rtlCol="0" anchor="ctr"/>
          <a:lstStyle/>
          <a:p>
            <a:pPr indent="0" marL="0">
              <a:lnSpc>
                <a:spcPct val="140000"/>
              </a:lnSpc>
              <a:buNone/>
            </a:pPr>
            <a:r>
              <a:rPr lang="en-US" sz="1100" dirty="0">
                <a:solidFill>
                  <a:srgbClr val="5A6B7C"/>
                </a:solidFill>
              </a:rPr>
              <a:t>Online buyers cannot examine material textures or gauge scale. This leads to massive return rates, particularly in footwear, bags, and home furnishings.</a:t>
            </a:r>
            <a:endParaRPr lang="en-US" sz="1100" dirty="0"/>
          </a:p>
        </p:txBody>
      </p:sp>
      <p:sp>
        <p:nvSpPr>
          <p:cNvPr id="21" name="Shape 19"/>
          <p:cNvSpPr/>
          <p:nvPr/>
        </p:nvSpPr>
        <p:spPr>
          <a:xfrm>
            <a:off x="6309360" y="1874520"/>
            <a:ext cx="5669280" cy="1920240"/>
          </a:xfrm>
          <a:prstGeom prst="rect">
            <a:avLst/>
          </a:prstGeom>
          <a:solidFill>
            <a:srgbClr val="FFFFFF"/>
          </a:solidFill>
          <a:ln w="12700">
            <a:solidFill>
              <a:srgbClr val="E2E8F0"/>
            </a:solidFill>
            <a:prstDash val="solid"/>
          </a:ln>
        </p:spPr>
      </p:sp>
      <p:sp>
        <p:nvSpPr>
          <p:cNvPr id="22" name="Shape 20"/>
          <p:cNvSpPr/>
          <p:nvPr/>
        </p:nvSpPr>
        <p:spPr>
          <a:xfrm>
            <a:off x="6309360" y="1874520"/>
            <a:ext cx="1463040" cy="1920240"/>
          </a:xfrm>
          <a:prstGeom prst="rect">
            <a:avLst/>
          </a:prstGeom>
          <a:solidFill>
            <a:srgbClr val="EDF2F7"/>
          </a:solidFill>
          <a:ln/>
        </p:spPr>
      </p:sp>
      <p:sp>
        <p:nvSpPr>
          <p:cNvPr id="23" name="Text 21"/>
          <p:cNvSpPr/>
          <p:nvPr/>
        </p:nvSpPr>
        <p:spPr>
          <a:xfrm>
            <a:off x="6309360" y="2194560"/>
            <a:ext cx="1463040" cy="0"/>
          </a:xfrm>
          <a:prstGeom prst="rect">
            <a:avLst/>
          </a:prstGeom>
          <a:noFill/>
          <a:ln/>
        </p:spPr>
        <p:txBody>
          <a:bodyPr wrap="square" rtlCol="0" anchor="ctr"/>
          <a:lstStyle/>
          <a:p>
            <a:pPr algn="ctr" indent="0" marL="0">
              <a:buNone/>
            </a:pPr>
            <a:r>
              <a:rPr lang="en-US" sz="2200" b="1" dirty="0">
                <a:solidFill>
                  <a:srgbClr val="9D2706"/>
                </a:solidFill>
              </a:rPr>
              <a:t>&lt;1%</a:t>
            </a:r>
            <a:endParaRPr lang="en-US" sz="2200" dirty="0"/>
          </a:p>
        </p:txBody>
      </p:sp>
      <p:sp>
        <p:nvSpPr>
          <p:cNvPr id="24" name="Text 22"/>
          <p:cNvSpPr/>
          <p:nvPr/>
        </p:nvSpPr>
        <p:spPr>
          <a:xfrm>
            <a:off x="6309360" y="2697480"/>
            <a:ext cx="1463040" cy="0"/>
          </a:xfrm>
          <a:prstGeom prst="rect">
            <a:avLst/>
          </a:prstGeom>
          <a:noFill/>
          <a:ln/>
        </p:spPr>
        <p:txBody>
          <a:bodyPr wrap="square" rtlCol="0" anchor="ctr"/>
          <a:lstStyle/>
          <a:p>
            <a:pPr algn="ctr" indent="0" marL="0">
              <a:buNone/>
            </a:pPr>
            <a:r>
              <a:rPr lang="en-US" sz="1050" dirty="0">
                <a:solidFill>
                  <a:srgbClr val="5A6B7C"/>
                </a:solidFill>
              </a:rPr>
              <a:t>Adoption</a:t>
            </a:r>
            <a:endParaRPr lang="en-US" sz="1050" dirty="0"/>
          </a:p>
        </p:txBody>
      </p:sp>
      <p:sp>
        <p:nvSpPr>
          <p:cNvPr id="25" name="Shape 23"/>
          <p:cNvSpPr/>
          <p:nvPr/>
        </p:nvSpPr>
        <p:spPr>
          <a:xfrm>
            <a:off x="7772400" y="1874520"/>
            <a:ext cx="36576" cy="1920240"/>
          </a:xfrm>
          <a:prstGeom prst="rect">
            <a:avLst/>
          </a:prstGeom>
          <a:solidFill>
            <a:srgbClr val="9D2706"/>
          </a:solidFill>
          <a:ln/>
        </p:spPr>
      </p:sp>
      <p:sp>
        <p:nvSpPr>
          <p:cNvPr id="26" name="Text 24"/>
          <p:cNvSpPr/>
          <p:nvPr/>
        </p:nvSpPr>
        <p:spPr>
          <a:xfrm>
            <a:off x="7909560" y="1984248"/>
            <a:ext cx="3931920" cy="0"/>
          </a:xfrm>
          <a:prstGeom prst="rect">
            <a:avLst/>
          </a:prstGeom>
          <a:noFill/>
          <a:ln/>
        </p:spPr>
        <p:txBody>
          <a:bodyPr wrap="square" rtlCol="0" anchor="ctr"/>
          <a:lstStyle/>
          <a:p>
            <a:pPr indent="0" marL="0">
              <a:buNone/>
            </a:pPr>
            <a:r>
              <a:rPr lang="en-US" sz="1300" b="1" dirty="0">
                <a:solidFill>
                  <a:srgbClr val="2C3E50"/>
                </a:solidFill>
              </a:rPr>
              <a:t>📊 Technical &amp; Cost Barrier</a:t>
            </a:r>
            <a:endParaRPr lang="en-US" sz="1300" dirty="0"/>
          </a:p>
        </p:txBody>
      </p:sp>
      <p:sp>
        <p:nvSpPr>
          <p:cNvPr id="27" name="Text 25"/>
          <p:cNvSpPr/>
          <p:nvPr/>
        </p:nvSpPr>
        <p:spPr>
          <a:xfrm>
            <a:off x="7909560" y="2350008"/>
            <a:ext cx="3931920" cy="1280160"/>
          </a:xfrm>
          <a:prstGeom prst="rect">
            <a:avLst/>
          </a:prstGeom>
          <a:noFill/>
          <a:ln/>
        </p:spPr>
        <p:txBody>
          <a:bodyPr wrap="square" rtlCol="0" anchor="ctr"/>
          <a:lstStyle/>
          <a:p>
            <a:pPr indent="0" marL="0">
              <a:lnSpc>
                <a:spcPct val="140000"/>
              </a:lnSpc>
              <a:buNone/>
            </a:pPr>
            <a:r>
              <a:rPr lang="en-US" sz="1100" dirty="0">
                <a:solidFill>
                  <a:srgbClr val="5A6B7C"/>
                </a:solidFill>
              </a:rPr>
              <a:t>While conversion lift is proven, small and mid-sized brands are locked out. They lack internal developers to build custom 3D web engines.</a:t>
            </a:r>
            <a:endParaRPr lang="en-US" sz="1100" dirty="0"/>
          </a:p>
        </p:txBody>
      </p:sp>
      <p:sp>
        <p:nvSpPr>
          <p:cNvPr id="28" name="Shape 26"/>
          <p:cNvSpPr/>
          <p:nvPr/>
        </p:nvSpPr>
        <p:spPr>
          <a:xfrm>
            <a:off x="320040" y="3977640"/>
            <a:ext cx="5669280" cy="1920240"/>
          </a:xfrm>
          <a:prstGeom prst="rect">
            <a:avLst/>
          </a:prstGeom>
          <a:solidFill>
            <a:srgbClr val="FFFFFF"/>
          </a:solidFill>
          <a:ln w="12700">
            <a:solidFill>
              <a:srgbClr val="E2E8F0"/>
            </a:solidFill>
            <a:prstDash val="solid"/>
          </a:ln>
        </p:spPr>
      </p:sp>
      <p:sp>
        <p:nvSpPr>
          <p:cNvPr id="29" name="Shape 27"/>
          <p:cNvSpPr/>
          <p:nvPr/>
        </p:nvSpPr>
        <p:spPr>
          <a:xfrm>
            <a:off x="320040" y="3977640"/>
            <a:ext cx="1463040" cy="1920240"/>
          </a:xfrm>
          <a:prstGeom prst="rect">
            <a:avLst/>
          </a:prstGeom>
          <a:solidFill>
            <a:srgbClr val="EDF2F7"/>
          </a:solidFill>
          <a:ln/>
        </p:spPr>
      </p:sp>
      <p:sp>
        <p:nvSpPr>
          <p:cNvPr id="30" name="Text 28"/>
          <p:cNvSpPr/>
          <p:nvPr/>
        </p:nvSpPr>
        <p:spPr>
          <a:xfrm>
            <a:off x="320040" y="4297680"/>
            <a:ext cx="1463040" cy="0"/>
          </a:xfrm>
          <a:prstGeom prst="rect">
            <a:avLst/>
          </a:prstGeom>
          <a:noFill/>
          <a:ln/>
        </p:spPr>
        <p:txBody>
          <a:bodyPr wrap="square" rtlCol="0" anchor="ctr"/>
          <a:lstStyle/>
          <a:p>
            <a:pPr algn="ctr" indent="0" marL="0">
              <a:buNone/>
            </a:pPr>
            <a:r>
              <a:rPr lang="en-US" sz="2200" b="1" dirty="0">
                <a:solidFill>
                  <a:srgbClr val="9D2706"/>
                </a:solidFill>
              </a:rPr>
              <a:t>$10K</a:t>
            </a:r>
            <a:endParaRPr lang="en-US" sz="2200" dirty="0"/>
          </a:p>
        </p:txBody>
      </p:sp>
      <p:sp>
        <p:nvSpPr>
          <p:cNvPr id="31" name="Text 29"/>
          <p:cNvSpPr/>
          <p:nvPr/>
        </p:nvSpPr>
        <p:spPr>
          <a:xfrm>
            <a:off x="320040" y="4800600"/>
            <a:ext cx="1463040" cy="0"/>
          </a:xfrm>
          <a:prstGeom prst="rect">
            <a:avLst/>
          </a:prstGeom>
          <a:noFill/>
          <a:ln/>
        </p:spPr>
        <p:txBody>
          <a:bodyPr wrap="square" rtlCol="0" anchor="ctr"/>
          <a:lstStyle/>
          <a:p>
            <a:pPr algn="ctr" indent="0" marL="0">
              <a:buNone/>
            </a:pPr>
            <a:r>
              <a:rPr lang="en-US" sz="1050" dirty="0">
                <a:solidFill>
                  <a:srgbClr val="5A6B7C"/>
                </a:solidFill>
              </a:rPr>
              <a:t>Per Month</a:t>
            </a:r>
            <a:endParaRPr lang="en-US" sz="1050" dirty="0"/>
          </a:p>
        </p:txBody>
      </p:sp>
      <p:sp>
        <p:nvSpPr>
          <p:cNvPr id="32" name="Shape 30"/>
          <p:cNvSpPr/>
          <p:nvPr/>
        </p:nvSpPr>
        <p:spPr>
          <a:xfrm>
            <a:off x="1783080" y="3977640"/>
            <a:ext cx="36576" cy="1920240"/>
          </a:xfrm>
          <a:prstGeom prst="rect">
            <a:avLst/>
          </a:prstGeom>
          <a:solidFill>
            <a:srgbClr val="9D2706"/>
          </a:solidFill>
          <a:ln/>
        </p:spPr>
      </p:sp>
      <p:sp>
        <p:nvSpPr>
          <p:cNvPr id="33" name="Text 31"/>
          <p:cNvSpPr/>
          <p:nvPr/>
        </p:nvSpPr>
        <p:spPr>
          <a:xfrm>
            <a:off x="1920240" y="4087368"/>
            <a:ext cx="3931920" cy="0"/>
          </a:xfrm>
          <a:prstGeom prst="rect">
            <a:avLst/>
          </a:prstGeom>
          <a:noFill/>
          <a:ln/>
        </p:spPr>
        <p:txBody>
          <a:bodyPr wrap="square" rtlCol="0" anchor="ctr"/>
          <a:lstStyle/>
          <a:p>
            <a:pPr indent="0" marL="0">
              <a:buNone/>
            </a:pPr>
            <a:r>
              <a:rPr lang="en-US" sz="1300" b="1" dirty="0">
                <a:solidFill>
                  <a:srgbClr val="2C3E50"/>
                </a:solidFill>
              </a:rPr>
              <a:t>Prohibitive Enterprise Pricing</a:t>
            </a:r>
            <a:endParaRPr lang="en-US" sz="1300" dirty="0"/>
          </a:p>
        </p:txBody>
      </p:sp>
      <p:sp>
        <p:nvSpPr>
          <p:cNvPr id="34" name="Text 32"/>
          <p:cNvSpPr/>
          <p:nvPr/>
        </p:nvSpPr>
        <p:spPr>
          <a:xfrm>
            <a:off x="1920240" y="4453128"/>
            <a:ext cx="3931920" cy="1280160"/>
          </a:xfrm>
          <a:prstGeom prst="rect">
            <a:avLst/>
          </a:prstGeom>
          <a:noFill/>
          <a:ln/>
        </p:spPr>
        <p:txBody>
          <a:bodyPr wrap="square" rtlCol="0" anchor="ctr"/>
          <a:lstStyle/>
          <a:p>
            <a:pPr indent="0" marL="0">
              <a:lnSpc>
                <a:spcPct val="140000"/>
              </a:lnSpc>
              <a:buNone/>
            </a:pPr>
            <a:r>
              <a:rPr lang="en-US" sz="1100" dirty="0">
                <a:solidFill>
                  <a:srgbClr val="5A6B7C"/>
                </a:solidFill>
              </a:rPr>
              <a:t>Incumbents like Threekit charge enterprise licensing fees. SMB merchants cannot afford to deploy these features.</a:t>
            </a:r>
            <a:endParaRPr lang="en-US" sz="1100" dirty="0"/>
          </a:p>
        </p:txBody>
      </p:sp>
      <p:sp>
        <p:nvSpPr>
          <p:cNvPr id="35" name="Shape 33"/>
          <p:cNvSpPr/>
          <p:nvPr/>
        </p:nvSpPr>
        <p:spPr>
          <a:xfrm>
            <a:off x="6309360" y="3977640"/>
            <a:ext cx="5669280" cy="1920240"/>
          </a:xfrm>
          <a:prstGeom prst="rect">
            <a:avLst/>
          </a:prstGeom>
          <a:solidFill>
            <a:srgbClr val="FFFFFF"/>
          </a:solidFill>
          <a:ln w="12700">
            <a:solidFill>
              <a:srgbClr val="E2E8F0"/>
            </a:solidFill>
            <a:prstDash val="solid"/>
          </a:ln>
        </p:spPr>
      </p:sp>
      <p:sp>
        <p:nvSpPr>
          <p:cNvPr id="36" name="Shape 34"/>
          <p:cNvSpPr/>
          <p:nvPr/>
        </p:nvSpPr>
        <p:spPr>
          <a:xfrm>
            <a:off x="6309360" y="3977640"/>
            <a:ext cx="1463040" cy="1920240"/>
          </a:xfrm>
          <a:prstGeom prst="rect">
            <a:avLst/>
          </a:prstGeom>
          <a:solidFill>
            <a:srgbClr val="EDF2F7"/>
          </a:solidFill>
          <a:ln/>
        </p:spPr>
      </p:sp>
      <p:sp>
        <p:nvSpPr>
          <p:cNvPr id="37" name="Text 35"/>
          <p:cNvSpPr/>
          <p:nvPr/>
        </p:nvSpPr>
        <p:spPr>
          <a:xfrm>
            <a:off x="6309360" y="4297680"/>
            <a:ext cx="1463040" cy="0"/>
          </a:xfrm>
          <a:prstGeom prst="rect">
            <a:avLst/>
          </a:prstGeom>
          <a:noFill/>
          <a:ln/>
        </p:spPr>
        <p:txBody>
          <a:bodyPr wrap="square" rtlCol="0" anchor="ctr"/>
          <a:lstStyle/>
          <a:p>
            <a:pPr algn="ctr" indent="0" marL="0">
              <a:buNone/>
            </a:pPr>
            <a:r>
              <a:rPr lang="en-US" sz="2200" b="1" dirty="0">
                <a:solidFill>
                  <a:srgbClr val="9D2706"/>
                </a:solidFill>
              </a:rPr>
              <a:t>80%</a:t>
            </a:r>
            <a:endParaRPr lang="en-US" sz="2200" dirty="0"/>
          </a:p>
        </p:txBody>
      </p:sp>
      <p:sp>
        <p:nvSpPr>
          <p:cNvPr id="38" name="Text 36"/>
          <p:cNvSpPr/>
          <p:nvPr/>
        </p:nvSpPr>
        <p:spPr>
          <a:xfrm>
            <a:off x="6309360" y="4800600"/>
            <a:ext cx="1463040" cy="0"/>
          </a:xfrm>
          <a:prstGeom prst="rect">
            <a:avLst/>
          </a:prstGeom>
          <a:noFill/>
          <a:ln/>
        </p:spPr>
        <p:txBody>
          <a:bodyPr wrap="square" rtlCol="0" anchor="ctr"/>
          <a:lstStyle/>
          <a:p>
            <a:pPr algn="ctr" indent="0" marL="0">
              <a:buNone/>
            </a:pPr>
            <a:r>
              <a:rPr lang="en-US" sz="1050" dirty="0">
                <a:solidFill>
                  <a:srgbClr val="5A6B7C"/>
                </a:solidFill>
              </a:rPr>
              <a:t>No Models</a:t>
            </a:r>
            <a:endParaRPr lang="en-US" sz="1050" dirty="0"/>
          </a:p>
        </p:txBody>
      </p:sp>
      <p:sp>
        <p:nvSpPr>
          <p:cNvPr id="39" name="Shape 37"/>
          <p:cNvSpPr/>
          <p:nvPr/>
        </p:nvSpPr>
        <p:spPr>
          <a:xfrm>
            <a:off x="7772400" y="3977640"/>
            <a:ext cx="36576" cy="1920240"/>
          </a:xfrm>
          <a:prstGeom prst="rect">
            <a:avLst/>
          </a:prstGeom>
          <a:solidFill>
            <a:srgbClr val="9D2706"/>
          </a:solidFill>
          <a:ln/>
        </p:spPr>
      </p:sp>
      <p:sp>
        <p:nvSpPr>
          <p:cNvPr id="40" name="Text 38"/>
          <p:cNvSpPr/>
          <p:nvPr/>
        </p:nvSpPr>
        <p:spPr>
          <a:xfrm>
            <a:off x="7909560" y="4087368"/>
            <a:ext cx="3931920" cy="0"/>
          </a:xfrm>
          <a:prstGeom prst="rect">
            <a:avLst/>
          </a:prstGeom>
          <a:noFill/>
          <a:ln/>
        </p:spPr>
        <p:txBody>
          <a:bodyPr wrap="square" rtlCol="0" anchor="ctr"/>
          <a:lstStyle/>
          <a:p>
            <a:pPr indent="0" marL="0">
              <a:buNone/>
            </a:pPr>
            <a:r>
              <a:rPr lang="en-US" sz="1300" b="1" dirty="0">
                <a:solidFill>
                  <a:srgbClr val="2C3E50"/>
                </a:solidFill>
              </a:rPr>
              <a:t>🎨 The Asset Creation Bottleneck</a:t>
            </a:r>
            <a:endParaRPr lang="en-US" sz="1300" dirty="0"/>
          </a:p>
        </p:txBody>
      </p:sp>
      <p:sp>
        <p:nvSpPr>
          <p:cNvPr id="41" name="Text 39"/>
          <p:cNvSpPr/>
          <p:nvPr/>
        </p:nvSpPr>
        <p:spPr>
          <a:xfrm>
            <a:off x="7909560" y="4453128"/>
            <a:ext cx="3931920" cy="1280160"/>
          </a:xfrm>
          <a:prstGeom prst="rect">
            <a:avLst/>
          </a:prstGeom>
          <a:noFill/>
          <a:ln/>
        </p:spPr>
        <p:txBody>
          <a:bodyPr wrap="square" rtlCol="0" anchor="ctr"/>
          <a:lstStyle/>
          <a:p>
            <a:pPr indent="0" marL="0">
              <a:lnSpc>
                <a:spcPct val="140000"/>
              </a:lnSpc>
              <a:buNone/>
            </a:pPr>
            <a:r>
              <a:rPr lang="en-US" sz="1100" dirty="0">
                <a:solidFill>
                  <a:srgbClr val="5A6B7C"/>
                </a:solidFill>
              </a:rPr>
              <a:t>Merchants struggle to create high-quality 3D assets. Without .glb/USDZ model files, configurator software is unusable.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Our Solution</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Cognaq — Product configuration + AR + 3D modeling as a service.</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960120"/>
            <a:ext cx="11612880" cy="594360"/>
          </a:xfrm>
          <a:prstGeom prst="rect">
            <a:avLst/>
          </a:prstGeom>
          <a:solidFill>
            <a:srgbClr val="FFFFFF"/>
          </a:solidFill>
          <a:ln w="12700">
            <a:solidFill>
              <a:srgbClr val="9D2706"/>
            </a:solidFill>
            <a:prstDash val="solid"/>
          </a:ln>
        </p:spPr>
      </p:sp>
      <p:sp>
        <p:nvSpPr>
          <p:cNvPr id="12" name="Text 10"/>
          <p:cNvSpPr/>
          <p:nvPr/>
        </p:nvSpPr>
        <p:spPr>
          <a:xfrm>
            <a:off x="502920" y="1033272"/>
            <a:ext cx="11247120" cy="0"/>
          </a:xfrm>
          <a:prstGeom prst="rect">
            <a:avLst/>
          </a:prstGeom>
          <a:noFill/>
          <a:ln/>
        </p:spPr>
        <p:txBody>
          <a:bodyPr wrap="square" rtlCol="0" anchor="ctr"/>
          <a:lstStyle/>
          <a:p>
            <a:pPr indent="0" marL="0">
              <a:buNone/>
            </a:pPr>
            <a:r>
              <a:rPr lang="en-US" sz="1250" b="1" dirty="0">
                <a:solidFill>
                  <a:srgbClr val="9D2706"/>
                </a:solidFill>
              </a:rPr>
              <a:t>Cognaq bridges the market gap: A high-fidelity, native Shopify integration at an affordable subscription price.</a:t>
            </a:r>
            <a:endParaRPr lang="en-US" sz="1250" dirty="0"/>
          </a:p>
        </p:txBody>
      </p:sp>
      <p:sp>
        <p:nvSpPr>
          <p:cNvPr id="13" name="Shape 11"/>
          <p:cNvSpPr/>
          <p:nvPr/>
        </p:nvSpPr>
        <p:spPr>
          <a:xfrm>
            <a:off x="320040" y="1828800"/>
            <a:ext cx="1463040" cy="822960"/>
          </a:xfrm>
          <a:prstGeom prst="rect">
            <a:avLst/>
          </a:prstGeom>
          <a:solidFill>
            <a:srgbClr val="FFFFFF"/>
          </a:solidFill>
          <a:ln w="12700">
            <a:solidFill>
              <a:srgbClr val="E2E8F0"/>
            </a:solidFill>
            <a:prstDash val="solid"/>
          </a:ln>
        </p:spPr>
      </p:sp>
      <p:sp>
        <p:nvSpPr>
          <p:cNvPr id="14" name="Shape 12"/>
          <p:cNvSpPr/>
          <p:nvPr/>
        </p:nvSpPr>
        <p:spPr>
          <a:xfrm>
            <a:off x="320040" y="1828800"/>
            <a:ext cx="54864" cy="822960"/>
          </a:xfrm>
          <a:prstGeom prst="rect">
            <a:avLst/>
          </a:prstGeom>
          <a:solidFill>
            <a:srgbClr val="9D2706"/>
          </a:solidFill>
          <a:ln/>
        </p:spPr>
      </p:sp>
      <p:sp>
        <p:nvSpPr>
          <p:cNvPr id="15" name="Text 13"/>
          <p:cNvSpPr/>
          <p:nvPr/>
        </p:nvSpPr>
        <p:spPr>
          <a:xfrm>
            <a:off x="320040" y="1920240"/>
            <a:ext cx="1463040" cy="640080"/>
          </a:xfrm>
          <a:prstGeom prst="rect">
            <a:avLst/>
          </a:prstGeom>
          <a:noFill/>
          <a:ln/>
        </p:spPr>
        <p:txBody>
          <a:bodyPr wrap="square" rtlCol="0" anchor="ctr"/>
          <a:lstStyle/>
          <a:p>
            <a:pPr algn="ctr" indent="0" marL="0">
              <a:buNone/>
            </a:pPr>
            <a:r>
              <a:rPr lang="en-US" sz="1050" b="1" dirty="0">
                <a:solidFill>
                  <a:srgbClr val="2C3E50"/>
                </a:solidFill>
              </a:rPr>
              <a:t>🏢  1. Onboard</a:t>
            </a:r>
            <a:endParaRPr lang="en-US" sz="1050" dirty="0"/>
          </a:p>
        </p:txBody>
      </p:sp>
      <p:sp>
        <p:nvSpPr>
          <p:cNvPr id="16" name="Text 14"/>
          <p:cNvSpPr/>
          <p:nvPr/>
        </p:nvSpPr>
        <p:spPr>
          <a:xfrm>
            <a:off x="1801368" y="2057400"/>
            <a:ext cx="182880" cy="0"/>
          </a:xfrm>
          <a:prstGeom prst="rect">
            <a:avLst/>
          </a:prstGeom>
          <a:noFill/>
          <a:ln/>
        </p:spPr>
        <p:txBody>
          <a:bodyPr wrap="square" rtlCol="0" anchor="ctr"/>
          <a:lstStyle/>
          <a:p>
            <a:pPr algn="ctr" indent="0" marL="0">
              <a:buNone/>
            </a:pPr>
            <a:r>
              <a:rPr lang="en-US" sz="1600" b="1" dirty="0">
                <a:solidFill>
                  <a:srgbClr val="9D2706"/>
                </a:solidFill>
              </a:rPr>
              <a:t>→</a:t>
            </a:r>
            <a:endParaRPr lang="en-US" sz="1600" dirty="0"/>
          </a:p>
        </p:txBody>
      </p:sp>
      <p:sp>
        <p:nvSpPr>
          <p:cNvPr id="17" name="Shape 15"/>
          <p:cNvSpPr/>
          <p:nvPr/>
        </p:nvSpPr>
        <p:spPr>
          <a:xfrm>
            <a:off x="1993392" y="1828800"/>
            <a:ext cx="1463040" cy="822960"/>
          </a:xfrm>
          <a:prstGeom prst="rect">
            <a:avLst/>
          </a:prstGeom>
          <a:solidFill>
            <a:srgbClr val="FFFFFF"/>
          </a:solidFill>
          <a:ln w="12700">
            <a:solidFill>
              <a:srgbClr val="E2E8F0"/>
            </a:solidFill>
            <a:prstDash val="solid"/>
          </a:ln>
        </p:spPr>
      </p:sp>
      <p:sp>
        <p:nvSpPr>
          <p:cNvPr id="18" name="Shape 16"/>
          <p:cNvSpPr/>
          <p:nvPr/>
        </p:nvSpPr>
        <p:spPr>
          <a:xfrm>
            <a:off x="1993392" y="1828800"/>
            <a:ext cx="54864" cy="822960"/>
          </a:xfrm>
          <a:prstGeom prst="rect">
            <a:avLst/>
          </a:prstGeom>
          <a:solidFill>
            <a:srgbClr val="9D2706"/>
          </a:solidFill>
          <a:ln/>
        </p:spPr>
      </p:sp>
      <p:sp>
        <p:nvSpPr>
          <p:cNvPr id="19" name="Text 17"/>
          <p:cNvSpPr/>
          <p:nvPr/>
        </p:nvSpPr>
        <p:spPr>
          <a:xfrm>
            <a:off x="1993392" y="1920240"/>
            <a:ext cx="1463040" cy="640080"/>
          </a:xfrm>
          <a:prstGeom prst="rect">
            <a:avLst/>
          </a:prstGeom>
          <a:noFill/>
          <a:ln/>
        </p:spPr>
        <p:txBody>
          <a:bodyPr wrap="square" rtlCol="0" anchor="ctr"/>
          <a:lstStyle/>
          <a:p>
            <a:pPr algn="ctr" indent="0" marL="0">
              <a:buNone/>
            </a:pPr>
            <a:r>
              <a:rPr lang="en-US" sz="1050" b="1" dirty="0">
                <a:solidFill>
                  <a:srgbClr val="2C3E50"/>
                </a:solidFill>
              </a:rPr>
              <a:t>🎨  2. Create 3D</a:t>
            </a:r>
            <a:endParaRPr lang="en-US" sz="1050" dirty="0"/>
          </a:p>
        </p:txBody>
      </p:sp>
      <p:sp>
        <p:nvSpPr>
          <p:cNvPr id="20" name="Text 18"/>
          <p:cNvSpPr/>
          <p:nvPr/>
        </p:nvSpPr>
        <p:spPr>
          <a:xfrm>
            <a:off x="3474720" y="2057400"/>
            <a:ext cx="182880" cy="0"/>
          </a:xfrm>
          <a:prstGeom prst="rect">
            <a:avLst/>
          </a:prstGeom>
          <a:noFill/>
          <a:ln/>
        </p:spPr>
        <p:txBody>
          <a:bodyPr wrap="square" rtlCol="0" anchor="ctr"/>
          <a:lstStyle/>
          <a:p>
            <a:pPr algn="ctr" indent="0" marL="0">
              <a:buNone/>
            </a:pPr>
            <a:r>
              <a:rPr lang="en-US" sz="1600" b="1" dirty="0">
                <a:solidFill>
                  <a:srgbClr val="9D2706"/>
                </a:solidFill>
              </a:rPr>
              <a:t>→</a:t>
            </a:r>
            <a:endParaRPr lang="en-US" sz="1600" dirty="0"/>
          </a:p>
        </p:txBody>
      </p:sp>
      <p:sp>
        <p:nvSpPr>
          <p:cNvPr id="21" name="Shape 19"/>
          <p:cNvSpPr/>
          <p:nvPr/>
        </p:nvSpPr>
        <p:spPr>
          <a:xfrm>
            <a:off x="3666744" y="1828800"/>
            <a:ext cx="1463040" cy="822960"/>
          </a:xfrm>
          <a:prstGeom prst="rect">
            <a:avLst/>
          </a:prstGeom>
          <a:solidFill>
            <a:srgbClr val="FFFFFF"/>
          </a:solidFill>
          <a:ln w="12700">
            <a:solidFill>
              <a:srgbClr val="E2E8F0"/>
            </a:solidFill>
            <a:prstDash val="solid"/>
          </a:ln>
        </p:spPr>
      </p:sp>
      <p:sp>
        <p:nvSpPr>
          <p:cNvPr id="22" name="Shape 20"/>
          <p:cNvSpPr/>
          <p:nvPr/>
        </p:nvSpPr>
        <p:spPr>
          <a:xfrm>
            <a:off x="3666744" y="1828800"/>
            <a:ext cx="54864" cy="822960"/>
          </a:xfrm>
          <a:prstGeom prst="rect">
            <a:avLst/>
          </a:prstGeom>
          <a:solidFill>
            <a:srgbClr val="9D2706"/>
          </a:solidFill>
          <a:ln/>
        </p:spPr>
      </p:sp>
      <p:sp>
        <p:nvSpPr>
          <p:cNvPr id="23" name="Text 21"/>
          <p:cNvSpPr/>
          <p:nvPr/>
        </p:nvSpPr>
        <p:spPr>
          <a:xfrm>
            <a:off x="3666744" y="1920240"/>
            <a:ext cx="1463040" cy="640080"/>
          </a:xfrm>
          <a:prstGeom prst="rect">
            <a:avLst/>
          </a:prstGeom>
          <a:noFill/>
          <a:ln/>
        </p:spPr>
        <p:txBody>
          <a:bodyPr wrap="square" rtlCol="0" anchor="ctr"/>
          <a:lstStyle/>
          <a:p>
            <a:pPr algn="ctr" indent="0" marL="0">
              <a:buNone/>
            </a:pPr>
            <a:r>
              <a:rPr lang="en-US" sz="1050" b="1" dirty="0">
                <a:solidFill>
                  <a:srgbClr val="2C3E50"/>
                </a:solidFill>
              </a:rPr>
              <a:t>⚙️  3. Set Rules</a:t>
            </a:r>
            <a:endParaRPr lang="en-US" sz="1050" dirty="0"/>
          </a:p>
        </p:txBody>
      </p:sp>
      <p:sp>
        <p:nvSpPr>
          <p:cNvPr id="24" name="Text 22"/>
          <p:cNvSpPr/>
          <p:nvPr/>
        </p:nvSpPr>
        <p:spPr>
          <a:xfrm>
            <a:off x="5148072" y="2057400"/>
            <a:ext cx="182880" cy="0"/>
          </a:xfrm>
          <a:prstGeom prst="rect">
            <a:avLst/>
          </a:prstGeom>
          <a:noFill/>
          <a:ln/>
        </p:spPr>
        <p:txBody>
          <a:bodyPr wrap="square" rtlCol="0" anchor="ctr"/>
          <a:lstStyle/>
          <a:p>
            <a:pPr algn="ctr" indent="0" marL="0">
              <a:buNone/>
            </a:pPr>
            <a:r>
              <a:rPr lang="en-US" sz="1600" b="1" dirty="0">
                <a:solidFill>
                  <a:srgbClr val="9D2706"/>
                </a:solidFill>
              </a:rPr>
              <a:t>→</a:t>
            </a:r>
            <a:endParaRPr lang="en-US" sz="1600" dirty="0"/>
          </a:p>
        </p:txBody>
      </p:sp>
      <p:sp>
        <p:nvSpPr>
          <p:cNvPr id="25" name="Shape 23"/>
          <p:cNvSpPr/>
          <p:nvPr/>
        </p:nvSpPr>
        <p:spPr>
          <a:xfrm>
            <a:off x="5340096" y="1828800"/>
            <a:ext cx="1463040" cy="822960"/>
          </a:xfrm>
          <a:prstGeom prst="rect">
            <a:avLst/>
          </a:prstGeom>
          <a:solidFill>
            <a:srgbClr val="FFFFFF"/>
          </a:solidFill>
          <a:ln w="12700">
            <a:solidFill>
              <a:srgbClr val="E2E8F0"/>
            </a:solidFill>
            <a:prstDash val="solid"/>
          </a:ln>
        </p:spPr>
      </p:sp>
      <p:sp>
        <p:nvSpPr>
          <p:cNvPr id="26" name="Shape 24"/>
          <p:cNvSpPr/>
          <p:nvPr/>
        </p:nvSpPr>
        <p:spPr>
          <a:xfrm>
            <a:off x="5340096" y="1828800"/>
            <a:ext cx="54864" cy="822960"/>
          </a:xfrm>
          <a:prstGeom prst="rect">
            <a:avLst/>
          </a:prstGeom>
          <a:solidFill>
            <a:srgbClr val="9D2706"/>
          </a:solidFill>
          <a:ln/>
        </p:spPr>
      </p:sp>
      <p:sp>
        <p:nvSpPr>
          <p:cNvPr id="27" name="Text 25"/>
          <p:cNvSpPr/>
          <p:nvPr/>
        </p:nvSpPr>
        <p:spPr>
          <a:xfrm>
            <a:off x="5340096" y="1920240"/>
            <a:ext cx="1463040" cy="640080"/>
          </a:xfrm>
          <a:prstGeom prst="rect">
            <a:avLst/>
          </a:prstGeom>
          <a:noFill/>
          <a:ln/>
        </p:spPr>
        <p:txBody>
          <a:bodyPr wrap="square" rtlCol="0" anchor="ctr"/>
          <a:lstStyle/>
          <a:p>
            <a:pPr algn="ctr" indent="0" marL="0">
              <a:buNone/>
            </a:pPr>
            <a:r>
              <a:rPr lang="en-US" sz="1050" b="1" dirty="0">
                <a:solidFill>
                  <a:srgbClr val="2C3E50"/>
                </a:solidFill>
              </a:rPr>
              <a:t>🚀  4. Embed App</a:t>
            </a:r>
            <a:endParaRPr lang="en-US" sz="1050" dirty="0"/>
          </a:p>
        </p:txBody>
      </p:sp>
      <p:sp>
        <p:nvSpPr>
          <p:cNvPr id="28" name="Text 26"/>
          <p:cNvSpPr/>
          <p:nvPr/>
        </p:nvSpPr>
        <p:spPr>
          <a:xfrm>
            <a:off x="6821424" y="2057400"/>
            <a:ext cx="182880" cy="0"/>
          </a:xfrm>
          <a:prstGeom prst="rect">
            <a:avLst/>
          </a:prstGeom>
          <a:noFill/>
          <a:ln/>
        </p:spPr>
        <p:txBody>
          <a:bodyPr wrap="square" rtlCol="0" anchor="ctr"/>
          <a:lstStyle/>
          <a:p>
            <a:pPr algn="ctr" indent="0" marL="0">
              <a:buNone/>
            </a:pPr>
            <a:r>
              <a:rPr lang="en-US" sz="1600" b="1" dirty="0">
                <a:solidFill>
                  <a:srgbClr val="9D2706"/>
                </a:solidFill>
              </a:rPr>
              <a:t>→</a:t>
            </a:r>
            <a:endParaRPr lang="en-US" sz="1600" dirty="0"/>
          </a:p>
        </p:txBody>
      </p:sp>
      <p:sp>
        <p:nvSpPr>
          <p:cNvPr id="29" name="Shape 27"/>
          <p:cNvSpPr/>
          <p:nvPr/>
        </p:nvSpPr>
        <p:spPr>
          <a:xfrm>
            <a:off x="7013448" y="1828800"/>
            <a:ext cx="1463040" cy="822960"/>
          </a:xfrm>
          <a:prstGeom prst="rect">
            <a:avLst/>
          </a:prstGeom>
          <a:solidFill>
            <a:srgbClr val="FFFFFF"/>
          </a:solidFill>
          <a:ln w="12700">
            <a:solidFill>
              <a:srgbClr val="E2E8F0"/>
            </a:solidFill>
            <a:prstDash val="solid"/>
          </a:ln>
        </p:spPr>
      </p:sp>
      <p:sp>
        <p:nvSpPr>
          <p:cNvPr id="30" name="Shape 28"/>
          <p:cNvSpPr/>
          <p:nvPr/>
        </p:nvSpPr>
        <p:spPr>
          <a:xfrm>
            <a:off x="7013448" y="1828800"/>
            <a:ext cx="54864" cy="822960"/>
          </a:xfrm>
          <a:prstGeom prst="rect">
            <a:avLst/>
          </a:prstGeom>
          <a:solidFill>
            <a:srgbClr val="9D2706"/>
          </a:solidFill>
          <a:ln/>
        </p:spPr>
      </p:sp>
      <p:sp>
        <p:nvSpPr>
          <p:cNvPr id="31" name="Text 29"/>
          <p:cNvSpPr/>
          <p:nvPr/>
        </p:nvSpPr>
        <p:spPr>
          <a:xfrm>
            <a:off x="7013448" y="1920240"/>
            <a:ext cx="1463040" cy="640080"/>
          </a:xfrm>
          <a:prstGeom prst="rect">
            <a:avLst/>
          </a:prstGeom>
          <a:noFill/>
          <a:ln/>
        </p:spPr>
        <p:txBody>
          <a:bodyPr wrap="square" rtlCol="0" anchor="ctr"/>
          <a:lstStyle/>
          <a:p>
            <a:pPr algn="ctr" indent="0" marL="0">
              <a:buNone/>
            </a:pPr>
            <a:r>
              <a:rPr lang="en-US" sz="1050" b="1" dirty="0">
                <a:solidFill>
                  <a:srgbClr val="2C3E50"/>
                </a:solidFill>
              </a:rPr>
              <a:t>🧊  5. Customise</a:t>
            </a:r>
            <a:endParaRPr lang="en-US" sz="1050" dirty="0"/>
          </a:p>
        </p:txBody>
      </p:sp>
      <p:sp>
        <p:nvSpPr>
          <p:cNvPr id="32" name="Text 30"/>
          <p:cNvSpPr/>
          <p:nvPr/>
        </p:nvSpPr>
        <p:spPr>
          <a:xfrm>
            <a:off x="8494776" y="2057400"/>
            <a:ext cx="182880" cy="0"/>
          </a:xfrm>
          <a:prstGeom prst="rect">
            <a:avLst/>
          </a:prstGeom>
          <a:noFill/>
          <a:ln/>
        </p:spPr>
        <p:txBody>
          <a:bodyPr wrap="square" rtlCol="0" anchor="ctr"/>
          <a:lstStyle/>
          <a:p>
            <a:pPr algn="ctr" indent="0" marL="0">
              <a:buNone/>
            </a:pPr>
            <a:r>
              <a:rPr lang="en-US" sz="1600" b="1" dirty="0">
                <a:solidFill>
                  <a:srgbClr val="9D2706"/>
                </a:solidFill>
              </a:rPr>
              <a:t>→</a:t>
            </a:r>
            <a:endParaRPr lang="en-US" sz="1600" dirty="0"/>
          </a:p>
        </p:txBody>
      </p:sp>
      <p:sp>
        <p:nvSpPr>
          <p:cNvPr id="33" name="Shape 31"/>
          <p:cNvSpPr/>
          <p:nvPr/>
        </p:nvSpPr>
        <p:spPr>
          <a:xfrm>
            <a:off x="8686800" y="1828800"/>
            <a:ext cx="1463040" cy="822960"/>
          </a:xfrm>
          <a:prstGeom prst="rect">
            <a:avLst/>
          </a:prstGeom>
          <a:solidFill>
            <a:srgbClr val="FFFFFF"/>
          </a:solidFill>
          <a:ln w="12700">
            <a:solidFill>
              <a:srgbClr val="E2E8F0"/>
            </a:solidFill>
            <a:prstDash val="solid"/>
          </a:ln>
        </p:spPr>
      </p:sp>
      <p:sp>
        <p:nvSpPr>
          <p:cNvPr id="34" name="Shape 32"/>
          <p:cNvSpPr/>
          <p:nvPr/>
        </p:nvSpPr>
        <p:spPr>
          <a:xfrm>
            <a:off x="8686800" y="1828800"/>
            <a:ext cx="54864" cy="822960"/>
          </a:xfrm>
          <a:prstGeom prst="rect">
            <a:avLst/>
          </a:prstGeom>
          <a:solidFill>
            <a:srgbClr val="9D2706"/>
          </a:solidFill>
          <a:ln/>
        </p:spPr>
      </p:sp>
      <p:sp>
        <p:nvSpPr>
          <p:cNvPr id="35" name="Text 33"/>
          <p:cNvSpPr/>
          <p:nvPr/>
        </p:nvSpPr>
        <p:spPr>
          <a:xfrm>
            <a:off x="8686800" y="1920240"/>
            <a:ext cx="1463040" cy="640080"/>
          </a:xfrm>
          <a:prstGeom prst="rect">
            <a:avLst/>
          </a:prstGeom>
          <a:noFill/>
          <a:ln/>
        </p:spPr>
        <p:txBody>
          <a:bodyPr wrap="square" rtlCol="0" anchor="ctr"/>
          <a:lstStyle/>
          <a:p>
            <a:pPr algn="ctr" indent="0" marL="0">
              <a:buNone/>
            </a:pPr>
            <a:r>
              <a:rPr lang="en-US" sz="1050" b="1" dirty="0">
                <a:solidFill>
                  <a:srgbClr val="2C3E50"/>
                </a:solidFill>
              </a:rPr>
              <a:t>🪄  6. View AR</a:t>
            </a:r>
            <a:endParaRPr lang="en-US" sz="1050" dirty="0"/>
          </a:p>
        </p:txBody>
      </p:sp>
      <p:sp>
        <p:nvSpPr>
          <p:cNvPr id="36" name="Text 34"/>
          <p:cNvSpPr/>
          <p:nvPr/>
        </p:nvSpPr>
        <p:spPr>
          <a:xfrm>
            <a:off x="10168128" y="2057400"/>
            <a:ext cx="182880" cy="0"/>
          </a:xfrm>
          <a:prstGeom prst="rect">
            <a:avLst/>
          </a:prstGeom>
          <a:noFill/>
          <a:ln/>
        </p:spPr>
        <p:txBody>
          <a:bodyPr wrap="square" rtlCol="0" anchor="ctr"/>
          <a:lstStyle/>
          <a:p>
            <a:pPr algn="ctr" indent="0" marL="0">
              <a:buNone/>
            </a:pPr>
            <a:r>
              <a:rPr lang="en-US" sz="1600" b="1" dirty="0">
                <a:solidFill>
                  <a:srgbClr val="9D2706"/>
                </a:solidFill>
              </a:rPr>
              <a:t>→</a:t>
            </a:r>
            <a:endParaRPr lang="en-US" sz="1600" dirty="0"/>
          </a:p>
        </p:txBody>
      </p:sp>
      <p:sp>
        <p:nvSpPr>
          <p:cNvPr id="37" name="Shape 35"/>
          <p:cNvSpPr/>
          <p:nvPr/>
        </p:nvSpPr>
        <p:spPr>
          <a:xfrm>
            <a:off x="10360152" y="1828800"/>
            <a:ext cx="1463040" cy="822960"/>
          </a:xfrm>
          <a:prstGeom prst="rect">
            <a:avLst/>
          </a:prstGeom>
          <a:solidFill>
            <a:srgbClr val="FFFFFF"/>
          </a:solidFill>
          <a:ln w="12700">
            <a:solidFill>
              <a:srgbClr val="E2E8F0"/>
            </a:solidFill>
            <a:prstDash val="solid"/>
          </a:ln>
        </p:spPr>
      </p:sp>
      <p:sp>
        <p:nvSpPr>
          <p:cNvPr id="38" name="Shape 36"/>
          <p:cNvSpPr/>
          <p:nvPr/>
        </p:nvSpPr>
        <p:spPr>
          <a:xfrm>
            <a:off x="10360152" y="1828800"/>
            <a:ext cx="54864" cy="822960"/>
          </a:xfrm>
          <a:prstGeom prst="rect">
            <a:avLst/>
          </a:prstGeom>
          <a:solidFill>
            <a:srgbClr val="9D2706"/>
          </a:solidFill>
          <a:ln/>
        </p:spPr>
      </p:sp>
      <p:sp>
        <p:nvSpPr>
          <p:cNvPr id="39" name="Text 37"/>
          <p:cNvSpPr/>
          <p:nvPr/>
        </p:nvSpPr>
        <p:spPr>
          <a:xfrm>
            <a:off x="10360152" y="1920240"/>
            <a:ext cx="1463040" cy="640080"/>
          </a:xfrm>
          <a:prstGeom prst="rect">
            <a:avLst/>
          </a:prstGeom>
          <a:noFill/>
          <a:ln/>
        </p:spPr>
        <p:txBody>
          <a:bodyPr wrap="square" rtlCol="0" anchor="ctr"/>
          <a:lstStyle/>
          <a:p>
            <a:pPr algn="ctr" indent="0" marL="0">
              <a:buNone/>
            </a:pPr>
            <a:r>
              <a:rPr lang="en-US" sz="1050" b="1" dirty="0">
                <a:solidFill>
                  <a:srgbClr val="2C3E50"/>
                </a:solidFill>
              </a:rPr>
              <a:t>🛒  7. Checkout</a:t>
            </a:r>
            <a:endParaRPr lang="en-US" sz="1050" dirty="0"/>
          </a:p>
        </p:txBody>
      </p:sp>
      <p:sp>
        <p:nvSpPr>
          <p:cNvPr id="40" name="Shape 38"/>
          <p:cNvSpPr/>
          <p:nvPr/>
        </p:nvSpPr>
        <p:spPr>
          <a:xfrm>
            <a:off x="320040" y="2880360"/>
            <a:ext cx="2743200" cy="3200400"/>
          </a:xfrm>
          <a:prstGeom prst="rect">
            <a:avLst/>
          </a:prstGeom>
          <a:solidFill>
            <a:srgbClr val="FFFFFF"/>
          </a:solidFill>
          <a:ln w="12700">
            <a:solidFill>
              <a:srgbClr val="E2E8F0"/>
            </a:solidFill>
            <a:prstDash val="solid"/>
          </a:ln>
        </p:spPr>
      </p:sp>
      <p:sp>
        <p:nvSpPr>
          <p:cNvPr id="41" name="Shape 39"/>
          <p:cNvSpPr/>
          <p:nvPr/>
        </p:nvSpPr>
        <p:spPr>
          <a:xfrm>
            <a:off x="320040" y="2880360"/>
            <a:ext cx="2743200" cy="54864"/>
          </a:xfrm>
          <a:prstGeom prst="rect">
            <a:avLst/>
          </a:prstGeom>
          <a:solidFill>
            <a:srgbClr val="9D2706"/>
          </a:solidFill>
          <a:ln/>
        </p:spPr>
      </p:sp>
      <p:sp>
        <p:nvSpPr>
          <p:cNvPr id="42" name="Text 40"/>
          <p:cNvSpPr/>
          <p:nvPr/>
        </p:nvSpPr>
        <p:spPr>
          <a:xfrm>
            <a:off x="411480" y="3017520"/>
            <a:ext cx="2560320" cy="0"/>
          </a:xfrm>
          <a:prstGeom prst="rect">
            <a:avLst/>
          </a:prstGeom>
          <a:noFill/>
          <a:ln/>
        </p:spPr>
        <p:txBody>
          <a:bodyPr wrap="square" rtlCol="0" anchor="ctr"/>
          <a:lstStyle/>
          <a:p>
            <a:pPr algn="ctr" indent="0" marL="0">
              <a:buNone/>
            </a:pPr>
            <a:r>
              <a:rPr lang="en-US" sz="3600" b="1" dirty="0">
                <a:solidFill>
                  <a:srgbClr val="9D2706"/>
                </a:solidFill>
              </a:rPr>
              <a:t>94%</a:t>
            </a:r>
            <a:endParaRPr lang="en-US" sz="3600" dirty="0"/>
          </a:p>
        </p:txBody>
      </p:sp>
      <p:sp>
        <p:nvSpPr>
          <p:cNvPr id="43" name="Text 41"/>
          <p:cNvSpPr/>
          <p:nvPr/>
        </p:nvSpPr>
        <p:spPr>
          <a:xfrm>
            <a:off x="411480" y="3749040"/>
            <a:ext cx="2560320" cy="0"/>
          </a:xfrm>
          <a:prstGeom prst="rect">
            <a:avLst/>
          </a:prstGeom>
          <a:noFill/>
          <a:ln/>
        </p:spPr>
        <p:txBody>
          <a:bodyPr wrap="square" rtlCol="0" anchor="ctr"/>
          <a:lstStyle/>
          <a:p>
            <a:pPr algn="ctr" indent="0" marL="0">
              <a:buNone/>
            </a:pPr>
            <a:r>
              <a:rPr lang="en-US" sz="1250" b="1" dirty="0">
                <a:solidFill>
                  <a:srgbClr val="2C3E50"/>
                </a:solidFill>
              </a:rPr>
              <a:t>⚡ Higher Conversions</a:t>
            </a:r>
            <a:endParaRPr lang="en-US" sz="1250" dirty="0"/>
          </a:p>
        </p:txBody>
      </p:sp>
      <p:sp>
        <p:nvSpPr>
          <p:cNvPr id="44" name="Shape 42"/>
          <p:cNvSpPr/>
          <p:nvPr/>
        </p:nvSpPr>
        <p:spPr>
          <a:xfrm>
            <a:off x="868680" y="4206240"/>
            <a:ext cx="1645920" cy="36576"/>
          </a:xfrm>
          <a:prstGeom prst="rect">
            <a:avLst/>
          </a:prstGeom>
          <a:solidFill>
            <a:srgbClr val="E2E8F0"/>
          </a:solidFill>
          <a:ln/>
        </p:spPr>
      </p:sp>
      <p:sp>
        <p:nvSpPr>
          <p:cNvPr id="45" name="Text 43"/>
          <p:cNvSpPr/>
          <p:nvPr/>
        </p:nvSpPr>
        <p:spPr>
          <a:xfrm>
            <a:off x="411480" y="4315968"/>
            <a:ext cx="2560320" cy="0"/>
          </a:xfrm>
          <a:prstGeom prst="rect">
            <a:avLst/>
          </a:prstGeom>
          <a:noFill/>
          <a:ln/>
        </p:spPr>
        <p:txBody>
          <a:bodyPr wrap="square" rtlCol="0" anchor="ctr"/>
          <a:lstStyle/>
          <a:p>
            <a:pPr algn="ctr" indent="0" marL="0">
              <a:lnSpc>
                <a:spcPct val="140000"/>
              </a:lnSpc>
              <a:buNone/>
            </a:pPr>
            <a:r>
              <a:rPr lang="en-US" sz="1050" dirty="0">
                <a:solidFill>
                  <a:srgbClr val="5A6B7C"/>
                </a:solidFill>
              </a:rPr>
              <a:t>average lift observed on Shopify pages with interactive AR</a:t>
            </a:r>
            <a:endParaRPr lang="en-US" sz="1050" dirty="0"/>
          </a:p>
        </p:txBody>
      </p:sp>
      <p:sp>
        <p:nvSpPr>
          <p:cNvPr id="46" name="Shape 44"/>
          <p:cNvSpPr/>
          <p:nvPr/>
        </p:nvSpPr>
        <p:spPr>
          <a:xfrm>
            <a:off x="3291840" y="2880360"/>
            <a:ext cx="2743200" cy="3200400"/>
          </a:xfrm>
          <a:prstGeom prst="rect">
            <a:avLst/>
          </a:prstGeom>
          <a:solidFill>
            <a:srgbClr val="FFFFFF"/>
          </a:solidFill>
          <a:ln w="12700">
            <a:solidFill>
              <a:srgbClr val="E2E8F0"/>
            </a:solidFill>
            <a:prstDash val="solid"/>
          </a:ln>
        </p:spPr>
      </p:sp>
      <p:sp>
        <p:nvSpPr>
          <p:cNvPr id="47" name="Shape 45"/>
          <p:cNvSpPr/>
          <p:nvPr/>
        </p:nvSpPr>
        <p:spPr>
          <a:xfrm>
            <a:off x="3291840" y="2880360"/>
            <a:ext cx="2743200" cy="54864"/>
          </a:xfrm>
          <a:prstGeom prst="rect">
            <a:avLst/>
          </a:prstGeom>
          <a:solidFill>
            <a:srgbClr val="9D2706"/>
          </a:solidFill>
          <a:ln/>
        </p:spPr>
      </p:sp>
      <p:sp>
        <p:nvSpPr>
          <p:cNvPr id="48" name="Text 46"/>
          <p:cNvSpPr/>
          <p:nvPr/>
        </p:nvSpPr>
        <p:spPr>
          <a:xfrm>
            <a:off x="3383280" y="3017520"/>
            <a:ext cx="2560320" cy="0"/>
          </a:xfrm>
          <a:prstGeom prst="rect">
            <a:avLst/>
          </a:prstGeom>
          <a:noFill/>
          <a:ln/>
        </p:spPr>
        <p:txBody>
          <a:bodyPr wrap="square" rtlCol="0" anchor="ctr"/>
          <a:lstStyle/>
          <a:p>
            <a:pPr algn="ctr" indent="0" marL="0">
              <a:buNone/>
            </a:pPr>
            <a:r>
              <a:rPr lang="en-US" sz="3600" b="1" dirty="0">
                <a:solidFill>
                  <a:srgbClr val="9D2706"/>
                </a:solidFill>
              </a:rPr>
              <a:t>38%</a:t>
            </a:r>
            <a:endParaRPr lang="en-US" sz="3600" dirty="0"/>
          </a:p>
        </p:txBody>
      </p:sp>
      <p:sp>
        <p:nvSpPr>
          <p:cNvPr id="49" name="Text 47"/>
          <p:cNvSpPr/>
          <p:nvPr/>
        </p:nvSpPr>
        <p:spPr>
          <a:xfrm>
            <a:off x="3383280" y="3749040"/>
            <a:ext cx="2560320" cy="0"/>
          </a:xfrm>
          <a:prstGeom prst="rect">
            <a:avLst/>
          </a:prstGeom>
          <a:noFill/>
          <a:ln/>
        </p:spPr>
        <p:txBody>
          <a:bodyPr wrap="square" rtlCol="0" anchor="ctr"/>
          <a:lstStyle/>
          <a:p>
            <a:pPr algn="ctr" indent="0" marL="0">
              <a:buNone/>
            </a:pPr>
            <a:r>
              <a:rPr lang="en-US" sz="1250" b="1" dirty="0">
                <a:solidFill>
                  <a:srgbClr val="2C3E50"/>
                </a:solidFill>
              </a:rPr>
              <a:t>📉 Fewer Returns</a:t>
            </a:r>
            <a:endParaRPr lang="en-US" sz="1250" dirty="0"/>
          </a:p>
        </p:txBody>
      </p:sp>
      <p:sp>
        <p:nvSpPr>
          <p:cNvPr id="50" name="Shape 48"/>
          <p:cNvSpPr/>
          <p:nvPr/>
        </p:nvSpPr>
        <p:spPr>
          <a:xfrm>
            <a:off x="3840480" y="4206240"/>
            <a:ext cx="1645920" cy="36576"/>
          </a:xfrm>
          <a:prstGeom prst="rect">
            <a:avLst/>
          </a:prstGeom>
          <a:solidFill>
            <a:srgbClr val="E2E8F0"/>
          </a:solidFill>
          <a:ln/>
        </p:spPr>
      </p:sp>
      <p:sp>
        <p:nvSpPr>
          <p:cNvPr id="51" name="Text 49"/>
          <p:cNvSpPr/>
          <p:nvPr/>
        </p:nvSpPr>
        <p:spPr>
          <a:xfrm>
            <a:off x="3383280" y="4315968"/>
            <a:ext cx="2560320" cy="0"/>
          </a:xfrm>
          <a:prstGeom prst="rect">
            <a:avLst/>
          </a:prstGeom>
          <a:noFill/>
          <a:ln/>
        </p:spPr>
        <p:txBody>
          <a:bodyPr wrap="square" rtlCol="0" anchor="ctr"/>
          <a:lstStyle/>
          <a:p>
            <a:pPr algn="ctr" indent="0" marL="0">
              <a:lnSpc>
                <a:spcPct val="140000"/>
              </a:lnSpc>
              <a:buNone/>
            </a:pPr>
            <a:r>
              <a:rPr lang="en-US" sz="1050" dirty="0">
                <a:solidFill>
                  <a:srgbClr val="5A6B7C"/>
                </a:solidFill>
              </a:rPr>
              <a:t>when shoppers inspect textures and proportions in 3D</a:t>
            </a:r>
            <a:endParaRPr lang="en-US" sz="1050" dirty="0"/>
          </a:p>
        </p:txBody>
      </p:sp>
      <p:sp>
        <p:nvSpPr>
          <p:cNvPr id="52" name="Shape 50"/>
          <p:cNvSpPr/>
          <p:nvPr/>
        </p:nvSpPr>
        <p:spPr>
          <a:xfrm>
            <a:off x="6263640" y="2880360"/>
            <a:ext cx="2743200" cy="3200400"/>
          </a:xfrm>
          <a:prstGeom prst="rect">
            <a:avLst/>
          </a:prstGeom>
          <a:solidFill>
            <a:srgbClr val="FFFFFF"/>
          </a:solidFill>
          <a:ln w="12700">
            <a:solidFill>
              <a:srgbClr val="E2E8F0"/>
            </a:solidFill>
            <a:prstDash val="solid"/>
          </a:ln>
        </p:spPr>
      </p:sp>
      <p:sp>
        <p:nvSpPr>
          <p:cNvPr id="53" name="Shape 51"/>
          <p:cNvSpPr/>
          <p:nvPr/>
        </p:nvSpPr>
        <p:spPr>
          <a:xfrm>
            <a:off x="6263640" y="2880360"/>
            <a:ext cx="2743200" cy="54864"/>
          </a:xfrm>
          <a:prstGeom prst="rect">
            <a:avLst/>
          </a:prstGeom>
          <a:solidFill>
            <a:srgbClr val="9D2706"/>
          </a:solidFill>
          <a:ln/>
        </p:spPr>
      </p:sp>
      <p:sp>
        <p:nvSpPr>
          <p:cNvPr id="54" name="Text 52"/>
          <p:cNvSpPr/>
          <p:nvPr/>
        </p:nvSpPr>
        <p:spPr>
          <a:xfrm>
            <a:off x="6355080" y="3017520"/>
            <a:ext cx="2560320" cy="0"/>
          </a:xfrm>
          <a:prstGeom prst="rect">
            <a:avLst/>
          </a:prstGeom>
          <a:noFill/>
          <a:ln/>
        </p:spPr>
        <p:txBody>
          <a:bodyPr wrap="square" rtlCol="0" anchor="ctr"/>
          <a:lstStyle/>
          <a:p>
            <a:pPr algn="ctr" indent="0" marL="0">
              <a:buNone/>
            </a:pPr>
            <a:r>
              <a:rPr lang="en-US" sz="3600" b="1" dirty="0">
                <a:solidFill>
                  <a:srgbClr val="9D2706"/>
                </a:solidFill>
              </a:rPr>
              <a:t>10×</a:t>
            </a:r>
            <a:endParaRPr lang="en-US" sz="3600" dirty="0"/>
          </a:p>
        </p:txBody>
      </p:sp>
      <p:sp>
        <p:nvSpPr>
          <p:cNvPr id="55" name="Text 53"/>
          <p:cNvSpPr/>
          <p:nvPr/>
        </p:nvSpPr>
        <p:spPr>
          <a:xfrm>
            <a:off x="6355080" y="3749040"/>
            <a:ext cx="2560320" cy="0"/>
          </a:xfrm>
          <a:prstGeom prst="rect">
            <a:avLst/>
          </a:prstGeom>
          <a:noFill/>
          <a:ln/>
        </p:spPr>
        <p:txBody>
          <a:bodyPr wrap="square" rtlCol="0" anchor="ctr"/>
          <a:lstStyle/>
          <a:p>
            <a:pPr algn="ctr" indent="0" marL="0">
              <a:buNone/>
            </a:pPr>
            <a:r>
              <a:rPr lang="en-US" sz="1250" b="1" dirty="0">
                <a:solidFill>
                  <a:srgbClr val="2C3E50"/>
                </a:solidFill>
              </a:rPr>
              <a:t>💵 Lower Platform Cost</a:t>
            </a:r>
            <a:endParaRPr lang="en-US" sz="1250" dirty="0"/>
          </a:p>
        </p:txBody>
      </p:sp>
      <p:sp>
        <p:nvSpPr>
          <p:cNvPr id="56" name="Shape 54"/>
          <p:cNvSpPr/>
          <p:nvPr/>
        </p:nvSpPr>
        <p:spPr>
          <a:xfrm>
            <a:off x="6812280" y="4206240"/>
            <a:ext cx="1645920" cy="36576"/>
          </a:xfrm>
          <a:prstGeom prst="rect">
            <a:avLst/>
          </a:prstGeom>
          <a:solidFill>
            <a:srgbClr val="E2E8F0"/>
          </a:solidFill>
          <a:ln/>
        </p:spPr>
      </p:sp>
      <p:sp>
        <p:nvSpPr>
          <p:cNvPr id="57" name="Text 55"/>
          <p:cNvSpPr/>
          <p:nvPr/>
        </p:nvSpPr>
        <p:spPr>
          <a:xfrm>
            <a:off x="6355080" y="4315968"/>
            <a:ext cx="2560320" cy="0"/>
          </a:xfrm>
          <a:prstGeom prst="rect">
            <a:avLst/>
          </a:prstGeom>
          <a:noFill/>
          <a:ln/>
        </p:spPr>
        <p:txBody>
          <a:bodyPr wrap="square" rtlCol="0" anchor="ctr"/>
          <a:lstStyle/>
          <a:p>
            <a:pPr algn="ctr" indent="0" marL="0">
              <a:lnSpc>
                <a:spcPct val="140000"/>
              </a:lnSpc>
              <a:buNone/>
            </a:pPr>
            <a:r>
              <a:rPr lang="en-US" sz="1050" dirty="0">
                <a:solidFill>
                  <a:srgbClr val="5A6B7C"/>
                </a:solidFill>
              </a:rPr>
              <a:t>makes high-fidelity configurators viable for SMB merchants</a:t>
            </a:r>
            <a:endParaRPr lang="en-US" sz="1050" dirty="0"/>
          </a:p>
        </p:txBody>
      </p:sp>
      <p:sp>
        <p:nvSpPr>
          <p:cNvPr id="58" name="Shape 56"/>
          <p:cNvSpPr/>
          <p:nvPr/>
        </p:nvSpPr>
        <p:spPr>
          <a:xfrm>
            <a:off x="9235440" y="2880360"/>
            <a:ext cx="2743200" cy="3200400"/>
          </a:xfrm>
          <a:prstGeom prst="rect">
            <a:avLst/>
          </a:prstGeom>
          <a:solidFill>
            <a:srgbClr val="FFFFFF"/>
          </a:solidFill>
          <a:ln w="12700">
            <a:solidFill>
              <a:srgbClr val="E2E8F0"/>
            </a:solidFill>
            <a:prstDash val="solid"/>
          </a:ln>
        </p:spPr>
      </p:sp>
      <p:sp>
        <p:nvSpPr>
          <p:cNvPr id="59" name="Shape 57"/>
          <p:cNvSpPr/>
          <p:nvPr/>
        </p:nvSpPr>
        <p:spPr>
          <a:xfrm>
            <a:off x="9235440" y="2880360"/>
            <a:ext cx="2743200" cy="54864"/>
          </a:xfrm>
          <a:prstGeom prst="rect">
            <a:avLst/>
          </a:prstGeom>
          <a:solidFill>
            <a:srgbClr val="9D2706"/>
          </a:solidFill>
          <a:ln/>
        </p:spPr>
      </p:sp>
      <p:sp>
        <p:nvSpPr>
          <p:cNvPr id="60" name="Text 58"/>
          <p:cNvSpPr/>
          <p:nvPr/>
        </p:nvSpPr>
        <p:spPr>
          <a:xfrm>
            <a:off x="9326880" y="3017520"/>
            <a:ext cx="2560320" cy="0"/>
          </a:xfrm>
          <a:prstGeom prst="rect">
            <a:avLst/>
          </a:prstGeom>
          <a:noFill/>
          <a:ln/>
        </p:spPr>
        <p:txBody>
          <a:bodyPr wrap="square" rtlCol="0" anchor="ctr"/>
          <a:lstStyle/>
          <a:p>
            <a:pPr algn="ctr" indent="0" marL="0">
              <a:buNone/>
            </a:pPr>
            <a:r>
              <a:rPr lang="en-US" sz="3600" b="1" dirty="0">
                <a:solidFill>
                  <a:srgbClr val="9D2706"/>
                </a:solidFill>
              </a:rPr>
              <a:t>0</a:t>
            </a:r>
            <a:endParaRPr lang="en-US" sz="3600" dirty="0"/>
          </a:p>
        </p:txBody>
      </p:sp>
      <p:sp>
        <p:nvSpPr>
          <p:cNvPr id="61" name="Text 59"/>
          <p:cNvSpPr/>
          <p:nvPr/>
        </p:nvSpPr>
        <p:spPr>
          <a:xfrm>
            <a:off x="9326880" y="3749040"/>
            <a:ext cx="2560320" cy="0"/>
          </a:xfrm>
          <a:prstGeom prst="rect">
            <a:avLst/>
          </a:prstGeom>
          <a:noFill/>
          <a:ln/>
        </p:spPr>
        <p:txBody>
          <a:bodyPr wrap="square" rtlCol="0" anchor="ctr"/>
          <a:lstStyle/>
          <a:p>
            <a:pPr algn="ctr" indent="0" marL="0">
              <a:buNone/>
            </a:pPr>
            <a:r>
              <a:rPr lang="en-US" sz="1250" b="1" dirty="0">
                <a:solidFill>
                  <a:srgbClr val="2C3E50"/>
                </a:solidFill>
              </a:rPr>
              <a:t>🛠️ Code Required</a:t>
            </a:r>
            <a:endParaRPr lang="en-US" sz="1250" dirty="0"/>
          </a:p>
        </p:txBody>
      </p:sp>
      <p:sp>
        <p:nvSpPr>
          <p:cNvPr id="62" name="Shape 60"/>
          <p:cNvSpPr/>
          <p:nvPr/>
        </p:nvSpPr>
        <p:spPr>
          <a:xfrm>
            <a:off x="9784080" y="4206240"/>
            <a:ext cx="1645920" cy="36576"/>
          </a:xfrm>
          <a:prstGeom prst="rect">
            <a:avLst/>
          </a:prstGeom>
          <a:solidFill>
            <a:srgbClr val="E2E8F0"/>
          </a:solidFill>
          <a:ln/>
        </p:spPr>
      </p:sp>
      <p:sp>
        <p:nvSpPr>
          <p:cNvPr id="63" name="Text 61"/>
          <p:cNvSpPr/>
          <p:nvPr/>
        </p:nvSpPr>
        <p:spPr>
          <a:xfrm>
            <a:off x="9326880" y="4315968"/>
            <a:ext cx="2560320" cy="0"/>
          </a:xfrm>
          <a:prstGeom prst="rect">
            <a:avLst/>
          </a:prstGeom>
          <a:noFill/>
          <a:ln/>
        </p:spPr>
        <p:txBody>
          <a:bodyPr wrap="square" rtlCol="0" anchor="ctr"/>
          <a:lstStyle/>
          <a:p>
            <a:pPr algn="ctr" indent="0" marL="0">
              <a:lnSpc>
                <a:spcPct val="140000"/>
              </a:lnSpc>
              <a:buNone/>
            </a:pPr>
            <a:r>
              <a:rPr lang="en-US" sz="1050" dirty="0">
                <a:solidFill>
                  <a:srgbClr val="5A6B7C"/>
                </a:solidFill>
              </a:rPr>
              <a:t>one-click app store install auto-injects configurator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Target Verticals &amp; Opportunity</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Focusing on visual-first product categories.</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1051560"/>
            <a:ext cx="3611880" cy="1737360"/>
          </a:xfrm>
          <a:prstGeom prst="rect">
            <a:avLst/>
          </a:prstGeom>
          <a:solidFill>
            <a:srgbClr val="FFFFFF"/>
          </a:solidFill>
          <a:ln w="12700">
            <a:solidFill>
              <a:srgbClr val="E2E8F0"/>
            </a:solidFill>
            <a:prstDash val="solid"/>
          </a:ln>
        </p:spPr>
      </p:sp>
      <p:sp>
        <p:nvSpPr>
          <p:cNvPr id="12" name="Shape 10"/>
          <p:cNvSpPr/>
          <p:nvPr/>
        </p:nvSpPr>
        <p:spPr>
          <a:xfrm>
            <a:off x="320040" y="1051560"/>
            <a:ext cx="3611880" cy="502920"/>
          </a:xfrm>
          <a:prstGeom prst="rect">
            <a:avLst/>
          </a:prstGeom>
          <a:solidFill>
            <a:srgbClr val="EDF2F7"/>
          </a:solidFill>
          <a:ln/>
        </p:spPr>
      </p:sp>
      <p:sp>
        <p:nvSpPr>
          <p:cNvPr id="13" name="Shape 11"/>
          <p:cNvSpPr/>
          <p:nvPr/>
        </p:nvSpPr>
        <p:spPr>
          <a:xfrm>
            <a:off x="320040" y="1051560"/>
            <a:ext cx="64008" cy="1737360"/>
          </a:xfrm>
          <a:prstGeom prst="rect">
            <a:avLst/>
          </a:prstGeom>
          <a:solidFill>
            <a:srgbClr val="9D2706"/>
          </a:solidFill>
          <a:ln/>
        </p:spPr>
      </p:sp>
      <p:sp>
        <p:nvSpPr>
          <p:cNvPr id="14" name="Text 12"/>
          <p:cNvSpPr/>
          <p:nvPr/>
        </p:nvSpPr>
        <p:spPr>
          <a:xfrm>
            <a:off x="484632" y="1161288"/>
            <a:ext cx="3291840" cy="0"/>
          </a:xfrm>
          <a:prstGeom prst="rect">
            <a:avLst/>
          </a:prstGeom>
          <a:noFill/>
          <a:ln/>
        </p:spPr>
        <p:txBody>
          <a:bodyPr wrap="square" rtlCol="0" anchor="ctr"/>
          <a:lstStyle/>
          <a:p>
            <a:pPr indent="0" marL="0">
              <a:buNone/>
            </a:pPr>
            <a:r>
              <a:rPr lang="en-US" sz="1250" b="1" dirty="0">
                <a:solidFill>
                  <a:srgbClr val="2C3E50"/>
                </a:solidFill>
              </a:rPr>
              <a:t>👟  Footwear &amp; Sneakers</a:t>
            </a:r>
            <a:endParaRPr lang="en-US" sz="1250" dirty="0"/>
          </a:p>
        </p:txBody>
      </p:sp>
      <p:sp>
        <p:nvSpPr>
          <p:cNvPr id="15" name="Text 13"/>
          <p:cNvSpPr/>
          <p:nvPr/>
        </p:nvSpPr>
        <p:spPr>
          <a:xfrm>
            <a:off x="484632" y="1709928"/>
            <a:ext cx="3291840" cy="0"/>
          </a:xfrm>
          <a:prstGeom prst="rect">
            <a:avLst/>
          </a:prstGeom>
          <a:noFill/>
          <a:ln/>
        </p:spPr>
        <p:txBody>
          <a:bodyPr wrap="square" rtlCol="0" anchor="ctr"/>
          <a:lstStyle/>
          <a:p>
            <a:pPr indent="0" marL="0">
              <a:buNone/>
            </a:pPr>
            <a:r>
              <a:rPr lang="en-US" sz="1000" b="1" dirty="0">
                <a:solidFill>
                  <a:srgbClr val="9D2706"/>
                </a:solidFill>
              </a:rPr>
              <a:t>Why 3D/AR is critical:</a:t>
            </a:r>
            <a:endParaRPr lang="en-US" sz="1000" dirty="0"/>
          </a:p>
        </p:txBody>
      </p:sp>
      <p:sp>
        <p:nvSpPr>
          <p:cNvPr id="16" name="Text 14"/>
          <p:cNvSpPr/>
          <p:nvPr/>
        </p:nvSpPr>
        <p:spPr>
          <a:xfrm>
            <a:off x="484632" y="1947672"/>
            <a:ext cx="3291840" cy="0"/>
          </a:xfrm>
          <a:prstGeom prst="rect">
            <a:avLst/>
          </a:prstGeom>
          <a:noFill/>
          <a:ln/>
        </p:spPr>
        <p:txBody>
          <a:bodyPr wrap="square" rtlCol="0" anchor="ctr"/>
          <a:lstStyle/>
          <a:p>
            <a:pPr indent="0" marL="0">
              <a:lnSpc>
                <a:spcPct val="130000"/>
              </a:lnSpc>
              <a:buNone/>
            </a:pPr>
            <a:r>
              <a:rPr lang="en-US" sz="1150" dirty="0">
                <a:solidFill>
                  <a:srgbClr val="5A6B7C"/>
                </a:solidFill>
              </a:rPr>
              <a:t>Try-on AR displays shoes on feet; real-time colourway swaps.</a:t>
            </a:r>
            <a:endParaRPr lang="en-US" sz="1150" dirty="0"/>
          </a:p>
        </p:txBody>
      </p:sp>
      <p:sp>
        <p:nvSpPr>
          <p:cNvPr id="17" name="Shape 15"/>
          <p:cNvSpPr/>
          <p:nvPr/>
        </p:nvSpPr>
        <p:spPr>
          <a:xfrm>
            <a:off x="4206240" y="1051560"/>
            <a:ext cx="3611880" cy="1737360"/>
          </a:xfrm>
          <a:prstGeom prst="rect">
            <a:avLst/>
          </a:prstGeom>
          <a:solidFill>
            <a:srgbClr val="FFFFFF"/>
          </a:solidFill>
          <a:ln w="12700">
            <a:solidFill>
              <a:srgbClr val="E2E8F0"/>
            </a:solidFill>
            <a:prstDash val="solid"/>
          </a:ln>
        </p:spPr>
      </p:sp>
      <p:sp>
        <p:nvSpPr>
          <p:cNvPr id="18" name="Shape 16"/>
          <p:cNvSpPr/>
          <p:nvPr/>
        </p:nvSpPr>
        <p:spPr>
          <a:xfrm>
            <a:off x="4206240" y="1051560"/>
            <a:ext cx="3611880" cy="502920"/>
          </a:xfrm>
          <a:prstGeom prst="rect">
            <a:avLst/>
          </a:prstGeom>
          <a:solidFill>
            <a:srgbClr val="EDF2F7"/>
          </a:solidFill>
          <a:ln/>
        </p:spPr>
      </p:sp>
      <p:sp>
        <p:nvSpPr>
          <p:cNvPr id="19" name="Shape 17"/>
          <p:cNvSpPr/>
          <p:nvPr/>
        </p:nvSpPr>
        <p:spPr>
          <a:xfrm>
            <a:off x="4206240" y="1051560"/>
            <a:ext cx="64008" cy="1737360"/>
          </a:xfrm>
          <a:prstGeom prst="rect">
            <a:avLst/>
          </a:prstGeom>
          <a:solidFill>
            <a:srgbClr val="9D2706"/>
          </a:solidFill>
          <a:ln/>
        </p:spPr>
      </p:sp>
      <p:sp>
        <p:nvSpPr>
          <p:cNvPr id="20" name="Text 18"/>
          <p:cNvSpPr/>
          <p:nvPr/>
        </p:nvSpPr>
        <p:spPr>
          <a:xfrm>
            <a:off x="4370832" y="1161288"/>
            <a:ext cx="3291840" cy="0"/>
          </a:xfrm>
          <a:prstGeom prst="rect">
            <a:avLst/>
          </a:prstGeom>
          <a:noFill/>
          <a:ln/>
        </p:spPr>
        <p:txBody>
          <a:bodyPr wrap="square" rtlCol="0" anchor="ctr"/>
          <a:lstStyle/>
          <a:p>
            <a:pPr indent="0" marL="0">
              <a:buNone/>
            </a:pPr>
            <a:r>
              <a:rPr lang="en-US" sz="1250" b="1" dirty="0">
                <a:solidFill>
                  <a:srgbClr val="2C3E50"/>
                </a:solidFill>
              </a:rPr>
              <a:t>👔  Apparel &amp; Fashion</a:t>
            </a:r>
            <a:endParaRPr lang="en-US" sz="1250" dirty="0"/>
          </a:p>
        </p:txBody>
      </p:sp>
      <p:sp>
        <p:nvSpPr>
          <p:cNvPr id="21" name="Text 19"/>
          <p:cNvSpPr/>
          <p:nvPr/>
        </p:nvSpPr>
        <p:spPr>
          <a:xfrm>
            <a:off x="4370832" y="1709928"/>
            <a:ext cx="3291840" cy="0"/>
          </a:xfrm>
          <a:prstGeom prst="rect">
            <a:avLst/>
          </a:prstGeom>
          <a:noFill/>
          <a:ln/>
        </p:spPr>
        <p:txBody>
          <a:bodyPr wrap="square" rtlCol="0" anchor="ctr"/>
          <a:lstStyle/>
          <a:p>
            <a:pPr indent="0" marL="0">
              <a:buNone/>
            </a:pPr>
            <a:r>
              <a:rPr lang="en-US" sz="1000" b="1" dirty="0">
                <a:solidFill>
                  <a:srgbClr val="9D2706"/>
                </a:solidFill>
              </a:rPr>
              <a:t>Why 3D/AR is critical:</a:t>
            </a:r>
            <a:endParaRPr lang="en-US" sz="1000" dirty="0"/>
          </a:p>
        </p:txBody>
      </p:sp>
      <p:sp>
        <p:nvSpPr>
          <p:cNvPr id="22" name="Text 20"/>
          <p:cNvSpPr/>
          <p:nvPr/>
        </p:nvSpPr>
        <p:spPr>
          <a:xfrm>
            <a:off x="4370832" y="1947672"/>
            <a:ext cx="3291840" cy="0"/>
          </a:xfrm>
          <a:prstGeom prst="rect">
            <a:avLst/>
          </a:prstGeom>
          <a:noFill/>
          <a:ln/>
        </p:spPr>
        <p:txBody>
          <a:bodyPr wrap="square" rtlCol="0" anchor="ctr"/>
          <a:lstStyle/>
          <a:p>
            <a:pPr indent="0" marL="0">
              <a:lnSpc>
                <a:spcPct val="130000"/>
              </a:lnSpc>
              <a:buNone/>
            </a:pPr>
            <a:r>
              <a:rPr lang="en-US" sz="1150" dirty="0">
                <a:solidFill>
                  <a:srgbClr val="5A6B7C"/>
                </a:solidFill>
              </a:rPr>
              <a:t>Virtual try-on matches garments; material textures render in-camera.</a:t>
            </a:r>
            <a:endParaRPr lang="en-US" sz="1150" dirty="0"/>
          </a:p>
        </p:txBody>
      </p:sp>
      <p:sp>
        <p:nvSpPr>
          <p:cNvPr id="23" name="Shape 21"/>
          <p:cNvSpPr/>
          <p:nvPr/>
        </p:nvSpPr>
        <p:spPr>
          <a:xfrm>
            <a:off x="8092440" y="1051560"/>
            <a:ext cx="3611880" cy="1737360"/>
          </a:xfrm>
          <a:prstGeom prst="rect">
            <a:avLst/>
          </a:prstGeom>
          <a:solidFill>
            <a:srgbClr val="FFFFFF"/>
          </a:solidFill>
          <a:ln w="12700">
            <a:solidFill>
              <a:srgbClr val="E2E8F0"/>
            </a:solidFill>
            <a:prstDash val="solid"/>
          </a:ln>
        </p:spPr>
      </p:sp>
      <p:sp>
        <p:nvSpPr>
          <p:cNvPr id="24" name="Shape 22"/>
          <p:cNvSpPr/>
          <p:nvPr/>
        </p:nvSpPr>
        <p:spPr>
          <a:xfrm>
            <a:off x="8092440" y="1051560"/>
            <a:ext cx="3611880" cy="502920"/>
          </a:xfrm>
          <a:prstGeom prst="rect">
            <a:avLst/>
          </a:prstGeom>
          <a:solidFill>
            <a:srgbClr val="EDF2F7"/>
          </a:solidFill>
          <a:ln/>
        </p:spPr>
      </p:sp>
      <p:sp>
        <p:nvSpPr>
          <p:cNvPr id="25" name="Shape 23"/>
          <p:cNvSpPr/>
          <p:nvPr/>
        </p:nvSpPr>
        <p:spPr>
          <a:xfrm>
            <a:off x="8092440" y="1051560"/>
            <a:ext cx="64008" cy="1737360"/>
          </a:xfrm>
          <a:prstGeom prst="rect">
            <a:avLst/>
          </a:prstGeom>
          <a:solidFill>
            <a:srgbClr val="9D2706"/>
          </a:solidFill>
          <a:ln/>
        </p:spPr>
      </p:sp>
      <p:sp>
        <p:nvSpPr>
          <p:cNvPr id="26" name="Text 24"/>
          <p:cNvSpPr/>
          <p:nvPr/>
        </p:nvSpPr>
        <p:spPr>
          <a:xfrm>
            <a:off x="8257032" y="1161288"/>
            <a:ext cx="3291840" cy="0"/>
          </a:xfrm>
          <a:prstGeom prst="rect">
            <a:avLst/>
          </a:prstGeom>
          <a:noFill/>
          <a:ln/>
        </p:spPr>
        <p:txBody>
          <a:bodyPr wrap="square" rtlCol="0" anchor="ctr"/>
          <a:lstStyle/>
          <a:p>
            <a:pPr indent="0" marL="0">
              <a:buNone/>
            </a:pPr>
            <a:r>
              <a:rPr lang="en-US" sz="1250" b="1" dirty="0">
                <a:solidFill>
                  <a:srgbClr val="2C3E50"/>
                </a:solidFill>
              </a:rPr>
              <a:t>👜  Bags &amp; Accessories</a:t>
            </a:r>
            <a:endParaRPr lang="en-US" sz="1250" dirty="0"/>
          </a:p>
        </p:txBody>
      </p:sp>
      <p:sp>
        <p:nvSpPr>
          <p:cNvPr id="27" name="Text 25"/>
          <p:cNvSpPr/>
          <p:nvPr/>
        </p:nvSpPr>
        <p:spPr>
          <a:xfrm>
            <a:off x="8257032" y="1709928"/>
            <a:ext cx="3291840" cy="0"/>
          </a:xfrm>
          <a:prstGeom prst="rect">
            <a:avLst/>
          </a:prstGeom>
          <a:noFill/>
          <a:ln/>
        </p:spPr>
        <p:txBody>
          <a:bodyPr wrap="square" rtlCol="0" anchor="ctr"/>
          <a:lstStyle/>
          <a:p>
            <a:pPr indent="0" marL="0">
              <a:buNone/>
            </a:pPr>
            <a:r>
              <a:rPr lang="en-US" sz="1000" b="1" dirty="0">
                <a:solidFill>
                  <a:srgbClr val="9D2706"/>
                </a:solidFill>
              </a:rPr>
              <a:t>Why 3D/AR is critical:</a:t>
            </a:r>
            <a:endParaRPr lang="en-US" sz="1000" dirty="0"/>
          </a:p>
        </p:txBody>
      </p:sp>
      <p:sp>
        <p:nvSpPr>
          <p:cNvPr id="28" name="Text 26"/>
          <p:cNvSpPr/>
          <p:nvPr/>
        </p:nvSpPr>
        <p:spPr>
          <a:xfrm>
            <a:off x="8257032" y="1947672"/>
            <a:ext cx="3291840" cy="0"/>
          </a:xfrm>
          <a:prstGeom prst="rect">
            <a:avLst/>
          </a:prstGeom>
          <a:noFill/>
          <a:ln/>
        </p:spPr>
        <p:txBody>
          <a:bodyPr wrap="square" rtlCol="0" anchor="ctr"/>
          <a:lstStyle/>
          <a:p>
            <a:pPr indent="0" marL="0">
              <a:lnSpc>
                <a:spcPct val="130000"/>
              </a:lnSpc>
              <a:buNone/>
            </a:pPr>
            <a:r>
              <a:rPr lang="en-US" sz="1150" dirty="0">
                <a:solidFill>
                  <a:srgbClr val="5A6B7C"/>
                </a:solidFill>
              </a:rPr>
              <a:t>360° product rotations; configures clasps, straps, and leather types.</a:t>
            </a:r>
            <a:endParaRPr lang="en-US" sz="1150" dirty="0"/>
          </a:p>
        </p:txBody>
      </p:sp>
      <p:sp>
        <p:nvSpPr>
          <p:cNvPr id="29" name="Shape 27"/>
          <p:cNvSpPr/>
          <p:nvPr/>
        </p:nvSpPr>
        <p:spPr>
          <a:xfrm>
            <a:off x="320040" y="2971800"/>
            <a:ext cx="3611880" cy="1737360"/>
          </a:xfrm>
          <a:prstGeom prst="rect">
            <a:avLst/>
          </a:prstGeom>
          <a:solidFill>
            <a:srgbClr val="FFFFFF"/>
          </a:solidFill>
          <a:ln w="12700">
            <a:solidFill>
              <a:srgbClr val="E2E8F0"/>
            </a:solidFill>
            <a:prstDash val="solid"/>
          </a:ln>
        </p:spPr>
      </p:sp>
      <p:sp>
        <p:nvSpPr>
          <p:cNvPr id="30" name="Shape 28"/>
          <p:cNvSpPr/>
          <p:nvPr/>
        </p:nvSpPr>
        <p:spPr>
          <a:xfrm>
            <a:off x="320040" y="2971800"/>
            <a:ext cx="3611880" cy="502920"/>
          </a:xfrm>
          <a:prstGeom prst="rect">
            <a:avLst/>
          </a:prstGeom>
          <a:solidFill>
            <a:srgbClr val="EDF2F7"/>
          </a:solidFill>
          <a:ln/>
        </p:spPr>
      </p:sp>
      <p:sp>
        <p:nvSpPr>
          <p:cNvPr id="31" name="Shape 29"/>
          <p:cNvSpPr/>
          <p:nvPr/>
        </p:nvSpPr>
        <p:spPr>
          <a:xfrm>
            <a:off x="320040" y="2971800"/>
            <a:ext cx="64008" cy="1737360"/>
          </a:xfrm>
          <a:prstGeom prst="rect">
            <a:avLst/>
          </a:prstGeom>
          <a:solidFill>
            <a:srgbClr val="9D2706"/>
          </a:solidFill>
          <a:ln/>
        </p:spPr>
      </p:sp>
      <p:sp>
        <p:nvSpPr>
          <p:cNvPr id="32" name="Text 30"/>
          <p:cNvSpPr/>
          <p:nvPr/>
        </p:nvSpPr>
        <p:spPr>
          <a:xfrm>
            <a:off x="484632" y="3081528"/>
            <a:ext cx="3291840" cy="0"/>
          </a:xfrm>
          <a:prstGeom prst="rect">
            <a:avLst/>
          </a:prstGeom>
          <a:noFill/>
          <a:ln/>
        </p:spPr>
        <p:txBody>
          <a:bodyPr wrap="square" rtlCol="0" anchor="ctr"/>
          <a:lstStyle/>
          <a:p>
            <a:pPr indent="0" marL="0">
              <a:buNone/>
            </a:pPr>
            <a:r>
              <a:rPr lang="en-US" sz="1250" b="1" dirty="0">
                <a:solidFill>
                  <a:srgbClr val="2C3E50"/>
                </a:solidFill>
              </a:rPr>
              <a:t>🛋️  Furniture &amp; Home Décor</a:t>
            </a:r>
            <a:endParaRPr lang="en-US" sz="1250" dirty="0"/>
          </a:p>
        </p:txBody>
      </p:sp>
      <p:sp>
        <p:nvSpPr>
          <p:cNvPr id="33" name="Text 31"/>
          <p:cNvSpPr/>
          <p:nvPr/>
        </p:nvSpPr>
        <p:spPr>
          <a:xfrm>
            <a:off x="484632" y="3630168"/>
            <a:ext cx="3291840" cy="0"/>
          </a:xfrm>
          <a:prstGeom prst="rect">
            <a:avLst/>
          </a:prstGeom>
          <a:noFill/>
          <a:ln/>
        </p:spPr>
        <p:txBody>
          <a:bodyPr wrap="square" rtlCol="0" anchor="ctr"/>
          <a:lstStyle/>
          <a:p>
            <a:pPr indent="0" marL="0">
              <a:buNone/>
            </a:pPr>
            <a:r>
              <a:rPr lang="en-US" sz="1000" b="1" dirty="0">
                <a:solidFill>
                  <a:srgbClr val="9D2706"/>
                </a:solidFill>
              </a:rPr>
              <a:t>Why 3D/AR is critical:</a:t>
            </a:r>
            <a:endParaRPr lang="en-US" sz="1000" dirty="0"/>
          </a:p>
        </p:txBody>
      </p:sp>
      <p:sp>
        <p:nvSpPr>
          <p:cNvPr id="34" name="Text 32"/>
          <p:cNvSpPr/>
          <p:nvPr/>
        </p:nvSpPr>
        <p:spPr>
          <a:xfrm>
            <a:off x="484632" y="3867912"/>
            <a:ext cx="3291840" cy="0"/>
          </a:xfrm>
          <a:prstGeom prst="rect">
            <a:avLst/>
          </a:prstGeom>
          <a:noFill/>
          <a:ln/>
        </p:spPr>
        <p:txBody>
          <a:bodyPr wrap="square" rtlCol="0" anchor="ctr"/>
          <a:lstStyle/>
          <a:p>
            <a:pPr indent="0" marL="0">
              <a:lnSpc>
                <a:spcPct val="130000"/>
              </a:lnSpc>
              <a:buNone/>
            </a:pPr>
            <a:r>
              <a:rPr lang="en-US" sz="1150" dirty="0">
                <a:solidFill>
                  <a:srgbClr val="5A6B7C"/>
                </a:solidFill>
              </a:rPr>
              <a:t>Room placement AR ensures size fits; modular frames and fabrics config.</a:t>
            </a:r>
            <a:endParaRPr lang="en-US" sz="1150" dirty="0"/>
          </a:p>
        </p:txBody>
      </p:sp>
      <p:sp>
        <p:nvSpPr>
          <p:cNvPr id="35" name="Shape 33"/>
          <p:cNvSpPr/>
          <p:nvPr/>
        </p:nvSpPr>
        <p:spPr>
          <a:xfrm>
            <a:off x="4206240" y="2971800"/>
            <a:ext cx="3611880" cy="1737360"/>
          </a:xfrm>
          <a:prstGeom prst="rect">
            <a:avLst/>
          </a:prstGeom>
          <a:solidFill>
            <a:srgbClr val="FFFFFF"/>
          </a:solidFill>
          <a:ln w="12700">
            <a:solidFill>
              <a:srgbClr val="E2E8F0"/>
            </a:solidFill>
            <a:prstDash val="solid"/>
          </a:ln>
        </p:spPr>
      </p:sp>
      <p:sp>
        <p:nvSpPr>
          <p:cNvPr id="36" name="Shape 34"/>
          <p:cNvSpPr/>
          <p:nvPr/>
        </p:nvSpPr>
        <p:spPr>
          <a:xfrm>
            <a:off x="4206240" y="2971800"/>
            <a:ext cx="3611880" cy="502920"/>
          </a:xfrm>
          <a:prstGeom prst="rect">
            <a:avLst/>
          </a:prstGeom>
          <a:solidFill>
            <a:srgbClr val="EDF2F7"/>
          </a:solidFill>
          <a:ln/>
        </p:spPr>
      </p:sp>
      <p:sp>
        <p:nvSpPr>
          <p:cNvPr id="37" name="Shape 35"/>
          <p:cNvSpPr/>
          <p:nvPr/>
        </p:nvSpPr>
        <p:spPr>
          <a:xfrm>
            <a:off x="4206240" y="2971800"/>
            <a:ext cx="64008" cy="1737360"/>
          </a:xfrm>
          <a:prstGeom prst="rect">
            <a:avLst/>
          </a:prstGeom>
          <a:solidFill>
            <a:srgbClr val="9D2706"/>
          </a:solidFill>
          <a:ln/>
        </p:spPr>
      </p:sp>
      <p:sp>
        <p:nvSpPr>
          <p:cNvPr id="38" name="Text 36"/>
          <p:cNvSpPr/>
          <p:nvPr/>
        </p:nvSpPr>
        <p:spPr>
          <a:xfrm>
            <a:off x="4370832" y="3081528"/>
            <a:ext cx="3291840" cy="0"/>
          </a:xfrm>
          <a:prstGeom prst="rect">
            <a:avLst/>
          </a:prstGeom>
          <a:noFill/>
          <a:ln/>
        </p:spPr>
        <p:txBody>
          <a:bodyPr wrap="square" rtlCol="0" anchor="ctr"/>
          <a:lstStyle/>
          <a:p>
            <a:pPr indent="0" marL="0">
              <a:buNone/>
            </a:pPr>
            <a:r>
              <a:rPr lang="en-US" sz="1250" b="1" dirty="0">
                <a:solidFill>
                  <a:srgbClr val="2C3E50"/>
                </a:solidFill>
              </a:rPr>
              <a:t>💍  Jewelry &amp; Watches</a:t>
            </a:r>
            <a:endParaRPr lang="en-US" sz="1250" dirty="0"/>
          </a:p>
        </p:txBody>
      </p:sp>
      <p:sp>
        <p:nvSpPr>
          <p:cNvPr id="39" name="Text 37"/>
          <p:cNvSpPr/>
          <p:nvPr/>
        </p:nvSpPr>
        <p:spPr>
          <a:xfrm>
            <a:off x="4370832" y="3630168"/>
            <a:ext cx="3291840" cy="0"/>
          </a:xfrm>
          <a:prstGeom prst="rect">
            <a:avLst/>
          </a:prstGeom>
          <a:noFill/>
          <a:ln/>
        </p:spPr>
        <p:txBody>
          <a:bodyPr wrap="square" rtlCol="0" anchor="ctr"/>
          <a:lstStyle/>
          <a:p>
            <a:pPr indent="0" marL="0">
              <a:buNone/>
            </a:pPr>
            <a:r>
              <a:rPr lang="en-US" sz="1000" b="1" dirty="0">
                <a:solidFill>
                  <a:srgbClr val="9D2706"/>
                </a:solidFill>
              </a:rPr>
              <a:t>Why 3D/AR is critical:</a:t>
            </a:r>
            <a:endParaRPr lang="en-US" sz="1000" dirty="0"/>
          </a:p>
        </p:txBody>
      </p:sp>
      <p:sp>
        <p:nvSpPr>
          <p:cNvPr id="40" name="Text 38"/>
          <p:cNvSpPr/>
          <p:nvPr/>
        </p:nvSpPr>
        <p:spPr>
          <a:xfrm>
            <a:off x="4370832" y="3867912"/>
            <a:ext cx="3291840" cy="0"/>
          </a:xfrm>
          <a:prstGeom prst="rect">
            <a:avLst/>
          </a:prstGeom>
          <a:noFill/>
          <a:ln/>
        </p:spPr>
        <p:txBody>
          <a:bodyPr wrap="square" rtlCol="0" anchor="ctr"/>
          <a:lstStyle/>
          <a:p>
            <a:pPr indent="0" marL="0">
              <a:lnSpc>
                <a:spcPct val="130000"/>
              </a:lnSpc>
              <a:buNone/>
            </a:pPr>
            <a:r>
              <a:rPr lang="en-US" sz="1150" dirty="0">
                <a:solidFill>
                  <a:srgbClr val="5A6B7C"/>
                </a:solidFill>
              </a:rPr>
              <a:t>High-res details; custom metal types, bands, and gemstone swaps.</a:t>
            </a:r>
            <a:endParaRPr lang="en-US" sz="1150" dirty="0"/>
          </a:p>
        </p:txBody>
      </p:sp>
      <p:sp>
        <p:nvSpPr>
          <p:cNvPr id="41" name="Shape 39"/>
          <p:cNvSpPr/>
          <p:nvPr/>
        </p:nvSpPr>
        <p:spPr>
          <a:xfrm>
            <a:off x="8092440" y="2971800"/>
            <a:ext cx="3611880" cy="1737360"/>
          </a:xfrm>
          <a:prstGeom prst="rect">
            <a:avLst/>
          </a:prstGeom>
          <a:solidFill>
            <a:srgbClr val="FFFFFF"/>
          </a:solidFill>
          <a:ln w="12700">
            <a:solidFill>
              <a:srgbClr val="E2E8F0"/>
            </a:solidFill>
            <a:prstDash val="solid"/>
          </a:ln>
        </p:spPr>
      </p:sp>
      <p:sp>
        <p:nvSpPr>
          <p:cNvPr id="42" name="Shape 40"/>
          <p:cNvSpPr/>
          <p:nvPr/>
        </p:nvSpPr>
        <p:spPr>
          <a:xfrm>
            <a:off x="8092440" y="2971800"/>
            <a:ext cx="3611880" cy="502920"/>
          </a:xfrm>
          <a:prstGeom prst="rect">
            <a:avLst/>
          </a:prstGeom>
          <a:solidFill>
            <a:srgbClr val="EDF2F7"/>
          </a:solidFill>
          <a:ln/>
        </p:spPr>
      </p:sp>
      <p:sp>
        <p:nvSpPr>
          <p:cNvPr id="43" name="Shape 41"/>
          <p:cNvSpPr/>
          <p:nvPr/>
        </p:nvSpPr>
        <p:spPr>
          <a:xfrm>
            <a:off x="8092440" y="2971800"/>
            <a:ext cx="64008" cy="1737360"/>
          </a:xfrm>
          <a:prstGeom prst="rect">
            <a:avLst/>
          </a:prstGeom>
          <a:solidFill>
            <a:srgbClr val="9D2706"/>
          </a:solidFill>
          <a:ln/>
        </p:spPr>
      </p:sp>
      <p:sp>
        <p:nvSpPr>
          <p:cNvPr id="44" name="Text 42"/>
          <p:cNvSpPr/>
          <p:nvPr/>
        </p:nvSpPr>
        <p:spPr>
          <a:xfrm>
            <a:off x="8257032" y="3081528"/>
            <a:ext cx="3291840" cy="0"/>
          </a:xfrm>
          <a:prstGeom prst="rect">
            <a:avLst/>
          </a:prstGeom>
          <a:noFill/>
          <a:ln/>
        </p:spPr>
        <p:txBody>
          <a:bodyPr wrap="square" rtlCol="0" anchor="ctr"/>
          <a:lstStyle/>
          <a:p>
            <a:pPr indent="0" marL="0">
              <a:buNone/>
            </a:pPr>
            <a:r>
              <a:rPr lang="en-US" sz="1250" b="1" dirty="0">
                <a:solidFill>
                  <a:srgbClr val="2C3E50"/>
                </a:solidFill>
              </a:rPr>
              <a:t>🏠  Interior Architecture</a:t>
            </a:r>
            <a:endParaRPr lang="en-US" sz="1250" dirty="0"/>
          </a:p>
        </p:txBody>
      </p:sp>
      <p:sp>
        <p:nvSpPr>
          <p:cNvPr id="45" name="Text 43"/>
          <p:cNvSpPr/>
          <p:nvPr/>
        </p:nvSpPr>
        <p:spPr>
          <a:xfrm>
            <a:off x="8257032" y="3630168"/>
            <a:ext cx="3291840" cy="0"/>
          </a:xfrm>
          <a:prstGeom prst="rect">
            <a:avLst/>
          </a:prstGeom>
          <a:noFill/>
          <a:ln/>
        </p:spPr>
        <p:txBody>
          <a:bodyPr wrap="square" rtlCol="0" anchor="ctr"/>
          <a:lstStyle/>
          <a:p>
            <a:pPr indent="0" marL="0">
              <a:buNone/>
            </a:pPr>
            <a:r>
              <a:rPr lang="en-US" sz="1000" b="1" dirty="0">
                <a:solidFill>
                  <a:srgbClr val="9D2706"/>
                </a:solidFill>
              </a:rPr>
              <a:t>Why 3D/AR is critical:</a:t>
            </a:r>
            <a:endParaRPr lang="en-US" sz="1000" dirty="0"/>
          </a:p>
        </p:txBody>
      </p:sp>
      <p:sp>
        <p:nvSpPr>
          <p:cNvPr id="46" name="Text 44"/>
          <p:cNvSpPr/>
          <p:nvPr/>
        </p:nvSpPr>
        <p:spPr>
          <a:xfrm>
            <a:off x="8257032" y="3867912"/>
            <a:ext cx="3291840" cy="0"/>
          </a:xfrm>
          <a:prstGeom prst="rect">
            <a:avLst/>
          </a:prstGeom>
          <a:noFill/>
          <a:ln/>
        </p:spPr>
        <p:txBody>
          <a:bodyPr wrap="square" rtlCol="0" anchor="ctr"/>
          <a:lstStyle/>
          <a:p>
            <a:pPr indent="0" marL="0">
              <a:lnSpc>
                <a:spcPct val="130000"/>
              </a:lnSpc>
              <a:buNone/>
            </a:pPr>
            <a:r>
              <a:rPr lang="en-US" sz="1150" dirty="0">
                <a:solidFill>
                  <a:srgbClr val="5A6B7C"/>
                </a:solidFill>
              </a:rPr>
              <a:t>Configures custom fixtures, cabinetry, and home decor layout in AR.</a:t>
            </a:r>
            <a:endParaRPr lang="en-US" sz="1150" dirty="0"/>
          </a:p>
        </p:txBody>
      </p:sp>
      <p:sp>
        <p:nvSpPr>
          <p:cNvPr id="47" name="Shape 45"/>
          <p:cNvSpPr/>
          <p:nvPr/>
        </p:nvSpPr>
        <p:spPr>
          <a:xfrm>
            <a:off x="91440" y="5074920"/>
            <a:ext cx="12070080" cy="1234440"/>
          </a:xfrm>
          <a:prstGeom prst="rect">
            <a:avLst/>
          </a:prstGeom>
          <a:solidFill>
            <a:srgbClr val="FFFFFF"/>
          </a:solidFill>
          <a:ln w="12700">
            <a:solidFill>
              <a:srgbClr val="E2E8F0"/>
            </a:solidFill>
            <a:prstDash val="solid"/>
          </a:ln>
        </p:spPr>
      </p:sp>
      <p:sp>
        <p:nvSpPr>
          <p:cNvPr id="48" name="Shape 46"/>
          <p:cNvSpPr/>
          <p:nvPr/>
        </p:nvSpPr>
        <p:spPr>
          <a:xfrm>
            <a:off x="91440" y="5074920"/>
            <a:ext cx="73152" cy="1234440"/>
          </a:xfrm>
          <a:prstGeom prst="rect">
            <a:avLst/>
          </a:prstGeom>
          <a:solidFill>
            <a:srgbClr val="9D2706"/>
          </a:solidFill>
          <a:ln/>
        </p:spPr>
      </p:sp>
      <p:sp>
        <p:nvSpPr>
          <p:cNvPr id="49" name="Text 47"/>
          <p:cNvSpPr/>
          <p:nvPr/>
        </p:nvSpPr>
        <p:spPr>
          <a:xfrm>
            <a:off x="548640" y="5138928"/>
            <a:ext cx="2743200" cy="0"/>
          </a:xfrm>
          <a:prstGeom prst="rect">
            <a:avLst/>
          </a:prstGeom>
          <a:noFill/>
          <a:ln/>
        </p:spPr>
        <p:txBody>
          <a:bodyPr wrap="square" rtlCol="0" anchor="ctr"/>
          <a:lstStyle/>
          <a:p>
            <a:pPr algn="ctr" indent="0" marL="0">
              <a:buNone/>
            </a:pPr>
            <a:r>
              <a:rPr lang="en-US" sz="2200" b="1" dirty="0">
                <a:solidFill>
                  <a:srgbClr val="9D2706"/>
                </a:solidFill>
              </a:rPr>
              <a:t>$8.7B</a:t>
            </a:r>
            <a:endParaRPr lang="en-US" sz="2200" dirty="0"/>
          </a:p>
        </p:txBody>
      </p:sp>
      <p:sp>
        <p:nvSpPr>
          <p:cNvPr id="50" name="Text 48"/>
          <p:cNvSpPr/>
          <p:nvPr/>
        </p:nvSpPr>
        <p:spPr>
          <a:xfrm>
            <a:off x="548640" y="5577840"/>
            <a:ext cx="2743200" cy="0"/>
          </a:xfrm>
          <a:prstGeom prst="rect">
            <a:avLst/>
          </a:prstGeom>
          <a:noFill/>
          <a:ln/>
        </p:spPr>
        <p:txBody>
          <a:bodyPr wrap="square" rtlCol="0" anchor="ctr"/>
          <a:lstStyle/>
          <a:p>
            <a:pPr algn="ctr" indent="0" marL="0">
              <a:lnSpc>
                <a:spcPct val="130000"/>
              </a:lnSpc>
              <a:buNone/>
            </a:pPr>
            <a:r>
              <a:rPr lang="en-US" sz="1050" dirty="0">
                <a:solidFill>
                  <a:srgbClr val="5A6B7C"/>
                </a:solidFill>
              </a:rPr>
              <a:t>Global 3D/AR Commerce</a:t>
            </a:r>
            <a:endParaRPr lang="en-US" sz="1050" dirty="0"/>
          </a:p>
          <a:p>
            <a:pPr algn="ctr" indent="0" marL="0">
              <a:lnSpc>
                <a:spcPct val="130000"/>
              </a:lnSpc>
              <a:buNone/>
            </a:pPr>
            <a:r>
              <a:rPr lang="en-US" sz="1050" dirty="0">
                <a:solidFill>
                  <a:srgbClr val="5A6B7C"/>
                </a:solidFill>
              </a:rPr>
              <a:t>Market Value (2026)</a:t>
            </a:r>
            <a:endParaRPr lang="en-US" sz="1050" dirty="0"/>
          </a:p>
        </p:txBody>
      </p:sp>
      <p:sp>
        <p:nvSpPr>
          <p:cNvPr id="51" name="Shape 49"/>
          <p:cNvSpPr/>
          <p:nvPr/>
        </p:nvSpPr>
        <p:spPr>
          <a:xfrm>
            <a:off x="3429000" y="5193792"/>
            <a:ext cx="18288" cy="1005840"/>
          </a:xfrm>
          <a:prstGeom prst="rect">
            <a:avLst/>
          </a:prstGeom>
          <a:solidFill>
            <a:srgbClr val="E2E8F0"/>
          </a:solidFill>
          <a:ln/>
        </p:spPr>
      </p:sp>
      <p:sp>
        <p:nvSpPr>
          <p:cNvPr id="52" name="Text 50"/>
          <p:cNvSpPr/>
          <p:nvPr/>
        </p:nvSpPr>
        <p:spPr>
          <a:xfrm>
            <a:off x="3520440" y="5138928"/>
            <a:ext cx="2743200" cy="0"/>
          </a:xfrm>
          <a:prstGeom prst="rect">
            <a:avLst/>
          </a:prstGeom>
          <a:noFill/>
          <a:ln/>
        </p:spPr>
        <p:txBody>
          <a:bodyPr wrap="square" rtlCol="0" anchor="ctr"/>
          <a:lstStyle/>
          <a:p>
            <a:pPr algn="ctr" indent="0" marL="0">
              <a:buNone/>
            </a:pPr>
            <a:r>
              <a:rPr lang="en-US" sz="2200" b="1" dirty="0">
                <a:solidFill>
                  <a:srgbClr val="9D2706"/>
                </a:solidFill>
              </a:rPr>
              <a:t>34% CAGR</a:t>
            </a:r>
            <a:endParaRPr lang="en-US" sz="2200" dirty="0"/>
          </a:p>
        </p:txBody>
      </p:sp>
      <p:sp>
        <p:nvSpPr>
          <p:cNvPr id="53" name="Text 51"/>
          <p:cNvSpPr/>
          <p:nvPr/>
        </p:nvSpPr>
        <p:spPr>
          <a:xfrm>
            <a:off x="3520440" y="5577840"/>
            <a:ext cx="2743200" cy="0"/>
          </a:xfrm>
          <a:prstGeom prst="rect">
            <a:avLst/>
          </a:prstGeom>
          <a:noFill/>
          <a:ln/>
        </p:spPr>
        <p:txBody>
          <a:bodyPr wrap="square" rtlCol="0" anchor="ctr"/>
          <a:lstStyle/>
          <a:p>
            <a:pPr algn="ctr" indent="0" marL="0">
              <a:lnSpc>
                <a:spcPct val="130000"/>
              </a:lnSpc>
              <a:buNone/>
            </a:pPr>
            <a:r>
              <a:rPr lang="en-US" sz="1050" dirty="0">
                <a:solidFill>
                  <a:srgbClr val="5A6B7C"/>
                </a:solidFill>
              </a:rPr>
              <a:t>Annual growth rate of</a:t>
            </a:r>
            <a:endParaRPr lang="en-US" sz="1050" dirty="0"/>
          </a:p>
          <a:p>
            <a:pPr algn="ctr" indent="0" marL="0">
              <a:lnSpc>
                <a:spcPct val="130000"/>
              </a:lnSpc>
              <a:buNone/>
            </a:pPr>
            <a:r>
              <a:rPr lang="en-US" sz="1050" dirty="0">
                <a:solidFill>
                  <a:srgbClr val="5A6B7C"/>
                </a:solidFill>
              </a:rPr>
              <a:t>AR tech in retail space</a:t>
            </a:r>
            <a:endParaRPr lang="en-US" sz="1050" dirty="0"/>
          </a:p>
        </p:txBody>
      </p:sp>
      <p:sp>
        <p:nvSpPr>
          <p:cNvPr id="54" name="Shape 52"/>
          <p:cNvSpPr/>
          <p:nvPr/>
        </p:nvSpPr>
        <p:spPr>
          <a:xfrm>
            <a:off x="6400800" y="5193792"/>
            <a:ext cx="18288" cy="1005840"/>
          </a:xfrm>
          <a:prstGeom prst="rect">
            <a:avLst/>
          </a:prstGeom>
          <a:solidFill>
            <a:srgbClr val="E2E8F0"/>
          </a:solidFill>
          <a:ln/>
        </p:spPr>
      </p:sp>
      <p:sp>
        <p:nvSpPr>
          <p:cNvPr id="55" name="Text 53"/>
          <p:cNvSpPr/>
          <p:nvPr/>
        </p:nvSpPr>
        <p:spPr>
          <a:xfrm>
            <a:off x="6492240" y="5138928"/>
            <a:ext cx="2743200" cy="0"/>
          </a:xfrm>
          <a:prstGeom prst="rect">
            <a:avLst/>
          </a:prstGeom>
          <a:noFill/>
          <a:ln/>
        </p:spPr>
        <p:txBody>
          <a:bodyPr wrap="square" rtlCol="0" anchor="ctr"/>
          <a:lstStyle/>
          <a:p>
            <a:pPr algn="ctr" indent="0" marL="0">
              <a:buNone/>
            </a:pPr>
            <a:r>
              <a:rPr lang="en-US" sz="2200" b="1" dirty="0">
                <a:solidFill>
                  <a:srgbClr val="9D2706"/>
                </a:solidFill>
              </a:rPr>
              <a:t>2.9B</a:t>
            </a:r>
            <a:endParaRPr lang="en-US" sz="2200" dirty="0"/>
          </a:p>
        </p:txBody>
      </p:sp>
      <p:sp>
        <p:nvSpPr>
          <p:cNvPr id="56" name="Text 54"/>
          <p:cNvSpPr/>
          <p:nvPr/>
        </p:nvSpPr>
        <p:spPr>
          <a:xfrm>
            <a:off x="6492240" y="5577840"/>
            <a:ext cx="2743200" cy="0"/>
          </a:xfrm>
          <a:prstGeom prst="rect">
            <a:avLst/>
          </a:prstGeom>
          <a:noFill/>
          <a:ln/>
        </p:spPr>
        <p:txBody>
          <a:bodyPr wrap="square" rtlCol="0" anchor="ctr"/>
          <a:lstStyle/>
          <a:p>
            <a:pPr algn="ctr" indent="0" marL="0">
              <a:lnSpc>
                <a:spcPct val="130000"/>
              </a:lnSpc>
              <a:buNone/>
            </a:pPr>
            <a:r>
              <a:rPr lang="en-US" sz="1050" dirty="0">
                <a:solidFill>
                  <a:srgbClr val="5A6B7C"/>
                </a:solidFill>
              </a:rPr>
              <a:t>Active AR consumers</a:t>
            </a:r>
            <a:endParaRPr lang="en-US" sz="1050" dirty="0"/>
          </a:p>
          <a:p>
            <a:pPr algn="ctr" indent="0" marL="0">
              <a:lnSpc>
                <a:spcPct val="130000"/>
              </a:lnSpc>
              <a:buNone/>
            </a:pPr>
            <a:r>
              <a:rPr lang="en-US" sz="1050" dirty="0">
                <a:solidFill>
                  <a:srgbClr val="5A6B7C"/>
                </a:solidFill>
              </a:rPr>
              <a:t>globally by 2026</a:t>
            </a:r>
            <a:endParaRPr lang="en-US" sz="1050" dirty="0"/>
          </a:p>
        </p:txBody>
      </p:sp>
      <p:sp>
        <p:nvSpPr>
          <p:cNvPr id="57" name="Shape 55"/>
          <p:cNvSpPr/>
          <p:nvPr/>
        </p:nvSpPr>
        <p:spPr>
          <a:xfrm>
            <a:off x="9372600" y="5193792"/>
            <a:ext cx="18288" cy="1005840"/>
          </a:xfrm>
          <a:prstGeom prst="rect">
            <a:avLst/>
          </a:prstGeom>
          <a:solidFill>
            <a:srgbClr val="E2E8F0"/>
          </a:solidFill>
          <a:ln/>
        </p:spPr>
      </p:sp>
      <p:sp>
        <p:nvSpPr>
          <p:cNvPr id="58" name="Text 56"/>
          <p:cNvSpPr/>
          <p:nvPr/>
        </p:nvSpPr>
        <p:spPr>
          <a:xfrm>
            <a:off x="9464040" y="5138928"/>
            <a:ext cx="2743200" cy="0"/>
          </a:xfrm>
          <a:prstGeom prst="rect">
            <a:avLst/>
          </a:prstGeom>
          <a:noFill/>
          <a:ln/>
        </p:spPr>
        <p:txBody>
          <a:bodyPr wrap="square" rtlCol="0" anchor="ctr"/>
          <a:lstStyle/>
          <a:p>
            <a:pPr algn="ctr" indent="0" marL="0">
              <a:buNone/>
            </a:pPr>
            <a:r>
              <a:rPr lang="en-US" sz="2200" b="1" dirty="0">
                <a:solidFill>
                  <a:srgbClr val="9D2706"/>
                </a:solidFill>
              </a:rPr>
              <a:t>$550B</a:t>
            </a:r>
            <a:endParaRPr lang="en-US" sz="2200" dirty="0"/>
          </a:p>
        </p:txBody>
      </p:sp>
      <p:sp>
        <p:nvSpPr>
          <p:cNvPr id="59" name="Text 57"/>
          <p:cNvSpPr/>
          <p:nvPr/>
        </p:nvSpPr>
        <p:spPr>
          <a:xfrm>
            <a:off x="9464040" y="5577840"/>
            <a:ext cx="2743200" cy="0"/>
          </a:xfrm>
          <a:prstGeom prst="rect">
            <a:avLst/>
          </a:prstGeom>
          <a:noFill/>
          <a:ln/>
        </p:spPr>
        <p:txBody>
          <a:bodyPr wrap="square" rtlCol="0" anchor="ctr"/>
          <a:lstStyle/>
          <a:p>
            <a:pPr algn="ctr" indent="0" marL="0">
              <a:lnSpc>
                <a:spcPct val="130000"/>
              </a:lnSpc>
              <a:buNone/>
            </a:pPr>
            <a:r>
              <a:rPr lang="en-US" sz="1050" dirty="0">
                <a:solidFill>
                  <a:srgbClr val="5A6B7C"/>
                </a:solidFill>
              </a:rPr>
              <a:t>Value lost in e-commerce</a:t>
            </a:r>
            <a:endParaRPr lang="en-US" sz="1050" dirty="0"/>
          </a:p>
          <a:p>
            <a:pPr algn="ctr" indent="0" marL="0">
              <a:lnSpc>
                <a:spcPct val="130000"/>
              </a:lnSpc>
              <a:buNone/>
            </a:pPr>
            <a:r>
              <a:rPr lang="en-US" sz="1050" dirty="0">
                <a:solidFill>
                  <a:srgbClr val="5A6B7C"/>
                </a:solidFill>
              </a:rPr>
              <a:t>product returns annually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D2706"/>
          </a:solidFill>
          <a:ln/>
        </p:spPr>
      </p:sp>
      <p:sp>
        <p:nvSpPr>
          <p:cNvPr id="3" name="Text 1"/>
          <p:cNvSpPr/>
          <p:nvPr/>
        </p:nvSpPr>
        <p:spPr>
          <a:xfrm>
            <a:off x="731520" y="1645920"/>
            <a:ext cx="5486400" cy="0"/>
          </a:xfrm>
          <a:prstGeom prst="rect">
            <a:avLst/>
          </a:prstGeom>
          <a:noFill/>
          <a:ln/>
        </p:spPr>
        <p:txBody>
          <a:bodyPr wrap="square" rtlCol="0" anchor="ctr"/>
          <a:lstStyle/>
          <a:p>
            <a:pPr indent="0" marL="0">
              <a:buNone/>
            </a:pPr>
            <a:r>
              <a:rPr lang="en-US" sz="7200" b="1" dirty="0">
                <a:solidFill>
                  <a:srgbClr val="E2E8F0"/>
                </a:solidFill>
              </a:rPr>
              <a:t>05</a:t>
            </a:r>
            <a:endParaRPr lang="en-US" sz="7200" dirty="0"/>
          </a:p>
        </p:txBody>
      </p:sp>
      <p:sp>
        <p:nvSpPr>
          <p:cNvPr id="4" name="Text 2"/>
          <p:cNvSpPr/>
          <p:nvPr/>
        </p:nvSpPr>
        <p:spPr>
          <a:xfrm>
            <a:off x="822960" y="2194560"/>
            <a:ext cx="10058400" cy="0"/>
          </a:xfrm>
          <a:prstGeom prst="rect">
            <a:avLst/>
          </a:prstGeom>
          <a:noFill/>
          <a:ln/>
        </p:spPr>
        <p:txBody>
          <a:bodyPr wrap="square" rtlCol="0" anchor="ctr"/>
          <a:lstStyle/>
          <a:p>
            <a:pPr indent="0" marL="0">
              <a:lnSpc>
                <a:spcPct val="130000"/>
              </a:lnSpc>
              <a:buNone/>
            </a:pPr>
            <a:r>
              <a:rPr lang="en-US" sz="3200" b="1" dirty="0">
                <a:solidFill>
                  <a:srgbClr val="2C3E50"/>
                </a:solidFill>
              </a:rPr>
              <a:t>Augmented Reality</a:t>
            </a:r>
            <a:endParaRPr lang="en-US" sz="3200" dirty="0"/>
          </a:p>
          <a:p>
            <a:pPr indent="0" marL="0">
              <a:lnSpc>
                <a:spcPct val="130000"/>
              </a:lnSpc>
              <a:buNone/>
            </a:pPr>
            <a:r>
              <a:rPr lang="en-US" sz="3200" b="1" dirty="0">
                <a:solidFill>
                  <a:srgbClr val="2C3E50"/>
                </a:solidFill>
              </a:rPr>
              <a:t>Technology Deep Dive</a:t>
            </a:r>
            <a:endParaRPr lang="en-US" sz="3200" dirty="0"/>
          </a:p>
        </p:txBody>
      </p:sp>
      <p:sp>
        <p:nvSpPr>
          <p:cNvPr id="5" name="Shape 3"/>
          <p:cNvSpPr/>
          <p:nvPr/>
        </p:nvSpPr>
        <p:spPr>
          <a:xfrm>
            <a:off x="822960" y="3291840"/>
            <a:ext cx="3200400" cy="54864"/>
          </a:xfrm>
          <a:prstGeom prst="rect">
            <a:avLst/>
          </a:prstGeom>
          <a:solidFill>
            <a:srgbClr val="9D2706"/>
          </a:solidFill>
          <a:ln/>
        </p:spPr>
      </p:sp>
      <p:sp>
        <p:nvSpPr>
          <p:cNvPr id="6" name="Text 4"/>
          <p:cNvSpPr/>
          <p:nvPr/>
        </p:nvSpPr>
        <p:spPr>
          <a:xfrm>
            <a:off x="822960" y="5669280"/>
            <a:ext cx="7315200" cy="0"/>
          </a:xfrm>
          <a:prstGeom prst="rect">
            <a:avLst/>
          </a:prstGeom>
          <a:noFill/>
          <a:ln/>
        </p:spPr>
        <p:txBody>
          <a:bodyPr wrap="square" rtlCol="0" anchor="ctr"/>
          <a:lstStyle/>
          <a:p>
            <a:pPr indent="0" marL="0">
              <a:buNone/>
            </a:pPr>
            <a:r>
              <a:rPr lang="en-US" sz="1000" b="1" spc="200" kern="0" dirty="0">
                <a:solidFill>
                  <a:srgbClr val="8A9BA8"/>
                </a:solidFill>
              </a:rPr>
              <a:t>COGNAQ  |  3D &amp; AR PLATFORM ROADMAP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AR Experience 1: View in Your Space</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WebXR-powered — no app download required.</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960120"/>
            <a:ext cx="6858000" cy="5257800"/>
          </a:xfrm>
          <a:prstGeom prst="rect">
            <a:avLst/>
          </a:prstGeom>
          <a:solidFill>
            <a:srgbClr val="FFFFFF"/>
          </a:solidFill>
          <a:ln w="12700">
            <a:solidFill>
              <a:srgbClr val="E2E8F0"/>
            </a:solidFill>
            <a:prstDash val="solid"/>
          </a:ln>
        </p:spPr>
      </p:sp>
      <p:sp>
        <p:nvSpPr>
          <p:cNvPr id="12" name="Shape 10"/>
          <p:cNvSpPr/>
          <p:nvPr/>
        </p:nvSpPr>
        <p:spPr>
          <a:xfrm>
            <a:off x="320040" y="960120"/>
            <a:ext cx="6858000" cy="502920"/>
          </a:xfrm>
          <a:prstGeom prst="rect">
            <a:avLst/>
          </a:prstGeom>
          <a:solidFill>
            <a:srgbClr val="EDF2F7"/>
          </a:solidFill>
          <a:ln/>
        </p:spPr>
      </p:sp>
      <p:sp>
        <p:nvSpPr>
          <p:cNvPr id="13" name="Shape 11"/>
          <p:cNvSpPr/>
          <p:nvPr/>
        </p:nvSpPr>
        <p:spPr>
          <a:xfrm>
            <a:off x="320040" y="960120"/>
            <a:ext cx="64008" cy="5257800"/>
          </a:xfrm>
          <a:prstGeom prst="rect">
            <a:avLst/>
          </a:prstGeom>
          <a:solidFill>
            <a:srgbClr val="9D2706"/>
          </a:solidFill>
          <a:ln/>
        </p:spPr>
      </p:sp>
      <p:sp>
        <p:nvSpPr>
          <p:cNvPr id="14" name="Text 12"/>
          <p:cNvSpPr/>
          <p:nvPr/>
        </p:nvSpPr>
        <p:spPr>
          <a:xfrm>
            <a:off x="548640" y="1024128"/>
            <a:ext cx="6309360" cy="0"/>
          </a:xfrm>
          <a:prstGeom prst="rect">
            <a:avLst/>
          </a:prstGeom>
          <a:noFill/>
          <a:ln/>
        </p:spPr>
        <p:txBody>
          <a:bodyPr wrap="square" rtlCol="0" anchor="ctr"/>
          <a:lstStyle/>
          <a:p>
            <a:pPr indent="0" marL="0">
              <a:buNone/>
            </a:pPr>
            <a:r>
              <a:rPr lang="en-US" sz="1350" b="1" dirty="0">
                <a:solidFill>
                  <a:srgbClr val="2C3E50"/>
                </a:solidFill>
              </a:rPr>
              <a:t>🏠  View in Your Space — Room AR Workflow</a:t>
            </a:r>
            <a:endParaRPr lang="en-US" sz="1350" dirty="0"/>
          </a:p>
        </p:txBody>
      </p:sp>
      <p:sp>
        <p:nvSpPr>
          <p:cNvPr id="15" name="Shape 13"/>
          <p:cNvSpPr/>
          <p:nvPr/>
        </p:nvSpPr>
        <p:spPr>
          <a:xfrm>
            <a:off x="502920" y="1645920"/>
            <a:ext cx="365760" cy="365760"/>
          </a:xfrm>
          <a:prstGeom prst="rect">
            <a:avLst/>
          </a:prstGeom>
          <a:solidFill>
            <a:srgbClr val="EDF2F7"/>
          </a:solidFill>
          <a:ln w="12700">
            <a:solidFill>
              <a:srgbClr val="9D2706"/>
            </a:solidFill>
            <a:prstDash val="solid"/>
          </a:ln>
        </p:spPr>
      </p:sp>
      <p:sp>
        <p:nvSpPr>
          <p:cNvPr id="16" name="Text 14"/>
          <p:cNvSpPr/>
          <p:nvPr/>
        </p:nvSpPr>
        <p:spPr>
          <a:xfrm>
            <a:off x="502920" y="1691640"/>
            <a:ext cx="365760" cy="0"/>
          </a:xfrm>
          <a:prstGeom prst="rect">
            <a:avLst/>
          </a:prstGeom>
          <a:noFill/>
          <a:ln/>
        </p:spPr>
        <p:txBody>
          <a:bodyPr wrap="square" rtlCol="0" anchor="ctr"/>
          <a:lstStyle/>
          <a:p>
            <a:pPr algn="ctr" indent="0" marL="0">
              <a:buNone/>
            </a:pPr>
            <a:r>
              <a:rPr lang="en-US" sz="1200" b="1" dirty="0">
                <a:solidFill>
                  <a:srgbClr val="9D2706"/>
                </a:solidFill>
              </a:rPr>
              <a:t>1</a:t>
            </a:r>
            <a:endParaRPr lang="en-US" sz="1200" dirty="0"/>
          </a:p>
        </p:txBody>
      </p:sp>
      <p:sp>
        <p:nvSpPr>
          <p:cNvPr id="17" name="Text 15"/>
          <p:cNvSpPr/>
          <p:nvPr/>
        </p:nvSpPr>
        <p:spPr>
          <a:xfrm>
            <a:off x="1051560" y="1691640"/>
            <a:ext cx="5943600" cy="0"/>
          </a:xfrm>
          <a:prstGeom prst="rect">
            <a:avLst/>
          </a:prstGeom>
          <a:noFill/>
          <a:ln/>
        </p:spPr>
        <p:txBody>
          <a:bodyPr wrap="square" rtlCol="0" anchor="ctr"/>
          <a:lstStyle/>
          <a:p>
            <a:pPr indent="0" marL="0">
              <a:buNone/>
            </a:pPr>
            <a:r>
              <a:rPr lang="en-US" sz="1150" dirty="0">
                <a:solidFill>
                  <a:srgbClr val="2C3E50"/>
                </a:solidFill>
              </a:rPr>
              <a:t>Shopper clicks the 'View in AR' button on the product page.</a:t>
            </a:r>
            <a:endParaRPr lang="en-US" sz="1150" dirty="0"/>
          </a:p>
        </p:txBody>
      </p:sp>
      <p:sp>
        <p:nvSpPr>
          <p:cNvPr id="18" name="Shape 16"/>
          <p:cNvSpPr/>
          <p:nvPr/>
        </p:nvSpPr>
        <p:spPr>
          <a:xfrm>
            <a:off x="502920" y="2267712"/>
            <a:ext cx="365760" cy="365760"/>
          </a:xfrm>
          <a:prstGeom prst="rect">
            <a:avLst/>
          </a:prstGeom>
          <a:solidFill>
            <a:srgbClr val="EDF2F7"/>
          </a:solidFill>
          <a:ln w="12700">
            <a:solidFill>
              <a:srgbClr val="9D2706"/>
            </a:solidFill>
            <a:prstDash val="solid"/>
          </a:ln>
        </p:spPr>
      </p:sp>
      <p:sp>
        <p:nvSpPr>
          <p:cNvPr id="19" name="Text 17"/>
          <p:cNvSpPr/>
          <p:nvPr/>
        </p:nvSpPr>
        <p:spPr>
          <a:xfrm>
            <a:off x="502920" y="2313432"/>
            <a:ext cx="365760" cy="0"/>
          </a:xfrm>
          <a:prstGeom prst="rect">
            <a:avLst/>
          </a:prstGeom>
          <a:noFill/>
          <a:ln/>
        </p:spPr>
        <p:txBody>
          <a:bodyPr wrap="square" rtlCol="0" anchor="ctr"/>
          <a:lstStyle/>
          <a:p>
            <a:pPr algn="ctr" indent="0" marL="0">
              <a:buNone/>
            </a:pPr>
            <a:r>
              <a:rPr lang="en-US" sz="1200" b="1" dirty="0">
                <a:solidFill>
                  <a:srgbClr val="9D2706"/>
                </a:solidFill>
              </a:rPr>
              <a:t>2</a:t>
            </a:r>
            <a:endParaRPr lang="en-US" sz="1200" dirty="0"/>
          </a:p>
        </p:txBody>
      </p:sp>
      <p:sp>
        <p:nvSpPr>
          <p:cNvPr id="20" name="Text 18"/>
          <p:cNvSpPr/>
          <p:nvPr/>
        </p:nvSpPr>
        <p:spPr>
          <a:xfrm>
            <a:off x="1051560" y="2313432"/>
            <a:ext cx="5943600" cy="0"/>
          </a:xfrm>
          <a:prstGeom prst="rect">
            <a:avLst/>
          </a:prstGeom>
          <a:noFill/>
          <a:ln/>
        </p:spPr>
        <p:txBody>
          <a:bodyPr wrap="square" rtlCol="0" anchor="ctr"/>
          <a:lstStyle/>
          <a:p>
            <a:pPr indent="0" marL="0">
              <a:buNone/>
            </a:pPr>
            <a:r>
              <a:rPr lang="en-US" sz="1150" dirty="0">
                <a:solidFill>
                  <a:srgbClr val="2C3E50"/>
                </a:solidFill>
              </a:rPr>
              <a:t>Browser camera permissions are requested (Safari iOS / Chrome Android).</a:t>
            </a:r>
            <a:endParaRPr lang="en-US" sz="1150" dirty="0"/>
          </a:p>
        </p:txBody>
      </p:sp>
      <p:sp>
        <p:nvSpPr>
          <p:cNvPr id="21" name="Shape 19"/>
          <p:cNvSpPr/>
          <p:nvPr/>
        </p:nvSpPr>
        <p:spPr>
          <a:xfrm>
            <a:off x="502920" y="2889504"/>
            <a:ext cx="365760" cy="365760"/>
          </a:xfrm>
          <a:prstGeom prst="rect">
            <a:avLst/>
          </a:prstGeom>
          <a:solidFill>
            <a:srgbClr val="EDF2F7"/>
          </a:solidFill>
          <a:ln w="12700">
            <a:solidFill>
              <a:srgbClr val="9D2706"/>
            </a:solidFill>
            <a:prstDash val="solid"/>
          </a:ln>
        </p:spPr>
      </p:sp>
      <p:sp>
        <p:nvSpPr>
          <p:cNvPr id="22" name="Text 20"/>
          <p:cNvSpPr/>
          <p:nvPr/>
        </p:nvSpPr>
        <p:spPr>
          <a:xfrm>
            <a:off x="502920" y="2935224"/>
            <a:ext cx="365760" cy="0"/>
          </a:xfrm>
          <a:prstGeom prst="rect">
            <a:avLst/>
          </a:prstGeom>
          <a:noFill/>
          <a:ln/>
        </p:spPr>
        <p:txBody>
          <a:bodyPr wrap="square" rtlCol="0" anchor="ctr"/>
          <a:lstStyle/>
          <a:p>
            <a:pPr algn="ctr" indent="0" marL="0">
              <a:buNone/>
            </a:pPr>
            <a:r>
              <a:rPr lang="en-US" sz="1200" b="1" dirty="0">
                <a:solidFill>
                  <a:srgbClr val="9D2706"/>
                </a:solidFill>
              </a:rPr>
              <a:t>3</a:t>
            </a:r>
            <a:endParaRPr lang="en-US" sz="1200" dirty="0"/>
          </a:p>
        </p:txBody>
      </p:sp>
      <p:sp>
        <p:nvSpPr>
          <p:cNvPr id="23" name="Text 21"/>
          <p:cNvSpPr/>
          <p:nvPr/>
        </p:nvSpPr>
        <p:spPr>
          <a:xfrm>
            <a:off x="1051560" y="2935224"/>
            <a:ext cx="5943600" cy="0"/>
          </a:xfrm>
          <a:prstGeom prst="rect">
            <a:avLst/>
          </a:prstGeom>
          <a:noFill/>
          <a:ln/>
        </p:spPr>
        <p:txBody>
          <a:bodyPr wrap="square" rtlCol="0" anchor="ctr"/>
          <a:lstStyle/>
          <a:p>
            <a:pPr indent="0" marL="0">
              <a:buNone/>
            </a:pPr>
            <a:r>
              <a:rPr lang="en-US" sz="1150" dirty="0">
                <a:solidFill>
                  <a:srgbClr val="2C3E50"/>
                </a:solidFill>
              </a:rPr>
              <a:t>On-device WebXR session detects horizontal surfaces (floors/tables).</a:t>
            </a:r>
            <a:endParaRPr lang="en-US" sz="1150" dirty="0"/>
          </a:p>
        </p:txBody>
      </p:sp>
      <p:sp>
        <p:nvSpPr>
          <p:cNvPr id="24" name="Shape 22"/>
          <p:cNvSpPr/>
          <p:nvPr/>
        </p:nvSpPr>
        <p:spPr>
          <a:xfrm>
            <a:off x="502920" y="3511296"/>
            <a:ext cx="365760" cy="365760"/>
          </a:xfrm>
          <a:prstGeom prst="rect">
            <a:avLst/>
          </a:prstGeom>
          <a:solidFill>
            <a:srgbClr val="EDF2F7"/>
          </a:solidFill>
          <a:ln w="12700">
            <a:solidFill>
              <a:srgbClr val="9D2706"/>
            </a:solidFill>
            <a:prstDash val="solid"/>
          </a:ln>
        </p:spPr>
      </p:sp>
      <p:sp>
        <p:nvSpPr>
          <p:cNvPr id="25" name="Text 23"/>
          <p:cNvSpPr/>
          <p:nvPr/>
        </p:nvSpPr>
        <p:spPr>
          <a:xfrm>
            <a:off x="502920" y="3557016"/>
            <a:ext cx="365760" cy="0"/>
          </a:xfrm>
          <a:prstGeom prst="rect">
            <a:avLst/>
          </a:prstGeom>
          <a:noFill/>
          <a:ln/>
        </p:spPr>
        <p:txBody>
          <a:bodyPr wrap="square" rtlCol="0" anchor="ctr"/>
          <a:lstStyle/>
          <a:p>
            <a:pPr algn="ctr" indent="0" marL="0">
              <a:buNone/>
            </a:pPr>
            <a:r>
              <a:rPr lang="en-US" sz="1200" b="1" dirty="0">
                <a:solidFill>
                  <a:srgbClr val="9D2706"/>
                </a:solidFill>
              </a:rPr>
              <a:t>4</a:t>
            </a:r>
            <a:endParaRPr lang="en-US" sz="1200" dirty="0"/>
          </a:p>
        </p:txBody>
      </p:sp>
      <p:sp>
        <p:nvSpPr>
          <p:cNvPr id="26" name="Text 24"/>
          <p:cNvSpPr/>
          <p:nvPr/>
        </p:nvSpPr>
        <p:spPr>
          <a:xfrm>
            <a:off x="1051560" y="3557016"/>
            <a:ext cx="5943600" cy="0"/>
          </a:xfrm>
          <a:prstGeom prst="rect">
            <a:avLst/>
          </a:prstGeom>
          <a:noFill/>
          <a:ln/>
        </p:spPr>
        <p:txBody>
          <a:bodyPr wrap="square" rtlCol="0" anchor="ctr"/>
          <a:lstStyle/>
          <a:p>
            <a:pPr indent="0" marL="0">
              <a:buNone/>
            </a:pPr>
            <a:r>
              <a:rPr lang="en-US" sz="1150" dirty="0">
                <a:solidFill>
                  <a:srgbClr val="2C3E50"/>
                </a:solidFill>
              </a:rPr>
              <a:t>The 3D model (.glb file) resolves and positions at 1:1 metric scale.</a:t>
            </a:r>
            <a:endParaRPr lang="en-US" sz="1150" dirty="0"/>
          </a:p>
        </p:txBody>
      </p:sp>
      <p:sp>
        <p:nvSpPr>
          <p:cNvPr id="27" name="Shape 25"/>
          <p:cNvSpPr/>
          <p:nvPr/>
        </p:nvSpPr>
        <p:spPr>
          <a:xfrm>
            <a:off x="502920" y="4133088"/>
            <a:ext cx="365760" cy="365760"/>
          </a:xfrm>
          <a:prstGeom prst="rect">
            <a:avLst/>
          </a:prstGeom>
          <a:solidFill>
            <a:srgbClr val="EDF2F7"/>
          </a:solidFill>
          <a:ln w="12700">
            <a:solidFill>
              <a:srgbClr val="9D2706"/>
            </a:solidFill>
            <a:prstDash val="solid"/>
          </a:ln>
        </p:spPr>
      </p:sp>
      <p:sp>
        <p:nvSpPr>
          <p:cNvPr id="28" name="Text 26"/>
          <p:cNvSpPr/>
          <p:nvPr/>
        </p:nvSpPr>
        <p:spPr>
          <a:xfrm>
            <a:off x="502920" y="4178808"/>
            <a:ext cx="365760" cy="0"/>
          </a:xfrm>
          <a:prstGeom prst="rect">
            <a:avLst/>
          </a:prstGeom>
          <a:noFill/>
          <a:ln/>
        </p:spPr>
        <p:txBody>
          <a:bodyPr wrap="square" rtlCol="0" anchor="ctr"/>
          <a:lstStyle/>
          <a:p>
            <a:pPr algn="ctr" indent="0" marL="0">
              <a:buNone/>
            </a:pPr>
            <a:r>
              <a:rPr lang="en-US" sz="1200" b="1" dirty="0">
                <a:solidFill>
                  <a:srgbClr val="9D2706"/>
                </a:solidFill>
              </a:rPr>
              <a:t>5</a:t>
            </a:r>
            <a:endParaRPr lang="en-US" sz="1200" dirty="0"/>
          </a:p>
        </p:txBody>
      </p:sp>
      <p:sp>
        <p:nvSpPr>
          <p:cNvPr id="29" name="Text 27"/>
          <p:cNvSpPr/>
          <p:nvPr/>
        </p:nvSpPr>
        <p:spPr>
          <a:xfrm>
            <a:off x="1051560" y="4178808"/>
            <a:ext cx="5943600" cy="0"/>
          </a:xfrm>
          <a:prstGeom prst="rect">
            <a:avLst/>
          </a:prstGeom>
          <a:noFill/>
          <a:ln/>
        </p:spPr>
        <p:txBody>
          <a:bodyPr wrap="square" rtlCol="0" anchor="ctr"/>
          <a:lstStyle/>
          <a:p>
            <a:pPr indent="0" marL="0">
              <a:buNone/>
            </a:pPr>
            <a:r>
              <a:rPr lang="en-US" sz="1150" dirty="0">
                <a:solidFill>
                  <a:srgbClr val="2C3E50"/>
                </a:solidFill>
              </a:rPr>
              <a:t>User inspects product placement, shadows, orientation in their space.</a:t>
            </a:r>
            <a:endParaRPr lang="en-US" sz="1150" dirty="0"/>
          </a:p>
        </p:txBody>
      </p:sp>
      <p:sp>
        <p:nvSpPr>
          <p:cNvPr id="30" name="Shape 28"/>
          <p:cNvSpPr/>
          <p:nvPr/>
        </p:nvSpPr>
        <p:spPr>
          <a:xfrm>
            <a:off x="502920" y="4754880"/>
            <a:ext cx="365760" cy="365760"/>
          </a:xfrm>
          <a:prstGeom prst="rect">
            <a:avLst/>
          </a:prstGeom>
          <a:solidFill>
            <a:srgbClr val="EDF2F7"/>
          </a:solidFill>
          <a:ln w="12700">
            <a:solidFill>
              <a:srgbClr val="9D2706"/>
            </a:solidFill>
            <a:prstDash val="solid"/>
          </a:ln>
        </p:spPr>
      </p:sp>
      <p:sp>
        <p:nvSpPr>
          <p:cNvPr id="31" name="Text 29"/>
          <p:cNvSpPr/>
          <p:nvPr/>
        </p:nvSpPr>
        <p:spPr>
          <a:xfrm>
            <a:off x="502920" y="4800600"/>
            <a:ext cx="365760" cy="0"/>
          </a:xfrm>
          <a:prstGeom prst="rect">
            <a:avLst/>
          </a:prstGeom>
          <a:noFill/>
          <a:ln/>
        </p:spPr>
        <p:txBody>
          <a:bodyPr wrap="square" rtlCol="0" anchor="ctr"/>
          <a:lstStyle/>
          <a:p>
            <a:pPr algn="ctr" indent="0" marL="0">
              <a:buNone/>
            </a:pPr>
            <a:r>
              <a:rPr lang="en-US" sz="1200" b="1" dirty="0">
                <a:solidFill>
                  <a:srgbClr val="9D2706"/>
                </a:solidFill>
              </a:rPr>
              <a:t>6</a:t>
            </a:r>
            <a:endParaRPr lang="en-US" sz="1200" dirty="0"/>
          </a:p>
        </p:txBody>
      </p:sp>
      <p:sp>
        <p:nvSpPr>
          <p:cNvPr id="32" name="Text 30"/>
          <p:cNvSpPr/>
          <p:nvPr/>
        </p:nvSpPr>
        <p:spPr>
          <a:xfrm>
            <a:off x="1051560" y="4800600"/>
            <a:ext cx="5943600" cy="0"/>
          </a:xfrm>
          <a:prstGeom prst="rect">
            <a:avLst/>
          </a:prstGeom>
          <a:noFill/>
          <a:ln/>
        </p:spPr>
        <p:txBody>
          <a:bodyPr wrap="square" rtlCol="0" anchor="ctr"/>
          <a:lstStyle/>
          <a:p>
            <a:pPr indent="0" marL="0">
              <a:buNone/>
            </a:pPr>
            <a:r>
              <a:rPr lang="en-US" sz="1150" dirty="0">
                <a:solidFill>
                  <a:srgbClr val="2C3E50"/>
                </a:solidFill>
              </a:rPr>
              <a:t>Configurations swap instantly in the AR scene if the user toggles options.</a:t>
            </a:r>
            <a:endParaRPr lang="en-US" sz="1150" dirty="0"/>
          </a:p>
        </p:txBody>
      </p:sp>
      <p:sp>
        <p:nvSpPr>
          <p:cNvPr id="33" name="Shape 31"/>
          <p:cNvSpPr/>
          <p:nvPr/>
        </p:nvSpPr>
        <p:spPr>
          <a:xfrm>
            <a:off x="502920" y="5440680"/>
            <a:ext cx="6492240" cy="502920"/>
          </a:xfrm>
          <a:prstGeom prst="rect">
            <a:avLst/>
          </a:prstGeom>
          <a:solidFill>
            <a:srgbClr val="FFFFFF"/>
          </a:solidFill>
          <a:ln w="12700">
            <a:solidFill>
              <a:srgbClr val="E2E8F0"/>
            </a:solidFill>
            <a:prstDash val="solid"/>
          </a:ln>
        </p:spPr>
      </p:sp>
      <p:sp>
        <p:nvSpPr>
          <p:cNvPr id="34" name="Text 32"/>
          <p:cNvSpPr/>
          <p:nvPr/>
        </p:nvSpPr>
        <p:spPr>
          <a:xfrm>
            <a:off x="640080" y="5504688"/>
            <a:ext cx="6217920" cy="0"/>
          </a:xfrm>
          <a:prstGeom prst="rect">
            <a:avLst/>
          </a:prstGeom>
          <a:noFill/>
          <a:ln/>
        </p:spPr>
        <p:txBody>
          <a:bodyPr wrap="square" rtlCol="0" anchor="ctr"/>
          <a:lstStyle/>
          <a:p>
            <a:pPr indent="0" marL="0">
              <a:buNone/>
            </a:pPr>
            <a:r>
              <a:rPr lang="en-US" sz="1100" b="1" dirty="0">
                <a:solidFill>
                  <a:srgbClr val="9D2706"/>
                </a:solidFill>
              </a:rPr>
              <a:t>✅  Best for: Furniture, Rugs, Tableware, Floor Lamps, Large Appliances</a:t>
            </a:r>
            <a:endParaRPr lang="en-US" sz="1100" dirty="0"/>
          </a:p>
        </p:txBody>
      </p:sp>
      <p:sp>
        <p:nvSpPr>
          <p:cNvPr id="35" name="Shape 33"/>
          <p:cNvSpPr/>
          <p:nvPr/>
        </p:nvSpPr>
        <p:spPr>
          <a:xfrm>
            <a:off x="7406640" y="960120"/>
            <a:ext cx="4663440" cy="5257800"/>
          </a:xfrm>
          <a:prstGeom prst="rect">
            <a:avLst/>
          </a:prstGeom>
          <a:solidFill>
            <a:srgbClr val="FFFFFF"/>
          </a:solidFill>
          <a:ln w="12700">
            <a:solidFill>
              <a:srgbClr val="E2E8F0"/>
            </a:solidFill>
            <a:prstDash val="solid"/>
          </a:ln>
        </p:spPr>
      </p:sp>
      <p:sp>
        <p:nvSpPr>
          <p:cNvPr id="36" name="Shape 34"/>
          <p:cNvSpPr/>
          <p:nvPr/>
        </p:nvSpPr>
        <p:spPr>
          <a:xfrm>
            <a:off x="7406640" y="960120"/>
            <a:ext cx="4663440" cy="502920"/>
          </a:xfrm>
          <a:prstGeom prst="rect">
            <a:avLst/>
          </a:prstGeom>
          <a:solidFill>
            <a:srgbClr val="EDF2F7"/>
          </a:solidFill>
          <a:ln/>
        </p:spPr>
      </p:sp>
      <p:sp>
        <p:nvSpPr>
          <p:cNvPr id="37" name="Shape 35"/>
          <p:cNvSpPr/>
          <p:nvPr/>
        </p:nvSpPr>
        <p:spPr>
          <a:xfrm>
            <a:off x="7406640" y="960120"/>
            <a:ext cx="64008" cy="5257800"/>
          </a:xfrm>
          <a:prstGeom prst="rect">
            <a:avLst/>
          </a:prstGeom>
          <a:solidFill>
            <a:srgbClr val="9D2706"/>
          </a:solidFill>
          <a:ln/>
        </p:spPr>
      </p:sp>
      <p:sp>
        <p:nvSpPr>
          <p:cNvPr id="38" name="Text 36"/>
          <p:cNvSpPr/>
          <p:nvPr/>
        </p:nvSpPr>
        <p:spPr>
          <a:xfrm>
            <a:off x="7635240" y="1024128"/>
            <a:ext cx="4297680" cy="0"/>
          </a:xfrm>
          <a:prstGeom prst="rect">
            <a:avLst/>
          </a:prstGeom>
          <a:noFill/>
          <a:ln/>
        </p:spPr>
        <p:txBody>
          <a:bodyPr wrap="square" rtlCol="0" anchor="ctr"/>
          <a:lstStyle/>
          <a:p>
            <a:pPr indent="0" marL="0">
              <a:buNone/>
            </a:pPr>
            <a:r>
              <a:rPr lang="en-US" sz="1350" b="1" dirty="0">
                <a:solidFill>
                  <a:srgbClr val="2C3E50"/>
                </a:solidFill>
              </a:rPr>
              <a:t>⚙️  Technology Engine</a:t>
            </a:r>
            <a:endParaRPr lang="en-US" sz="1350" dirty="0"/>
          </a:p>
        </p:txBody>
      </p:sp>
      <p:sp>
        <p:nvSpPr>
          <p:cNvPr id="39" name="Shape 37"/>
          <p:cNvSpPr/>
          <p:nvPr/>
        </p:nvSpPr>
        <p:spPr>
          <a:xfrm>
            <a:off x="7543800" y="1645920"/>
            <a:ext cx="54864" cy="640080"/>
          </a:xfrm>
          <a:prstGeom prst="rect">
            <a:avLst/>
          </a:prstGeom>
          <a:solidFill>
            <a:srgbClr val="9D2706"/>
          </a:solidFill>
          <a:ln/>
        </p:spPr>
      </p:sp>
      <p:sp>
        <p:nvSpPr>
          <p:cNvPr id="40" name="Text 38"/>
          <p:cNvSpPr/>
          <p:nvPr/>
        </p:nvSpPr>
        <p:spPr>
          <a:xfrm>
            <a:off x="7726680" y="1691640"/>
            <a:ext cx="4206240" cy="0"/>
          </a:xfrm>
          <a:prstGeom prst="rect">
            <a:avLst/>
          </a:prstGeom>
          <a:noFill/>
          <a:ln/>
        </p:spPr>
        <p:txBody>
          <a:bodyPr wrap="square" rtlCol="0" anchor="ctr"/>
          <a:lstStyle/>
          <a:p>
            <a:pPr indent="0" marL="0">
              <a:buNone/>
            </a:pPr>
            <a:r>
              <a:rPr lang="en-US" sz="1200" b="1" dirty="0">
                <a:solidFill>
                  <a:srgbClr val="2C3E50"/>
                </a:solidFill>
              </a:rPr>
              <a:t>WebXR Device API</a:t>
            </a:r>
            <a:endParaRPr lang="en-US" sz="1200" dirty="0"/>
          </a:p>
        </p:txBody>
      </p:sp>
      <p:sp>
        <p:nvSpPr>
          <p:cNvPr id="41" name="Text 39"/>
          <p:cNvSpPr/>
          <p:nvPr/>
        </p:nvSpPr>
        <p:spPr>
          <a:xfrm>
            <a:off x="7726680" y="1938528"/>
            <a:ext cx="4206240" cy="0"/>
          </a:xfrm>
          <a:prstGeom prst="rect">
            <a:avLst/>
          </a:prstGeom>
          <a:noFill/>
          <a:ln/>
        </p:spPr>
        <p:txBody>
          <a:bodyPr wrap="square" rtlCol="0" anchor="ctr"/>
          <a:lstStyle/>
          <a:p>
            <a:pPr indent="0" marL="0">
              <a:buNone/>
            </a:pPr>
            <a:r>
              <a:rPr lang="en-US" sz="1050" dirty="0">
                <a:solidFill>
                  <a:srgbClr val="5A6B7C"/>
                </a:solidFill>
              </a:rPr>
              <a:t>Standard web specs for AR hardware integration without native apps.</a:t>
            </a:r>
            <a:endParaRPr lang="en-US" sz="1050" dirty="0"/>
          </a:p>
        </p:txBody>
      </p:sp>
      <p:sp>
        <p:nvSpPr>
          <p:cNvPr id="42" name="Shape 40"/>
          <p:cNvSpPr/>
          <p:nvPr/>
        </p:nvSpPr>
        <p:spPr>
          <a:xfrm>
            <a:off x="7543800" y="2468880"/>
            <a:ext cx="54864" cy="640080"/>
          </a:xfrm>
          <a:prstGeom prst="rect">
            <a:avLst/>
          </a:prstGeom>
          <a:solidFill>
            <a:srgbClr val="9D2706"/>
          </a:solidFill>
          <a:ln/>
        </p:spPr>
      </p:sp>
      <p:sp>
        <p:nvSpPr>
          <p:cNvPr id="43" name="Text 41"/>
          <p:cNvSpPr/>
          <p:nvPr/>
        </p:nvSpPr>
        <p:spPr>
          <a:xfrm>
            <a:off x="7726680" y="2514600"/>
            <a:ext cx="4206240" cy="0"/>
          </a:xfrm>
          <a:prstGeom prst="rect">
            <a:avLst/>
          </a:prstGeom>
          <a:noFill/>
          <a:ln/>
        </p:spPr>
        <p:txBody>
          <a:bodyPr wrap="square" rtlCol="0" anchor="ctr"/>
          <a:lstStyle/>
          <a:p>
            <a:pPr indent="0" marL="0">
              <a:buNone/>
            </a:pPr>
            <a:r>
              <a:rPr lang="en-US" sz="1200" b="1" dirty="0">
                <a:solidFill>
                  <a:srgbClr val="2C3E50"/>
                </a:solidFill>
              </a:rPr>
              <a:t>Three.js</a:t>
            </a:r>
            <a:endParaRPr lang="en-US" sz="1200" dirty="0"/>
          </a:p>
        </p:txBody>
      </p:sp>
      <p:sp>
        <p:nvSpPr>
          <p:cNvPr id="44" name="Text 42"/>
          <p:cNvSpPr/>
          <p:nvPr/>
        </p:nvSpPr>
        <p:spPr>
          <a:xfrm>
            <a:off x="7726680" y="2761488"/>
            <a:ext cx="4206240" cy="0"/>
          </a:xfrm>
          <a:prstGeom prst="rect">
            <a:avLst/>
          </a:prstGeom>
          <a:noFill/>
          <a:ln/>
        </p:spPr>
        <p:txBody>
          <a:bodyPr wrap="square" rtlCol="0" anchor="ctr"/>
          <a:lstStyle/>
          <a:p>
            <a:pPr indent="0" marL="0">
              <a:buNone/>
            </a:pPr>
            <a:r>
              <a:rPr lang="en-US" sz="1050" dirty="0">
                <a:solidFill>
                  <a:srgbClr val="5A6B7C"/>
                </a:solidFill>
              </a:rPr>
              <a:t>WebGL graphics wrapper managing projection grids and shadows.</a:t>
            </a:r>
            <a:endParaRPr lang="en-US" sz="1050" dirty="0"/>
          </a:p>
        </p:txBody>
      </p:sp>
      <p:sp>
        <p:nvSpPr>
          <p:cNvPr id="45" name="Shape 43"/>
          <p:cNvSpPr/>
          <p:nvPr/>
        </p:nvSpPr>
        <p:spPr>
          <a:xfrm>
            <a:off x="7543800" y="3291840"/>
            <a:ext cx="54864" cy="640080"/>
          </a:xfrm>
          <a:prstGeom prst="rect">
            <a:avLst/>
          </a:prstGeom>
          <a:solidFill>
            <a:srgbClr val="9D2706"/>
          </a:solidFill>
          <a:ln/>
        </p:spPr>
      </p:sp>
      <p:sp>
        <p:nvSpPr>
          <p:cNvPr id="46" name="Text 44"/>
          <p:cNvSpPr/>
          <p:nvPr/>
        </p:nvSpPr>
        <p:spPr>
          <a:xfrm>
            <a:off x="7726680" y="3337560"/>
            <a:ext cx="4206240" cy="0"/>
          </a:xfrm>
          <a:prstGeom prst="rect">
            <a:avLst/>
          </a:prstGeom>
          <a:noFill/>
          <a:ln/>
        </p:spPr>
        <p:txBody>
          <a:bodyPr wrap="square" rtlCol="0" anchor="ctr"/>
          <a:lstStyle/>
          <a:p>
            <a:pPr indent="0" marL="0">
              <a:buNone/>
            </a:pPr>
            <a:r>
              <a:rPr lang="en-US" sz="1200" b="1" dirty="0">
                <a:solidFill>
                  <a:srgbClr val="2C3E50"/>
                </a:solidFill>
              </a:rPr>
              <a:t>glTF / GLB Format</a:t>
            </a:r>
            <a:endParaRPr lang="en-US" sz="1200" dirty="0"/>
          </a:p>
        </p:txBody>
      </p:sp>
      <p:sp>
        <p:nvSpPr>
          <p:cNvPr id="47" name="Text 45"/>
          <p:cNvSpPr/>
          <p:nvPr/>
        </p:nvSpPr>
        <p:spPr>
          <a:xfrm>
            <a:off x="7726680" y="3584448"/>
            <a:ext cx="4206240" cy="0"/>
          </a:xfrm>
          <a:prstGeom prst="rect">
            <a:avLst/>
          </a:prstGeom>
          <a:noFill/>
          <a:ln/>
        </p:spPr>
        <p:txBody>
          <a:bodyPr wrap="square" rtlCol="0" anchor="ctr"/>
          <a:lstStyle/>
          <a:p>
            <a:pPr indent="0" marL="0">
              <a:buNone/>
            </a:pPr>
            <a:r>
              <a:rPr lang="en-US" sz="1050" dirty="0">
                <a:solidFill>
                  <a:srgbClr val="5A6B7C"/>
                </a:solidFill>
              </a:rPr>
              <a:t>Highly efficient, compressed transmission format for 3D web delivery.</a:t>
            </a:r>
            <a:endParaRPr lang="en-US" sz="1050" dirty="0"/>
          </a:p>
        </p:txBody>
      </p:sp>
      <p:sp>
        <p:nvSpPr>
          <p:cNvPr id="48" name="Shape 46"/>
          <p:cNvSpPr/>
          <p:nvPr/>
        </p:nvSpPr>
        <p:spPr>
          <a:xfrm>
            <a:off x="7543800" y="4114800"/>
            <a:ext cx="54864" cy="640080"/>
          </a:xfrm>
          <a:prstGeom prst="rect">
            <a:avLst/>
          </a:prstGeom>
          <a:solidFill>
            <a:srgbClr val="9D2706"/>
          </a:solidFill>
          <a:ln/>
        </p:spPr>
      </p:sp>
      <p:sp>
        <p:nvSpPr>
          <p:cNvPr id="49" name="Text 47"/>
          <p:cNvSpPr/>
          <p:nvPr/>
        </p:nvSpPr>
        <p:spPr>
          <a:xfrm>
            <a:off x="7726680" y="4160520"/>
            <a:ext cx="4206240" cy="0"/>
          </a:xfrm>
          <a:prstGeom prst="rect">
            <a:avLst/>
          </a:prstGeom>
          <a:noFill/>
          <a:ln/>
        </p:spPr>
        <p:txBody>
          <a:bodyPr wrap="square" rtlCol="0" anchor="ctr"/>
          <a:lstStyle/>
          <a:p>
            <a:pPr indent="0" marL="0">
              <a:buNone/>
            </a:pPr>
            <a:r>
              <a:rPr lang="en-US" sz="1200" b="1" dirty="0">
                <a:solidFill>
                  <a:srgbClr val="2C3E50"/>
                </a:solidFill>
              </a:rPr>
              <a:t>Apple USDZ format</a:t>
            </a:r>
            <a:endParaRPr lang="en-US" sz="1200" dirty="0"/>
          </a:p>
        </p:txBody>
      </p:sp>
      <p:sp>
        <p:nvSpPr>
          <p:cNvPr id="50" name="Text 48"/>
          <p:cNvSpPr/>
          <p:nvPr/>
        </p:nvSpPr>
        <p:spPr>
          <a:xfrm>
            <a:off x="7726680" y="4407408"/>
            <a:ext cx="4206240" cy="0"/>
          </a:xfrm>
          <a:prstGeom prst="rect">
            <a:avLst/>
          </a:prstGeom>
          <a:noFill/>
          <a:ln/>
        </p:spPr>
        <p:txBody>
          <a:bodyPr wrap="square" rtlCol="0" anchor="ctr"/>
          <a:lstStyle/>
          <a:p>
            <a:pPr indent="0" marL="0">
              <a:buNone/>
            </a:pPr>
            <a:r>
              <a:rPr lang="en-US" sz="1050" dirty="0">
                <a:solidFill>
                  <a:srgbClr val="5A6B7C"/>
                </a:solidFill>
              </a:rPr>
              <a:t>Quick Look model bridge for iOS integrations (native AR Quick Look).</a:t>
            </a:r>
            <a:endParaRPr lang="en-US" sz="1050" dirty="0"/>
          </a:p>
        </p:txBody>
      </p:sp>
      <p:sp>
        <p:nvSpPr>
          <p:cNvPr id="51" name="Shape 49"/>
          <p:cNvSpPr/>
          <p:nvPr/>
        </p:nvSpPr>
        <p:spPr>
          <a:xfrm>
            <a:off x="7543800" y="4937760"/>
            <a:ext cx="54864" cy="640080"/>
          </a:xfrm>
          <a:prstGeom prst="rect">
            <a:avLst/>
          </a:prstGeom>
          <a:solidFill>
            <a:srgbClr val="9D2706"/>
          </a:solidFill>
          <a:ln/>
        </p:spPr>
      </p:sp>
      <p:sp>
        <p:nvSpPr>
          <p:cNvPr id="52" name="Text 50"/>
          <p:cNvSpPr/>
          <p:nvPr/>
        </p:nvSpPr>
        <p:spPr>
          <a:xfrm>
            <a:off x="7726680" y="4983480"/>
            <a:ext cx="4206240" cy="0"/>
          </a:xfrm>
          <a:prstGeom prst="rect">
            <a:avLst/>
          </a:prstGeom>
          <a:noFill/>
          <a:ln/>
        </p:spPr>
        <p:txBody>
          <a:bodyPr wrap="square" rtlCol="0" anchor="ctr"/>
          <a:lstStyle/>
          <a:p>
            <a:pPr indent="0" marL="0">
              <a:buNone/>
            </a:pPr>
            <a:r>
              <a:rPr lang="en-US" sz="1200" b="1" dirty="0">
                <a:solidFill>
                  <a:srgbClr val="2C3E50"/>
                </a:solidFill>
              </a:rPr>
              <a:t>Mesh Draco Comp.</a:t>
            </a:r>
            <a:endParaRPr lang="en-US" sz="1200" dirty="0"/>
          </a:p>
        </p:txBody>
      </p:sp>
      <p:sp>
        <p:nvSpPr>
          <p:cNvPr id="53" name="Text 51"/>
          <p:cNvSpPr/>
          <p:nvPr/>
        </p:nvSpPr>
        <p:spPr>
          <a:xfrm>
            <a:off x="7726680" y="5230368"/>
            <a:ext cx="4206240" cy="0"/>
          </a:xfrm>
          <a:prstGeom prst="rect">
            <a:avLst/>
          </a:prstGeom>
          <a:noFill/>
          <a:ln/>
        </p:spPr>
        <p:txBody>
          <a:bodyPr wrap="square" rtlCol="0" anchor="ctr"/>
          <a:lstStyle/>
          <a:p>
            <a:pPr indent="0" marL="0">
              <a:buNone/>
            </a:pPr>
            <a:r>
              <a:rPr lang="en-US" sz="1050" dirty="0">
                <a:solidFill>
                  <a:srgbClr val="5A6B7C"/>
                </a:solidFill>
              </a:rPr>
              <a:t>Decompresses geometry dynamically, preserving page speed KPIs.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AR Experience 2: Virtual Try-On (VTO)</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Camera-overlay AR with on-device computer vision.</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960120"/>
            <a:ext cx="6858000" cy="5257800"/>
          </a:xfrm>
          <a:prstGeom prst="rect">
            <a:avLst/>
          </a:prstGeom>
          <a:solidFill>
            <a:srgbClr val="FFFFFF"/>
          </a:solidFill>
          <a:ln w="12700">
            <a:solidFill>
              <a:srgbClr val="E2E8F0"/>
            </a:solidFill>
            <a:prstDash val="solid"/>
          </a:ln>
        </p:spPr>
      </p:sp>
      <p:sp>
        <p:nvSpPr>
          <p:cNvPr id="12" name="Shape 10"/>
          <p:cNvSpPr/>
          <p:nvPr/>
        </p:nvSpPr>
        <p:spPr>
          <a:xfrm>
            <a:off x="320040" y="960120"/>
            <a:ext cx="6858000" cy="502920"/>
          </a:xfrm>
          <a:prstGeom prst="rect">
            <a:avLst/>
          </a:prstGeom>
          <a:solidFill>
            <a:srgbClr val="EDF2F7"/>
          </a:solidFill>
          <a:ln/>
        </p:spPr>
      </p:sp>
      <p:sp>
        <p:nvSpPr>
          <p:cNvPr id="13" name="Shape 11"/>
          <p:cNvSpPr/>
          <p:nvPr/>
        </p:nvSpPr>
        <p:spPr>
          <a:xfrm>
            <a:off x="320040" y="960120"/>
            <a:ext cx="64008" cy="5257800"/>
          </a:xfrm>
          <a:prstGeom prst="rect">
            <a:avLst/>
          </a:prstGeom>
          <a:solidFill>
            <a:srgbClr val="9D2706"/>
          </a:solidFill>
          <a:ln/>
        </p:spPr>
      </p:sp>
      <p:sp>
        <p:nvSpPr>
          <p:cNvPr id="14" name="Text 12"/>
          <p:cNvSpPr/>
          <p:nvPr/>
        </p:nvSpPr>
        <p:spPr>
          <a:xfrm>
            <a:off x="548640" y="1024128"/>
            <a:ext cx="6309360" cy="0"/>
          </a:xfrm>
          <a:prstGeom prst="rect">
            <a:avLst/>
          </a:prstGeom>
          <a:noFill/>
          <a:ln/>
        </p:spPr>
        <p:txBody>
          <a:bodyPr wrap="square" rtlCol="0" anchor="ctr"/>
          <a:lstStyle/>
          <a:p>
            <a:pPr indent="0" marL="0">
              <a:buNone/>
            </a:pPr>
            <a:r>
              <a:rPr lang="en-US" sz="1350" b="1" dirty="0">
                <a:solidFill>
                  <a:srgbClr val="2C3E50"/>
                </a:solidFill>
              </a:rPr>
              <a:t>👟  Virtual Try-On (VTO) Camera Pipeline</a:t>
            </a:r>
            <a:endParaRPr lang="en-US" sz="1350" dirty="0"/>
          </a:p>
        </p:txBody>
      </p:sp>
      <p:sp>
        <p:nvSpPr>
          <p:cNvPr id="15" name="Shape 13"/>
          <p:cNvSpPr/>
          <p:nvPr/>
        </p:nvSpPr>
        <p:spPr>
          <a:xfrm>
            <a:off x="502920" y="1645920"/>
            <a:ext cx="365760" cy="365760"/>
          </a:xfrm>
          <a:prstGeom prst="rect">
            <a:avLst/>
          </a:prstGeom>
          <a:solidFill>
            <a:srgbClr val="EDF2F7"/>
          </a:solidFill>
          <a:ln w="12700">
            <a:solidFill>
              <a:srgbClr val="9D2706"/>
            </a:solidFill>
            <a:prstDash val="solid"/>
          </a:ln>
        </p:spPr>
      </p:sp>
      <p:sp>
        <p:nvSpPr>
          <p:cNvPr id="16" name="Text 14"/>
          <p:cNvSpPr/>
          <p:nvPr/>
        </p:nvSpPr>
        <p:spPr>
          <a:xfrm>
            <a:off x="502920" y="1691640"/>
            <a:ext cx="365760" cy="0"/>
          </a:xfrm>
          <a:prstGeom prst="rect">
            <a:avLst/>
          </a:prstGeom>
          <a:noFill/>
          <a:ln/>
        </p:spPr>
        <p:txBody>
          <a:bodyPr wrap="square" rtlCol="0" anchor="ctr"/>
          <a:lstStyle/>
          <a:p>
            <a:pPr algn="ctr" indent="0" marL="0">
              <a:buNone/>
            </a:pPr>
            <a:r>
              <a:rPr lang="en-US" sz="1200" b="1" dirty="0">
                <a:solidFill>
                  <a:srgbClr val="9D2706"/>
                </a:solidFill>
              </a:rPr>
              <a:t>1</a:t>
            </a:r>
            <a:endParaRPr lang="en-US" sz="1200" dirty="0"/>
          </a:p>
        </p:txBody>
      </p:sp>
      <p:sp>
        <p:nvSpPr>
          <p:cNvPr id="17" name="Text 15"/>
          <p:cNvSpPr/>
          <p:nvPr/>
        </p:nvSpPr>
        <p:spPr>
          <a:xfrm>
            <a:off x="1051560" y="1691640"/>
            <a:ext cx="5943600" cy="0"/>
          </a:xfrm>
          <a:prstGeom prst="rect">
            <a:avLst/>
          </a:prstGeom>
          <a:noFill/>
          <a:ln/>
        </p:spPr>
        <p:txBody>
          <a:bodyPr wrap="square" rtlCol="0" anchor="ctr"/>
          <a:lstStyle/>
          <a:p>
            <a:pPr indent="0" marL="0">
              <a:buNone/>
            </a:pPr>
            <a:r>
              <a:rPr lang="en-US" sz="1150" dirty="0">
                <a:solidFill>
                  <a:srgbClr val="2C3E50"/>
                </a:solidFill>
              </a:rPr>
              <a:t>Shopper enables frontend camera stream access via WebRTC.</a:t>
            </a:r>
            <a:endParaRPr lang="en-US" sz="1150" dirty="0"/>
          </a:p>
        </p:txBody>
      </p:sp>
      <p:sp>
        <p:nvSpPr>
          <p:cNvPr id="18" name="Shape 16"/>
          <p:cNvSpPr/>
          <p:nvPr/>
        </p:nvSpPr>
        <p:spPr>
          <a:xfrm>
            <a:off x="502920" y="2377440"/>
            <a:ext cx="365760" cy="365760"/>
          </a:xfrm>
          <a:prstGeom prst="rect">
            <a:avLst/>
          </a:prstGeom>
          <a:solidFill>
            <a:srgbClr val="EDF2F7"/>
          </a:solidFill>
          <a:ln w="12700">
            <a:solidFill>
              <a:srgbClr val="9D2706"/>
            </a:solidFill>
            <a:prstDash val="solid"/>
          </a:ln>
        </p:spPr>
      </p:sp>
      <p:sp>
        <p:nvSpPr>
          <p:cNvPr id="19" name="Text 17"/>
          <p:cNvSpPr/>
          <p:nvPr/>
        </p:nvSpPr>
        <p:spPr>
          <a:xfrm>
            <a:off x="502920" y="2423160"/>
            <a:ext cx="365760" cy="0"/>
          </a:xfrm>
          <a:prstGeom prst="rect">
            <a:avLst/>
          </a:prstGeom>
          <a:noFill/>
          <a:ln/>
        </p:spPr>
        <p:txBody>
          <a:bodyPr wrap="square" rtlCol="0" anchor="ctr"/>
          <a:lstStyle/>
          <a:p>
            <a:pPr algn="ctr" indent="0" marL="0">
              <a:buNone/>
            </a:pPr>
            <a:r>
              <a:rPr lang="en-US" sz="1200" b="1" dirty="0">
                <a:solidFill>
                  <a:srgbClr val="9D2706"/>
                </a:solidFill>
              </a:rPr>
              <a:t>2</a:t>
            </a:r>
            <a:endParaRPr lang="en-US" sz="1200" dirty="0"/>
          </a:p>
        </p:txBody>
      </p:sp>
      <p:sp>
        <p:nvSpPr>
          <p:cNvPr id="20" name="Text 18"/>
          <p:cNvSpPr/>
          <p:nvPr/>
        </p:nvSpPr>
        <p:spPr>
          <a:xfrm>
            <a:off x="1051560" y="2423160"/>
            <a:ext cx="5943600" cy="0"/>
          </a:xfrm>
          <a:prstGeom prst="rect">
            <a:avLst/>
          </a:prstGeom>
          <a:noFill/>
          <a:ln/>
        </p:spPr>
        <p:txBody>
          <a:bodyPr wrap="square" rtlCol="0" anchor="ctr"/>
          <a:lstStyle/>
          <a:p>
            <a:pPr indent="0" marL="0">
              <a:buNone/>
            </a:pPr>
            <a:r>
              <a:rPr lang="en-US" sz="1150" dirty="0">
                <a:solidFill>
                  <a:srgbClr val="2C3E50"/>
                </a:solidFill>
              </a:rPr>
              <a:t>TensorFlow.js executes pipeline inference inside browser sandbox.</a:t>
            </a:r>
            <a:endParaRPr lang="en-US" sz="1150" dirty="0"/>
          </a:p>
        </p:txBody>
      </p:sp>
      <p:sp>
        <p:nvSpPr>
          <p:cNvPr id="21" name="Shape 19"/>
          <p:cNvSpPr/>
          <p:nvPr/>
        </p:nvSpPr>
        <p:spPr>
          <a:xfrm>
            <a:off x="502920" y="3108960"/>
            <a:ext cx="365760" cy="365760"/>
          </a:xfrm>
          <a:prstGeom prst="rect">
            <a:avLst/>
          </a:prstGeom>
          <a:solidFill>
            <a:srgbClr val="EDF2F7"/>
          </a:solidFill>
          <a:ln w="12700">
            <a:solidFill>
              <a:srgbClr val="9D2706"/>
            </a:solidFill>
            <a:prstDash val="solid"/>
          </a:ln>
        </p:spPr>
      </p:sp>
      <p:sp>
        <p:nvSpPr>
          <p:cNvPr id="22" name="Text 20"/>
          <p:cNvSpPr/>
          <p:nvPr/>
        </p:nvSpPr>
        <p:spPr>
          <a:xfrm>
            <a:off x="502920" y="3154680"/>
            <a:ext cx="365760" cy="0"/>
          </a:xfrm>
          <a:prstGeom prst="rect">
            <a:avLst/>
          </a:prstGeom>
          <a:noFill/>
          <a:ln/>
        </p:spPr>
        <p:txBody>
          <a:bodyPr wrap="square" rtlCol="0" anchor="ctr"/>
          <a:lstStyle/>
          <a:p>
            <a:pPr algn="ctr" indent="0" marL="0">
              <a:buNone/>
            </a:pPr>
            <a:r>
              <a:rPr lang="en-US" sz="1200" b="1" dirty="0">
                <a:solidFill>
                  <a:srgbClr val="9D2706"/>
                </a:solidFill>
              </a:rPr>
              <a:t>3</a:t>
            </a:r>
            <a:endParaRPr lang="en-US" sz="1200" dirty="0"/>
          </a:p>
        </p:txBody>
      </p:sp>
      <p:sp>
        <p:nvSpPr>
          <p:cNvPr id="23" name="Text 21"/>
          <p:cNvSpPr/>
          <p:nvPr/>
        </p:nvSpPr>
        <p:spPr>
          <a:xfrm>
            <a:off x="1051560" y="3154680"/>
            <a:ext cx="5943600" cy="0"/>
          </a:xfrm>
          <a:prstGeom prst="rect">
            <a:avLst/>
          </a:prstGeom>
          <a:noFill/>
          <a:ln/>
        </p:spPr>
        <p:txBody>
          <a:bodyPr wrap="square" rtlCol="0" anchor="ctr"/>
          <a:lstStyle/>
          <a:p>
            <a:pPr indent="0" marL="0">
              <a:buNone/>
            </a:pPr>
            <a:r>
              <a:rPr lang="en-US" sz="1150" dirty="0">
                <a:solidFill>
                  <a:srgbClr val="2C3E50"/>
                </a:solidFill>
              </a:rPr>
              <a:t>Google MediaPipe framework locates key skeleton tracking landmarks.</a:t>
            </a:r>
            <a:endParaRPr lang="en-US" sz="1150" dirty="0"/>
          </a:p>
        </p:txBody>
      </p:sp>
      <p:sp>
        <p:nvSpPr>
          <p:cNvPr id="24" name="Shape 22"/>
          <p:cNvSpPr/>
          <p:nvPr/>
        </p:nvSpPr>
        <p:spPr>
          <a:xfrm>
            <a:off x="502920" y="3840480"/>
            <a:ext cx="365760" cy="365760"/>
          </a:xfrm>
          <a:prstGeom prst="rect">
            <a:avLst/>
          </a:prstGeom>
          <a:solidFill>
            <a:srgbClr val="EDF2F7"/>
          </a:solidFill>
          <a:ln w="12700">
            <a:solidFill>
              <a:srgbClr val="9D2706"/>
            </a:solidFill>
            <a:prstDash val="solid"/>
          </a:ln>
        </p:spPr>
      </p:sp>
      <p:sp>
        <p:nvSpPr>
          <p:cNvPr id="25" name="Text 23"/>
          <p:cNvSpPr/>
          <p:nvPr/>
        </p:nvSpPr>
        <p:spPr>
          <a:xfrm>
            <a:off x="502920" y="3886200"/>
            <a:ext cx="365760" cy="0"/>
          </a:xfrm>
          <a:prstGeom prst="rect">
            <a:avLst/>
          </a:prstGeom>
          <a:noFill/>
          <a:ln/>
        </p:spPr>
        <p:txBody>
          <a:bodyPr wrap="square" rtlCol="0" anchor="ctr"/>
          <a:lstStyle/>
          <a:p>
            <a:pPr algn="ctr" indent="0" marL="0">
              <a:buNone/>
            </a:pPr>
            <a:r>
              <a:rPr lang="en-US" sz="1200" b="1" dirty="0">
                <a:solidFill>
                  <a:srgbClr val="9D2706"/>
                </a:solidFill>
              </a:rPr>
              <a:t>4</a:t>
            </a:r>
            <a:endParaRPr lang="en-US" sz="1200" dirty="0"/>
          </a:p>
        </p:txBody>
      </p:sp>
      <p:sp>
        <p:nvSpPr>
          <p:cNvPr id="26" name="Text 24"/>
          <p:cNvSpPr/>
          <p:nvPr/>
        </p:nvSpPr>
        <p:spPr>
          <a:xfrm>
            <a:off x="1051560" y="3886200"/>
            <a:ext cx="5943600" cy="0"/>
          </a:xfrm>
          <a:prstGeom prst="rect">
            <a:avLst/>
          </a:prstGeom>
          <a:noFill/>
          <a:ln/>
        </p:spPr>
        <p:txBody>
          <a:bodyPr wrap="square" rtlCol="0" anchor="ctr"/>
          <a:lstStyle/>
          <a:p>
            <a:pPr indent="0" marL="0">
              <a:buNone/>
            </a:pPr>
            <a:r>
              <a:rPr lang="en-US" sz="1150" dirty="0">
                <a:solidFill>
                  <a:srgbClr val="2C3E50"/>
                </a:solidFill>
              </a:rPr>
              <a:t>3D bounding boxes wrap detected joints (e.g. feet, wrists, face).</a:t>
            </a:r>
            <a:endParaRPr lang="en-US" sz="1150" dirty="0"/>
          </a:p>
        </p:txBody>
      </p:sp>
      <p:sp>
        <p:nvSpPr>
          <p:cNvPr id="27" name="Shape 25"/>
          <p:cNvSpPr/>
          <p:nvPr/>
        </p:nvSpPr>
        <p:spPr>
          <a:xfrm>
            <a:off x="502920" y="4572000"/>
            <a:ext cx="365760" cy="365760"/>
          </a:xfrm>
          <a:prstGeom prst="rect">
            <a:avLst/>
          </a:prstGeom>
          <a:solidFill>
            <a:srgbClr val="EDF2F7"/>
          </a:solidFill>
          <a:ln w="12700">
            <a:solidFill>
              <a:srgbClr val="9D2706"/>
            </a:solidFill>
            <a:prstDash val="solid"/>
          </a:ln>
        </p:spPr>
      </p:sp>
      <p:sp>
        <p:nvSpPr>
          <p:cNvPr id="28" name="Text 26"/>
          <p:cNvSpPr/>
          <p:nvPr/>
        </p:nvSpPr>
        <p:spPr>
          <a:xfrm>
            <a:off x="502920" y="4617720"/>
            <a:ext cx="365760" cy="0"/>
          </a:xfrm>
          <a:prstGeom prst="rect">
            <a:avLst/>
          </a:prstGeom>
          <a:noFill/>
          <a:ln/>
        </p:spPr>
        <p:txBody>
          <a:bodyPr wrap="square" rtlCol="0" anchor="ctr"/>
          <a:lstStyle/>
          <a:p>
            <a:pPr algn="ctr" indent="0" marL="0">
              <a:buNone/>
            </a:pPr>
            <a:r>
              <a:rPr lang="en-US" sz="1200" b="1" dirty="0">
                <a:solidFill>
                  <a:srgbClr val="9D2706"/>
                </a:solidFill>
              </a:rPr>
              <a:t>5</a:t>
            </a:r>
            <a:endParaRPr lang="en-US" sz="1200" dirty="0"/>
          </a:p>
        </p:txBody>
      </p:sp>
      <p:sp>
        <p:nvSpPr>
          <p:cNvPr id="29" name="Text 27"/>
          <p:cNvSpPr/>
          <p:nvPr/>
        </p:nvSpPr>
        <p:spPr>
          <a:xfrm>
            <a:off x="1051560" y="4617720"/>
            <a:ext cx="5943600" cy="0"/>
          </a:xfrm>
          <a:prstGeom prst="rect">
            <a:avLst/>
          </a:prstGeom>
          <a:noFill/>
          <a:ln/>
        </p:spPr>
        <p:txBody>
          <a:bodyPr wrap="square" rtlCol="0" anchor="ctr"/>
          <a:lstStyle/>
          <a:p>
            <a:pPr indent="0" marL="0">
              <a:buNone/>
            </a:pPr>
            <a:r>
              <a:rPr lang="en-US" sz="1150" dirty="0">
                <a:solidFill>
                  <a:srgbClr val="2C3E50"/>
                </a:solidFill>
              </a:rPr>
              <a:t>Configured 3D asset overlays body landmarks with real-time scaling.</a:t>
            </a:r>
            <a:endParaRPr lang="en-US" sz="1150" dirty="0"/>
          </a:p>
        </p:txBody>
      </p:sp>
      <p:sp>
        <p:nvSpPr>
          <p:cNvPr id="30" name="Shape 28"/>
          <p:cNvSpPr/>
          <p:nvPr/>
        </p:nvSpPr>
        <p:spPr>
          <a:xfrm>
            <a:off x="502920" y="5394960"/>
            <a:ext cx="6492240" cy="548640"/>
          </a:xfrm>
          <a:prstGeom prst="rect">
            <a:avLst/>
          </a:prstGeom>
          <a:solidFill>
            <a:srgbClr val="EDF2F7"/>
          </a:solidFill>
          <a:ln w="12700">
            <a:solidFill>
              <a:srgbClr val="E2E8F0"/>
            </a:solidFill>
            <a:prstDash val="solid"/>
          </a:ln>
        </p:spPr>
      </p:sp>
      <p:sp>
        <p:nvSpPr>
          <p:cNvPr id="31" name="Text 29"/>
          <p:cNvSpPr/>
          <p:nvPr/>
        </p:nvSpPr>
        <p:spPr>
          <a:xfrm>
            <a:off x="640080" y="5532120"/>
            <a:ext cx="1463040" cy="0"/>
          </a:xfrm>
          <a:prstGeom prst="rect">
            <a:avLst/>
          </a:prstGeom>
          <a:noFill/>
          <a:ln/>
        </p:spPr>
        <p:txBody>
          <a:bodyPr wrap="square" rtlCol="0" anchor="ctr"/>
          <a:lstStyle/>
          <a:p>
            <a:pPr indent="0" marL="0">
              <a:buNone/>
            </a:pPr>
            <a:r>
              <a:rPr lang="en-US" sz="1050" b="1" dirty="0">
                <a:solidFill>
                  <a:srgbClr val="9D2706"/>
                </a:solidFill>
              </a:rPr>
              <a:t>Tracking Targets:</a:t>
            </a:r>
            <a:endParaRPr lang="en-US" sz="1050" dirty="0"/>
          </a:p>
        </p:txBody>
      </p:sp>
      <p:sp>
        <p:nvSpPr>
          <p:cNvPr id="32" name="Shape 30"/>
          <p:cNvSpPr/>
          <p:nvPr/>
        </p:nvSpPr>
        <p:spPr>
          <a:xfrm>
            <a:off x="2103120" y="5486400"/>
            <a:ext cx="1051560" cy="365760"/>
          </a:xfrm>
          <a:prstGeom prst="rect">
            <a:avLst/>
          </a:prstGeom>
          <a:solidFill>
            <a:srgbClr val="FFFFFF"/>
          </a:solidFill>
          <a:ln w="12700">
            <a:solidFill>
              <a:srgbClr val="E2E8F0"/>
            </a:solidFill>
            <a:prstDash val="solid"/>
          </a:ln>
        </p:spPr>
      </p:sp>
      <p:sp>
        <p:nvSpPr>
          <p:cNvPr id="33" name="Text 31"/>
          <p:cNvSpPr/>
          <p:nvPr/>
        </p:nvSpPr>
        <p:spPr>
          <a:xfrm>
            <a:off x="2103120" y="5559552"/>
            <a:ext cx="1051560" cy="0"/>
          </a:xfrm>
          <a:prstGeom prst="rect">
            <a:avLst/>
          </a:prstGeom>
          <a:noFill/>
          <a:ln/>
        </p:spPr>
        <p:txBody>
          <a:bodyPr wrap="square" rtlCol="0" anchor="ctr"/>
          <a:lstStyle/>
          <a:p>
            <a:pPr algn="ctr" indent="0" marL="0">
              <a:buNone/>
            </a:pPr>
            <a:r>
              <a:rPr lang="en-US" sz="950" b="1" dirty="0">
                <a:solidFill>
                  <a:srgbClr val="2C3E50"/>
                </a:solidFill>
              </a:rPr>
              <a:t>• Footwear</a:t>
            </a:r>
            <a:endParaRPr lang="en-US" sz="950" dirty="0"/>
          </a:p>
        </p:txBody>
      </p:sp>
      <p:sp>
        <p:nvSpPr>
          <p:cNvPr id="34" name="Shape 32"/>
          <p:cNvSpPr/>
          <p:nvPr/>
        </p:nvSpPr>
        <p:spPr>
          <a:xfrm>
            <a:off x="3291840" y="5486400"/>
            <a:ext cx="1051560" cy="365760"/>
          </a:xfrm>
          <a:prstGeom prst="rect">
            <a:avLst/>
          </a:prstGeom>
          <a:solidFill>
            <a:srgbClr val="FFFFFF"/>
          </a:solidFill>
          <a:ln w="12700">
            <a:solidFill>
              <a:srgbClr val="E2E8F0"/>
            </a:solidFill>
            <a:prstDash val="solid"/>
          </a:ln>
        </p:spPr>
      </p:sp>
      <p:sp>
        <p:nvSpPr>
          <p:cNvPr id="35" name="Text 33"/>
          <p:cNvSpPr/>
          <p:nvPr/>
        </p:nvSpPr>
        <p:spPr>
          <a:xfrm>
            <a:off x="3291840" y="5559552"/>
            <a:ext cx="1051560" cy="0"/>
          </a:xfrm>
          <a:prstGeom prst="rect">
            <a:avLst/>
          </a:prstGeom>
          <a:noFill/>
          <a:ln/>
        </p:spPr>
        <p:txBody>
          <a:bodyPr wrap="square" rtlCol="0" anchor="ctr"/>
          <a:lstStyle/>
          <a:p>
            <a:pPr algn="ctr" indent="0" marL="0">
              <a:buNone/>
            </a:pPr>
            <a:r>
              <a:rPr lang="en-US" sz="950" b="1" dirty="0">
                <a:solidFill>
                  <a:srgbClr val="2C3E50"/>
                </a:solidFill>
              </a:rPr>
              <a:t>• Wristwear</a:t>
            </a:r>
            <a:endParaRPr lang="en-US" sz="950" dirty="0"/>
          </a:p>
        </p:txBody>
      </p:sp>
      <p:sp>
        <p:nvSpPr>
          <p:cNvPr id="36" name="Shape 34"/>
          <p:cNvSpPr/>
          <p:nvPr/>
        </p:nvSpPr>
        <p:spPr>
          <a:xfrm>
            <a:off x="4480560" y="5486400"/>
            <a:ext cx="1051560" cy="365760"/>
          </a:xfrm>
          <a:prstGeom prst="rect">
            <a:avLst/>
          </a:prstGeom>
          <a:solidFill>
            <a:srgbClr val="FFFFFF"/>
          </a:solidFill>
          <a:ln w="12700">
            <a:solidFill>
              <a:srgbClr val="E2E8F0"/>
            </a:solidFill>
            <a:prstDash val="solid"/>
          </a:ln>
        </p:spPr>
      </p:sp>
      <p:sp>
        <p:nvSpPr>
          <p:cNvPr id="37" name="Text 35"/>
          <p:cNvSpPr/>
          <p:nvPr/>
        </p:nvSpPr>
        <p:spPr>
          <a:xfrm>
            <a:off x="4480560" y="5559552"/>
            <a:ext cx="1051560" cy="0"/>
          </a:xfrm>
          <a:prstGeom prst="rect">
            <a:avLst/>
          </a:prstGeom>
          <a:noFill/>
          <a:ln/>
        </p:spPr>
        <p:txBody>
          <a:bodyPr wrap="square" rtlCol="0" anchor="ctr"/>
          <a:lstStyle/>
          <a:p>
            <a:pPr algn="ctr" indent="0" marL="0">
              <a:buNone/>
            </a:pPr>
            <a:r>
              <a:rPr lang="en-US" sz="950" b="1" dirty="0">
                <a:solidFill>
                  <a:srgbClr val="2C3E50"/>
                </a:solidFill>
              </a:rPr>
              <a:t>• Eyewear</a:t>
            </a:r>
            <a:endParaRPr lang="en-US" sz="950" dirty="0"/>
          </a:p>
        </p:txBody>
      </p:sp>
      <p:sp>
        <p:nvSpPr>
          <p:cNvPr id="38" name="Shape 36"/>
          <p:cNvSpPr/>
          <p:nvPr/>
        </p:nvSpPr>
        <p:spPr>
          <a:xfrm>
            <a:off x="5669280" y="5486400"/>
            <a:ext cx="1051560" cy="365760"/>
          </a:xfrm>
          <a:prstGeom prst="rect">
            <a:avLst/>
          </a:prstGeom>
          <a:solidFill>
            <a:srgbClr val="FFFFFF"/>
          </a:solidFill>
          <a:ln w="12700">
            <a:solidFill>
              <a:srgbClr val="E2E8F0"/>
            </a:solidFill>
            <a:prstDash val="solid"/>
          </a:ln>
        </p:spPr>
      </p:sp>
      <p:sp>
        <p:nvSpPr>
          <p:cNvPr id="39" name="Text 37"/>
          <p:cNvSpPr/>
          <p:nvPr/>
        </p:nvSpPr>
        <p:spPr>
          <a:xfrm>
            <a:off x="5669280" y="5559552"/>
            <a:ext cx="1051560" cy="0"/>
          </a:xfrm>
          <a:prstGeom prst="rect">
            <a:avLst/>
          </a:prstGeom>
          <a:noFill/>
          <a:ln/>
        </p:spPr>
        <p:txBody>
          <a:bodyPr wrap="square" rtlCol="0" anchor="ctr"/>
          <a:lstStyle/>
          <a:p>
            <a:pPr algn="ctr" indent="0" marL="0">
              <a:buNone/>
            </a:pPr>
            <a:r>
              <a:rPr lang="en-US" sz="950" b="1" dirty="0">
                <a:solidFill>
                  <a:srgbClr val="2C3E50"/>
                </a:solidFill>
              </a:rPr>
              <a:t>• Headwear</a:t>
            </a:r>
            <a:endParaRPr lang="en-US" sz="950" dirty="0"/>
          </a:p>
        </p:txBody>
      </p:sp>
      <p:sp>
        <p:nvSpPr>
          <p:cNvPr id="40" name="Shape 38"/>
          <p:cNvSpPr/>
          <p:nvPr/>
        </p:nvSpPr>
        <p:spPr>
          <a:xfrm>
            <a:off x="7406640" y="960120"/>
            <a:ext cx="4663440" cy="5257800"/>
          </a:xfrm>
          <a:prstGeom prst="rect">
            <a:avLst/>
          </a:prstGeom>
          <a:solidFill>
            <a:srgbClr val="FFFFFF"/>
          </a:solidFill>
          <a:ln w="12700">
            <a:solidFill>
              <a:srgbClr val="E2E8F0"/>
            </a:solidFill>
            <a:prstDash val="solid"/>
          </a:ln>
        </p:spPr>
      </p:sp>
      <p:sp>
        <p:nvSpPr>
          <p:cNvPr id="41" name="Shape 39"/>
          <p:cNvSpPr/>
          <p:nvPr/>
        </p:nvSpPr>
        <p:spPr>
          <a:xfrm>
            <a:off x="7406640" y="960120"/>
            <a:ext cx="4663440" cy="502920"/>
          </a:xfrm>
          <a:prstGeom prst="rect">
            <a:avLst/>
          </a:prstGeom>
          <a:solidFill>
            <a:srgbClr val="EDF2F7"/>
          </a:solidFill>
          <a:ln/>
        </p:spPr>
      </p:sp>
      <p:sp>
        <p:nvSpPr>
          <p:cNvPr id="42" name="Shape 40"/>
          <p:cNvSpPr/>
          <p:nvPr/>
        </p:nvSpPr>
        <p:spPr>
          <a:xfrm>
            <a:off x="7406640" y="960120"/>
            <a:ext cx="64008" cy="5257800"/>
          </a:xfrm>
          <a:prstGeom prst="rect">
            <a:avLst/>
          </a:prstGeom>
          <a:solidFill>
            <a:srgbClr val="9D2706"/>
          </a:solidFill>
          <a:ln/>
        </p:spPr>
      </p:sp>
      <p:sp>
        <p:nvSpPr>
          <p:cNvPr id="43" name="Text 41"/>
          <p:cNvSpPr/>
          <p:nvPr/>
        </p:nvSpPr>
        <p:spPr>
          <a:xfrm>
            <a:off x="7635240" y="1024128"/>
            <a:ext cx="4297680" cy="0"/>
          </a:xfrm>
          <a:prstGeom prst="rect">
            <a:avLst/>
          </a:prstGeom>
          <a:noFill/>
          <a:ln/>
        </p:spPr>
        <p:txBody>
          <a:bodyPr wrap="square" rtlCol="0" anchor="ctr"/>
          <a:lstStyle/>
          <a:p>
            <a:pPr indent="0" marL="0">
              <a:buNone/>
            </a:pPr>
            <a:r>
              <a:rPr lang="en-US" sz="1350" b="1" dirty="0">
                <a:solidFill>
                  <a:srgbClr val="2C3E50"/>
                </a:solidFill>
              </a:rPr>
              <a:t>⚙️  Technology Engine</a:t>
            </a:r>
            <a:endParaRPr lang="en-US" sz="1350" dirty="0"/>
          </a:p>
        </p:txBody>
      </p:sp>
      <p:sp>
        <p:nvSpPr>
          <p:cNvPr id="44" name="Shape 42"/>
          <p:cNvSpPr/>
          <p:nvPr/>
        </p:nvSpPr>
        <p:spPr>
          <a:xfrm>
            <a:off x="7543800" y="1645920"/>
            <a:ext cx="54864" cy="640080"/>
          </a:xfrm>
          <a:prstGeom prst="rect">
            <a:avLst/>
          </a:prstGeom>
          <a:solidFill>
            <a:srgbClr val="9D2706"/>
          </a:solidFill>
          <a:ln/>
        </p:spPr>
      </p:sp>
      <p:sp>
        <p:nvSpPr>
          <p:cNvPr id="45" name="Text 43"/>
          <p:cNvSpPr/>
          <p:nvPr/>
        </p:nvSpPr>
        <p:spPr>
          <a:xfrm>
            <a:off x="7726680" y="1691640"/>
            <a:ext cx="4206240" cy="0"/>
          </a:xfrm>
          <a:prstGeom prst="rect">
            <a:avLst/>
          </a:prstGeom>
          <a:noFill/>
          <a:ln/>
        </p:spPr>
        <p:txBody>
          <a:bodyPr wrap="square" rtlCol="0" anchor="ctr"/>
          <a:lstStyle/>
          <a:p>
            <a:pPr indent="0" marL="0">
              <a:buNone/>
            </a:pPr>
            <a:r>
              <a:rPr lang="en-US" sz="1200" b="1" dirty="0">
                <a:solidFill>
                  <a:srgbClr val="2C3E50"/>
                </a:solidFill>
              </a:rPr>
              <a:t>MediaPipe Models</a:t>
            </a:r>
            <a:endParaRPr lang="en-US" sz="1200" dirty="0"/>
          </a:p>
        </p:txBody>
      </p:sp>
      <p:sp>
        <p:nvSpPr>
          <p:cNvPr id="46" name="Text 44"/>
          <p:cNvSpPr/>
          <p:nvPr/>
        </p:nvSpPr>
        <p:spPr>
          <a:xfrm>
            <a:off x="7726680" y="1938528"/>
            <a:ext cx="4206240" cy="0"/>
          </a:xfrm>
          <a:prstGeom prst="rect">
            <a:avLst/>
          </a:prstGeom>
          <a:noFill/>
          <a:ln/>
        </p:spPr>
        <p:txBody>
          <a:bodyPr wrap="square" rtlCol="0" anchor="ctr"/>
          <a:lstStyle/>
          <a:p>
            <a:pPr indent="0" marL="0">
              <a:buNone/>
            </a:pPr>
            <a:r>
              <a:rPr lang="en-US" sz="1050" dirty="0">
                <a:solidFill>
                  <a:srgbClr val="5A6B7C"/>
                </a:solidFill>
              </a:rPr>
              <a:t>On-device landmark models for foot detection and face geometry mesh.</a:t>
            </a:r>
            <a:endParaRPr lang="en-US" sz="1050" dirty="0"/>
          </a:p>
        </p:txBody>
      </p:sp>
      <p:sp>
        <p:nvSpPr>
          <p:cNvPr id="47" name="Shape 45"/>
          <p:cNvSpPr/>
          <p:nvPr/>
        </p:nvSpPr>
        <p:spPr>
          <a:xfrm>
            <a:off x="7543800" y="2468880"/>
            <a:ext cx="54864" cy="640080"/>
          </a:xfrm>
          <a:prstGeom prst="rect">
            <a:avLst/>
          </a:prstGeom>
          <a:solidFill>
            <a:srgbClr val="9D2706"/>
          </a:solidFill>
          <a:ln/>
        </p:spPr>
      </p:sp>
      <p:sp>
        <p:nvSpPr>
          <p:cNvPr id="48" name="Text 46"/>
          <p:cNvSpPr/>
          <p:nvPr/>
        </p:nvSpPr>
        <p:spPr>
          <a:xfrm>
            <a:off x="7726680" y="2514600"/>
            <a:ext cx="4206240" cy="0"/>
          </a:xfrm>
          <a:prstGeom prst="rect">
            <a:avLst/>
          </a:prstGeom>
          <a:noFill/>
          <a:ln/>
        </p:spPr>
        <p:txBody>
          <a:bodyPr wrap="square" rtlCol="0" anchor="ctr"/>
          <a:lstStyle/>
          <a:p>
            <a:pPr indent="0" marL="0">
              <a:buNone/>
            </a:pPr>
            <a:r>
              <a:rPr lang="en-US" sz="1200" b="1" dirty="0">
                <a:solidFill>
                  <a:srgbClr val="2C3E50"/>
                </a:solidFill>
              </a:rPr>
              <a:t>TensorFlow.js</a:t>
            </a:r>
            <a:endParaRPr lang="en-US" sz="1200" dirty="0"/>
          </a:p>
        </p:txBody>
      </p:sp>
      <p:sp>
        <p:nvSpPr>
          <p:cNvPr id="49" name="Text 47"/>
          <p:cNvSpPr/>
          <p:nvPr/>
        </p:nvSpPr>
        <p:spPr>
          <a:xfrm>
            <a:off x="7726680" y="2761488"/>
            <a:ext cx="4206240" cy="0"/>
          </a:xfrm>
          <a:prstGeom prst="rect">
            <a:avLst/>
          </a:prstGeom>
          <a:noFill/>
          <a:ln/>
        </p:spPr>
        <p:txBody>
          <a:bodyPr wrap="square" rtlCol="0" anchor="ctr"/>
          <a:lstStyle/>
          <a:p>
            <a:pPr indent="0" marL="0">
              <a:buNone/>
            </a:pPr>
            <a:r>
              <a:rPr lang="en-US" sz="1050" dirty="0">
                <a:solidFill>
                  <a:srgbClr val="5A6B7C"/>
                </a:solidFill>
              </a:rPr>
              <a:t>Compiles WebGL shaders for high-performance neural runtimes.</a:t>
            </a:r>
            <a:endParaRPr lang="en-US" sz="1050" dirty="0"/>
          </a:p>
        </p:txBody>
      </p:sp>
      <p:sp>
        <p:nvSpPr>
          <p:cNvPr id="50" name="Shape 48"/>
          <p:cNvSpPr/>
          <p:nvPr/>
        </p:nvSpPr>
        <p:spPr>
          <a:xfrm>
            <a:off x="7543800" y="3291840"/>
            <a:ext cx="54864" cy="640080"/>
          </a:xfrm>
          <a:prstGeom prst="rect">
            <a:avLst/>
          </a:prstGeom>
          <a:solidFill>
            <a:srgbClr val="9D2706"/>
          </a:solidFill>
          <a:ln/>
        </p:spPr>
      </p:sp>
      <p:sp>
        <p:nvSpPr>
          <p:cNvPr id="51" name="Text 49"/>
          <p:cNvSpPr/>
          <p:nvPr/>
        </p:nvSpPr>
        <p:spPr>
          <a:xfrm>
            <a:off x="7726680" y="3337560"/>
            <a:ext cx="4206240" cy="0"/>
          </a:xfrm>
          <a:prstGeom prst="rect">
            <a:avLst/>
          </a:prstGeom>
          <a:noFill/>
          <a:ln/>
        </p:spPr>
        <p:txBody>
          <a:bodyPr wrap="square" rtlCol="0" anchor="ctr"/>
          <a:lstStyle/>
          <a:p>
            <a:pPr indent="0" marL="0">
              <a:buNone/>
            </a:pPr>
            <a:r>
              <a:rPr lang="en-US" sz="1200" b="1" dirty="0">
                <a:solidFill>
                  <a:srgbClr val="2C3E50"/>
                </a:solidFill>
              </a:rPr>
              <a:t>WebGL Compositor</a:t>
            </a:r>
            <a:endParaRPr lang="en-US" sz="1200" dirty="0"/>
          </a:p>
        </p:txBody>
      </p:sp>
      <p:sp>
        <p:nvSpPr>
          <p:cNvPr id="52" name="Text 50"/>
          <p:cNvSpPr/>
          <p:nvPr/>
        </p:nvSpPr>
        <p:spPr>
          <a:xfrm>
            <a:off x="7726680" y="3584448"/>
            <a:ext cx="4206240" cy="0"/>
          </a:xfrm>
          <a:prstGeom prst="rect">
            <a:avLst/>
          </a:prstGeom>
          <a:noFill/>
          <a:ln/>
        </p:spPr>
        <p:txBody>
          <a:bodyPr wrap="square" rtlCol="0" anchor="ctr"/>
          <a:lstStyle/>
          <a:p>
            <a:pPr indent="0" marL="0">
              <a:buNone/>
            </a:pPr>
            <a:r>
              <a:rPr lang="en-US" sz="1050" dirty="0">
                <a:solidFill>
                  <a:srgbClr val="5A6B7C"/>
                </a:solidFill>
              </a:rPr>
              <a:t>Combines raw camera inputs and 3D overlays without latency.</a:t>
            </a:r>
            <a:endParaRPr lang="en-US" sz="1050" dirty="0"/>
          </a:p>
        </p:txBody>
      </p:sp>
      <p:sp>
        <p:nvSpPr>
          <p:cNvPr id="53" name="Shape 51"/>
          <p:cNvSpPr/>
          <p:nvPr/>
        </p:nvSpPr>
        <p:spPr>
          <a:xfrm>
            <a:off x="7543800" y="4114800"/>
            <a:ext cx="54864" cy="640080"/>
          </a:xfrm>
          <a:prstGeom prst="rect">
            <a:avLst/>
          </a:prstGeom>
          <a:solidFill>
            <a:srgbClr val="9D2706"/>
          </a:solidFill>
          <a:ln/>
        </p:spPr>
      </p:sp>
      <p:sp>
        <p:nvSpPr>
          <p:cNvPr id="54" name="Text 52"/>
          <p:cNvSpPr/>
          <p:nvPr/>
        </p:nvSpPr>
        <p:spPr>
          <a:xfrm>
            <a:off x="7726680" y="4160520"/>
            <a:ext cx="4206240" cy="0"/>
          </a:xfrm>
          <a:prstGeom prst="rect">
            <a:avLst/>
          </a:prstGeom>
          <a:noFill/>
          <a:ln/>
        </p:spPr>
        <p:txBody>
          <a:bodyPr wrap="square" rtlCol="0" anchor="ctr"/>
          <a:lstStyle/>
          <a:p>
            <a:pPr indent="0" marL="0">
              <a:buNone/>
            </a:pPr>
            <a:r>
              <a:rPr lang="en-US" sz="1200" b="1" dirty="0">
                <a:solidFill>
                  <a:srgbClr val="2C3E50"/>
                </a:solidFill>
              </a:rPr>
              <a:t>WebRTC Media Stream</a:t>
            </a:r>
            <a:endParaRPr lang="en-US" sz="1200" dirty="0"/>
          </a:p>
        </p:txBody>
      </p:sp>
      <p:sp>
        <p:nvSpPr>
          <p:cNvPr id="55" name="Text 53"/>
          <p:cNvSpPr/>
          <p:nvPr/>
        </p:nvSpPr>
        <p:spPr>
          <a:xfrm>
            <a:off x="7726680" y="4407408"/>
            <a:ext cx="4206240" cy="0"/>
          </a:xfrm>
          <a:prstGeom prst="rect">
            <a:avLst/>
          </a:prstGeom>
          <a:noFill/>
          <a:ln/>
        </p:spPr>
        <p:txBody>
          <a:bodyPr wrap="square" rtlCol="0" anchor="ctr"/>
          <a:lstStyle/>
          <a:p>
            <a:pPr indent="0" marL="0">
              <a:buNone/>
            </a:pPr>
            <a:r>
              <a:rPr lang="en-US" sz="1050" dirty="0">
                <a:solidFill>
                  <a:srgbClr val="5A6B7C"/>
                </a:solidFill>
              </a:rPr>
              <a:t>Exposes camera frames to processing canvases at low power.</a:t>
            </a:r>
            <a:endParaRPr lang="en-US" sz="1050" dirty="0"/>
          </a:p>
        </p:txBody>
      </p:sp>
      <p:sp>
        <p:nvSpPr>
          <p:cNvPr id="56" name="Shape 54"/>
          <p:cNvSpPr/>
          <p:nvPr/>
        </p:nvSpPr>
        <p:spPr>
          <a:xfrm>
            <a:off x="7543800" y="4937760"/>
            <a:ext cx="54864" cy="640080"/>
          </a:xfrm>
          <a:prstGeom prst="rect">
            <a:avLst/>
          </a:prstGeom>
          <a:solidFill>
            <a:srgbClr val="9D2706"/>
          </a:solidFill>
          <a:ln/>
        </p:spPr>
      </p:sp>
      <p:sp>
        <p:nvSpPr>
          <p:cNvPr id="57" name="Text 55"/>
          <p:cNvSpPr/>
          <p:nvPr/>
        </p:nvSpPr>
        <p:spPr>
          <a:xfrm>
            <a:off x="7726680" y="4983480"/>
            <a:ext cx="4206240" cy="0"/>
          </a:xfrm>
          <a:prstGeom prst="rect">
            <a:avLst/>
          </a:prstGeom>
          <a:noFill/>
          <a:ln/>
        </p:spPr>
        <p:txBody>
          <a:bodyPr wrap="square" rtlCol="0" anchor="ctr"/>
          <a:lstStyle/>
          <a:p>
            <a:pPr indent="0" marL="0">
              <a:buNone/>
            </a:pPr>
            <a:r>
              <a:rPr lang="en-US" sz="1200" b="1" dirty="0">
                <a:solidFill>
                  <a:srgbClr val="2C3E50"/>
                </a:solidFill>
              </a:rPr>
              <a:t>Draco Weight Comp.</a:t>
            </a:r>
            <a:endParaRPr lang="en-US" sz="1200" dirty="0"/>
          </a:p>
        </p:txBody>
      </p:sp>
      <p:sp>
        <p:nvSpPr>
          <p:cNvPr id="58" name="Text 56"/>
          <p:cNvSpPr/>
          <p:nvPr/>
        </p:nvSpPr>
        <p:spPr>
          <a:xfrm>
            <a:off x="7726680" y="5230368"/>
            <a:ext cx="4206240" cy="0"/>
          </a:xfrm>
          <a:prstGeom prst="rect">
            <a:avLst/>
          </a:prstGeom>
          <a:noFill/>
          <a:ln/>
        </p:spPr>
        <p:txBody>
          <a:bodyPr wrap="square" rtlCol="0" anchor="ctr"/>
          <a:lstStyle/>
          <a:p>
            <a:pPr indent="0" marL="0">
              <a:buNone/>
            </a:pPr>
            <a:r>
              <a:rPr lang="en-US" sz="1050" dirty="0">
                <a:solidFill>
                  <a:srgbClr val="5A6B7C"/>
                </a:solidFill>
              </a:rPr>
              <a:t>Keeps binary neural weights small to load quickly over cellular.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Full Technology Stack</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Every layer of Cognaq's architecture.</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960120"/>
            <a:ext cx="2240280" cy="685800"/>
          </a:xfrm>
          <a:prstGeom prst="rect">
            <a:avLst/>
          </a:prstGeom>
          <a:solidFill>
            <a:srgbClr val="EDF2F7"/>
          </a:solidFill>
          <a:ln/>
        </p:spPr>
      </p:sp>
      <p:sp>
        <p:nvSpPr>
          <p:cNvPr id="12" name="Shape 10"/>
          <p:cNvSpPr/>
          <p:nvPr/>
        </p:nvSpPr>
        <p:spPr>
          <a:xfrm>
            <a:off x="320040" y="960120"/>
            <a:ext cx="54864" cy="685800"/>
          </a:xfrm>
          <a:prstGeom prst="rect">
            <a:avLst/>
          </a:prstGeom>
          <a:solidFill>
            <a:srgbClr val="9D2706"/>
          </a:solidFill>
          <a:ln/>
        </p:spPr>
      </p:sp>
      <p:sp>
        <p:nvSpPr>
          <p:cNvPr id="13" name="Text 11"/>
          <p:cNvSpPr/>
          <p:nvPr/>
        </p:nvSpPr>
        <p:spPr>
          <a:xfrm>
            <a:off x="411480" y="1005840"/>
            <a:ext cx="2084832" cy="594360"/>
          </a:xfrm>
          <a:prstGeom prst="rect">
            <a:avLst/>
          </a:prstGeom>
          <a:noFill/>
          <a:ln/>
        </p:spPr>
        <p:txBody>
          <a:bodyPr wrap="square" rtlCol="0" anchor="ctr"/>
          <a:lstStyle/>
          <a:p>
            <a:pPr algn="ctr" indent="0" marL="0">
              <a:buNone/>
            </a:pPr>
            <a:r>
              <a:rPr lang="en-US" sz="1100" b="1" dirty="0">
                <a:solidFill>
                  <a:srgbClr val="2C3E50"/>
                </a:solidFill>
              </a:rPr>
              <a:t>Shopper</a:t>
            </a:r>
            <a:endParaRPr lang="en-US" sz="1100" dirty="0"/>
          </a:p>
          <a:p>
            <a:pPr algn="ctr" indent="0" marL="0">
              <a:buNone/>
            </a:pPr>
            <a:r>
              <a:rPr lang="en-US" sz="1100" b="1" dirty="0">
                <a:solidFill>
                  <a:srgbClr val="2C3E50"/>
                </a:solidFill>
              </a:rPr>
              <a:t>Experience</a:t>
            </a:r>
            <a:endParaRPr lang="en-US" sz="1100" dirty="0"/>
          </a:p>
        </p:txBody>
      </p:sp>
      <p:sp>
        <p:nvSpPr>
          <p:cNvPr id="14" name="Shape 12"/>
          <p:cNvSpPr/>
          <p:nvPr/>
        </p:nvSpPr>
        <p:spPr>
          <a:xfrm>
            <a:off x="320040" y="1737360"/>
            <a:ext cx="2240280" cy="685800"/>
          </a:xfrm>
          <a:prstGeom prst="rect">
            <a:avLst/>
          </a:prstGeom>
          <a:solidFill>
            <a:srgbClr val="FFFFFF"/>
          </a:solidFill>
          <a:ln w="12700">
            <a:solidFill>
              <a:srgbClr val="E2E8F0"/>
            </a:solidFill>
            <a:prstDash val="solid"/>
          </a:ln>
        </p:spPr>
      </p:sp>
      <p:sp>
        <p:nvSpPr>
          <p:cNvPr id="15" name="Shape 13"/>
          <p:cNvSpPr/>
          <p:nvPr/>
        </p:nvSpPr>
        <p:spPr>
          <a:xfrm>
            <a:off x="320040" y="1737360"/>
            <a:ext cx="54864" cy="685800"/>
          </a:xfrm>
          <a:prstGeom prst="rect">
            <a:avLst/>
          </a:prstGeom>
          <a:solidFill>
            <a:srgbClr val="9D2706"/>
          </a:solidFill>
          <a:ln/>
        </p:spPr>
      </p:sp>
      <p:sp>
        <p:nvSpPr>
          <p:cNvPr id="16" name="Text 14"/>
          <p:cNvSpPr/>
          <p:nvPr/>
        </p:nvSpPr>
        <p:spPr>
          <a:xfrm>
            <a:off x="457200" y="1792224"/>
            <a:ext cx="2011680" cy="0"/>
          </a:xfrm>
          <a:prstGeom prst="rect">
            <a:avLst/>
          </a:prstGeom>
          <a:noFill/>
          <a:ln/>
        </p:spPr>
        <p:txBody>
          <a:bodyPr wrap="square" rtlCol="0" anchor="ctr"/>
          <a:lstStyle/>
          <a:p>
            <a:pPr indent="0" marL="0">
              <a:buNone/>
            </a:pPr>
            <a:r>
              <a:rPr lang="en-US" sz="1100" b="1" dirty="0">
                <a:solidFill>
                  <a:srgbClr val="2C3E50"/>
                </a:solidFill>
              </a:rPr>
              <a:t>Next.js 14</a:t>
            </a:r>
            <a:endParaRPr lang="en-US" sz="1100" dirty="0"/>
          </a:p>
        </p:txBody>
      </p:sp>
      <p:sp>
        <p:nvSpPr>
          <p:cNvPr id="17" name="Text 15"/>
          <p:cNvSpPr/>
          <p:nvPr/>
        </p:nvSpPr>
        <p:spPr>
          <a:xfrm>
            <a:off x="457200" y="2103120"/>
            <a:ext cx="2011680" cy="0"/>
          </a:xfrm>
          <a:prstGeom prst="rect">
            <a:avLst/>
          </a:prstGeom>
          <a:noFill/>
          <a:ln/>
        </p:spPr>
        <p:txBody>
          <a:bodyPr wrap="square" rtlCol="0" anchor="ctr"/>
          <a:lstStyle/>
          <a:p>
            <a:pPr indent="0" marL="0">
              <a:buNone/>
            </a:pPr>
            <a:r>
              <a:rPr lang="en-US" sz="1000" dirty="0">
                <a:solidFill>
                  <a:srgbClr val="5A6B7C"/>
                </a:solidFill>
              </a:rPr>
              <a:t>App router framework</a:t>
            </a:r>
            <a:endParaRPr lang="en-US" sz="1000" dirty="0"/>
          </a:p>
        </p:txBody>
      </p:sp>
      <p:sp>
        <p:nvSpPr>
          <p:cNvPr id="18" name="Shape 16"/>
          <p:cNvSpPr/>
          <p:nvPr/>
        </p:nvSpPr>
        <p:spPr>
          <a:xfrm>
            <a:off x="320040" y="2505456"/>
            <a:ext cx="2240280" cy="685800"/>
          </a:xfrm>
          <a:prstGeom prst="rect">
            <a:avLst/>
          </a:prstGeom>
          <a:solidFill>
            <a:srgbClr val="FFFFFF"/>
          </a:solidFill>
          <a:ln w="12700">
            <a:solidFill>
              <a:srgbClr val="E2E8F0"/>
            </a:solidFill>
            <a:prstDash val="solid"/>
          </a:ln>
        </p:spPr>
      </p:sp>
      <p:sp>
        <p:nvSpPr>
          <p:cNvPr id="19" name="Shape 17"/>
          <p:cNvSpPr/>
          <p:nvPr/>
        </p:nvSpPr>
        <p:spPr>
          <a:xfrm>
            <a:off x="320040" y="2505456"/>
            <a:ext cx="54864" cy="685800"/>
          </a:xfrm>
          <a:prstGeom prst="rect">
            <a:avLst/>
          </a:prstGeom>
          <a:solidFill>
            <a:srgbClr val="9D2706"/>
          </a:solidFill>
          <a:ln/>
        </p:spPr>
      </p:sp>
      <p:sp>
        <p:nvSpPr>
          <p:cNvPr id="20" name="Text 18"/>
          <p:cNvSpPr/>
          <p:nvPr/>
        </p:nvSpPr>
        <p:spPr>
          <a:xfrm>
            <a:off x="457200" y="2560320"/>
            <a:ext cx="2011680" cy="0"/>
          </a:xfrm>
          <a:prstGeom prst="rect">
            <a:avLst/>
          </a:prstGeom>
          <a:noFill/>
          <a:ln/>
        </p:spPr>
        <p:txBody>
          <a:bodyPr wrap="square" rtlCol="0" anchor="ctr"/>
          <a:lstStyle/>
          <a:p>
            <a:pPr indent="0" marL="0">
              <a:buNone/>
            </a:pPr>
            <a:r>
              <a:rPr lang="en-US" sz="1100" b="1" dirty="0">
                <a:solidFill>
                  <a:srgbClr val="2C3E50"/>
                </a:solidFill>
              </a:rPr>
              <a:t>React Three Fiber</a:t>
            </a:r>
            <a:endParaRPr lang="en-US" sz="1100" dirty="0"/>
          </a:p>
        </p:txBody>
      </p:sp>
      <p:sp>
        <p:nvSpPr>
          <p:cNvPr id="21" name="Text 19"/>
          <p:cNvSpPr/>
          <p:nvPr/>
        </p:nvSpPr>
        <p:spPr>
          <a:xfrm>
            <a:off x="457200" y="2871216"/>
            <a:ext cx="2011680" cy="0"/>
          </a:xfrm>
          <a:prstGeom prst="rect">
            <a:avLst/>
          </a:prstGeom>
          <a:noFill/>
          <a:ln/>
        </p:spPr>
        <p:txBody>
          <a:bodyPr wrap="square" rtlCol="0" anchor="ctr"/>
          <a:lstStyle/>
          <a:p>
            <a:pPr indent="0" marL="0">
              <a:buNone/>
            </a:pPr>
            <a:r>
              <a:rPr lang="en-US" sz="1000" dirty="0">
                <a:solidFill>
                  <a:srgbClr val="5A6B7C"/>
                </a:solidFill>
              </a:rPr>
              <a:t>3D rendering manager</a:t>
            </a:r>
            <a:endParaRPr lang="en-US" sz="1000" dirty="0"/>
          </a:p>
        </p:txBody>
      </p:sp>
      <p:sp>
        <p:nvSpPr>
          <p:cNvPr id="22" name="Shape 20"/>
          <p:cNvSpPr/>
          <p:nvPr/>
        </p:nvSpPr>
        <p:spPr>
          <a:xfrm>
            <a:off x="320040" y="3273552"/>
            <a:ext cx="2240280" cy="685800"/>
          </a:xfrm>
          <a:prstGeom prst="rect">
            <a:avLst/>
          </a:prstGeom>
          <a:solidFill>
            <a:srgbClr val="FFFFFF"/>
          </a:solidFill>
          <a:ln w="12700">
            <a:solidFill>
              <a:srgbClr val="E2E8F0"/>
            </a:solidFill>
            <a:prstDash val="solid"/>
          </a:ln>
        </p:spPr>
      </p:sp>
      <p:sp>
        <p:nvSpPr>
          <p:cNvPr id="23" name="Shape 21"/>
          <p:cNvSpPr/>
          <p:nvPr/>
        </p:nvSpPr>
        <p:spPr>
          <a:xfrm>
            <a:off x="320040" y="3273552"/>
            <a:ext cx="54864" cy="685800"/>
          </a:xfrm>
          <a:prstGeom prst="rect">
            <a:avLst/>
          </a:prstGeom>
          <a:solidFill>
            <a:srgbClr val="9D2706"/>
          </a:solidFill>
          <a:ln/>
        </p:spPr>
      </p:sp>
      <p:sp>
        <p:nvSpPr>
          <p:cNvPr id="24" name="Text 22"/>
          <p:cNvSpPr/>
          <p:nvPr/>
        </p:nvSpPr>
        <p:spPr>
          <a:xfrm>
            <a:off x="457200" y="3328416"/>
            <a:ext cx="2011680" cy="0"/>
          </a:xfrm>
          <a:prstGeom prst="rect">
            <a:avLst/>
          </a:prstGeom>
          <a:noFill/>
          <a:ln/>
        </p:spPr>
        <p:txBody>
          <a:bodyPr wrap="square" rtlCol="0" anchor="ctr"/>
          <a:lstStyle/>
          <a:p>
            <a:pPr indent="0" marL="0">
              <a:buNone/>
            </a:pPr>
            <a:r>
              <a:rPr lang="en-US" sz="1100" b="1" dirty="0">
                <a:solidFill>
                  <a:srgbClr val="2C3E50"/>
                </a:solidFill>
              </a:rPr>
              <a:t>Three.js / WebGL</a:t>
            </a:r>
            <a:endParaRPr lang="en-US" sz="1100" dirty="0"/>
          </a:p>
        </p:txBody>
      </p:sp>
      <p:sp>
        <p:nvSpPr>
          <p:cNvPr id="25" name="Text 23"/>
          <p:cNvSpPr/>
          <p:nvPr/>
        </p:nvSpPr>
        <p:spPr>
          <a:xfrm>
            <a:off x="457200" y="3639312"/>
            <a:ext cx="2011680" cy="0"/>
          </a:xfrm>
          <a:prstGeom prst="rect">
            <a:avLst/>
          </a:prstGeom>
          <a:noFill/>
          <a:ln/>
        </p:spPr>
        <p:txBody>
          <a:bodyPr wrap="square" rtlCol="0" anchor="ctr"/>
          <a:lstStyle/>
          <a:p>
            <a:pPr indent="0" marL="0">
              <a:buNone/>
            </a:pPr>
            <a:r>
              <a:rPr lang="en-US" sz="1000" dirty="0">
                <a:solidFill>
                  <a:srgbClr val="5A6B7C"/>
                </a:solidFill>
              </a:rPr>
              <a:t>Canvas WebGL runner</a:t>
            </a:r>
            <a:endParaRPr lang="en-US" sz="1000" dirty="0"/>
          </a:p>
        </p:txBody>
      </p:sp>
      <p:sp>
        <p:nvSpPr>
          <p:cNvPr id="26" name="Shape 24"/>
          <p:cNvSpPr/>
          <p:nvPr/>
        </p:nvSpPr>
        <p:spPr>
          <a:xfrm>
            <a:off x="320040" y="4041648"/>
            <a:ext cx="2240280" cy="685800"/>
          </a:xfrm>
          <a:prstGeom prst="rect">
            <a:avLst/>
          </a:prstGeom>
          <a:solidFill>
            <a:srgbClr val="FFFFFF"/>
          </a:solidFill>
          <a:ln w="12700">
            <a:solidFill>
              <a:srgbClr val="E2E8F0"/>
            </a:solidFill>
            <a:prstDash val="solid"/>
          </a:ln>
        </p:spPr>
      </p:sp>
      <p:sp>
        <p:nvSpPr>
          <p:cNvPr id="27" name="Shape 25"/>
          <p:cNvSpPr/>
          <p:nvPr/>
        </p:nvSpPr>
        <p:spPr>
          <a:xfrm>
            <a:off x="320040" y="4041648"/>
            <a:ext cx="54864" cy="685800"/>
          </a:xfrm>
          <a:prstGeom prst="rect">
            <a:avLst/>
          </a:prstGeom>
          <a:solidFill>
            <a:srgbClr val="9D2706"/>
          </a:solidFill>
          <a:ln/>
        </p:spPr>
      </p:sp>
      <p:sp>
        <p:nvSpPr>
          <p:cNvPr id="28" name="Text 26"/>
          <p:cNvSpPr/>
          <p:nvPr/>
        </p:nvSpPr>
        <p:spPr>
          <a:xfrm>
            <a:off x="457200" y="4096512"/>
            <a:ext cx="2011680" cy="0"/>
          </a:xfrm>
          <a:prstGeom prst="rect">
            <a:avLst/>
          </a:prstGeom>
          <a:noFill/>
          <a:ln/>
        </p:spPr>
        <p:txBody>
          <a:bodyPr wrap="square" rtlCol="0" anchor="ctr"/>
          <a:lstStyle/>
          <a:p>
            <a:pPr indent="0" marL="0">
              <a:buNone/>
            </a:pPr>
            <a:r>
              <a:rPr lang="en-US" sz="1100" b="1" dirty="0">
                <a:solidFill>
                  <a:srgbClr val="2C3E50"/>
                </a:solidFill>
              </a:rPr>
              <a:t>WebXR API</a:t>
            </a:r>
            <a:endParaRPr lang="en-US" sz="1100" dirty="0"/>
          </a:p>
        </p:txBody>
      </p:sp>
      <p:sp>
        <p:nvSpPr>
          <p:cNvPr id="29" name="Text 27"/>
          <p:cNvSpPr/>
          <p:nvPr/>
        </p:nvSpPr>
        <p:spPr>
          <a:xfrm>
            <a:off x="457200" y="4407408"/>
            <a:ext cx="2011680" cy="0"/>
          </a:xfrm>
          <a:prstGeom prst="rect">
            <a:avLst/>
          </a:prstGeom>
          <a:noFill/>
          <a:ln/>
        </p:spPr>
        <p:txBody>
          <a:bodyPr wrap="square" rtlCol="0" anchor="ctr"/>
          <a:lstStyle/>
          <a:p>
            <a:pPr indent="0" marL="0">
              <a:buNone/>
            </a:pPr>
            <a:r>
              <a:rPr lang="en-US" sz="1000" dirty="0">
                <a:solidFill>
                  <a:srgbClr val="5A6B7C"/>
                </a:solidFill>
              </a:rPr>
              <a:t>AR spatial engine</a:t>
            </a:r>
            <a:endParaRPr lang="en-US" sz="1000" dirty="0"/>
          </a:p>
        </p:txBody>
      </p:sp>
      <p:sp>
        <p:nvSpPr>
          <p:cNvPr id="30" name="Shape 28"/>
          <p:cNvSpPr/>
          <p:nvPr/>
        </p:nvSpPr>
        <p:spPr>
          <a:xfrm>
            <a:off x="320040" y="4809744"/>
            <a:ext cx="2240280" cy="685800"/>
          </a:xfrm>
          <a:prstGeom prst="rect">
            <a:avLst/>
          </a:prstGeom>
          <a:solidFill>
            <a:srgbClr val="FFFFFF"/>
          </a:solidFill>
          <a:ln w="12700">
            <a:solidFill>
              <a:srgbClr val="E2E8F0"/>
            </a:solidFill>
            <a:prstDash val="solid"/>
          </a:ln>
        </p:spPr>
      </p:sp>
      <p:sp>
        <p:nvSpPr>
          <p:cNvPr id="31" name="Shape 29"/>
          <p:cNvSpPr/>
          <p:nvPr/>
        </p:nvSpPr>
        <p:spPr>
          <a:xfrm>
            <a:off x="320040" y="4809744"/>
            <a:ext cx="54864" cy="685800"/>
          </a:xfrm>
          <a:prstGeom prst="rect">
            <a:avLst/>
          </a:prstGeom>
          <a:solidFill>
            <a:srgbClr val="9D2706"/>
          </a:solidFill>
          <a:ln/>
        </p:spPr>
      </p:sp>
      <p:sp>
        <p:nvSpPr>
          <p:cNvPr id="32" name="Text 30"/>
          <p:cNvSpPr/>
          <p:nvPr/>
        </p:nvSpPr>
        <p:spPr>
          <a:xfrm>
            <a:off x="457200" y="4864608"/>
            <a:ext cx="2011680" cy="0"/>
          </a:xfrm>
          <a:prstGeom prst="rect">
            <a:avLst/>
          </a:prstGeom>
          <a:noFill/>
          <a:ln/>
        </p:spPr>
        <p:txBody>
          <a:bodyPr wrap="square" rtlCol="0" anchor="ctr"/>
          <a:lstStyle/>
          <a:p>
            <a:pPr indent="0" marL="0">
              <a:buNone/>
            </a:pPr>
            <a:r>
              <a:rPr lang="en-US" sz="1100" b="1" dirty="0">
                <a:solidFill>
                  <a:srgbClr val="2C3E50"/>
                </a:solidFill>
              </a:rPr>
              <a:t>MediaPipe + TF.js</a:t>
            </a:r>
            <a:endParaRPr lang="en-US" sz="1100" dirty="0"/>
          </a:p>
        </p:txBody>
      </p:sp>
      <p:sp>
        <p:nvSpPr>
          <p:cNvPr id="33" name="Text 31"/>
          <p:cNvSpPr/>
          <p:nvPr/>
        </p:nvSpPr>
        <p:spPr>
          <a:xfrm>
            <a:off x="457200" y="5175504"/>
            <a:ext cx="2011680" cy="0"/>
          </a:xfrm>
          <a:prstGeom prst="rect">
            <a:avLst/>
          </a:prstGeom>
          <a:noFill/>
          <a:ln/>
        </p:spPr>
        <p:txBody>
          <a:bodyPr wrap="square" rtlCol="0" anchor="ctr"/>
          <a:lstStyle/>
          <a:p>
            <a:pPr indent="0" marL="0">
              <a:buNone/>
            </a:pPr>
            <a:r>
              <a:rPr lang="en-US" sz="1000" dirty="0">
                <a:solidFill>
                  <a:srgbClr val="5A6B7C"/>
                </a:solidFill>
              </a:rPr>
              <a:t>Machine learning VTO</a:t>
            </a:r>
            <a:endParaRPr lang="en-US" sz="1000" dirty="0"/>
          </a:p>
        </p:txBody>
      </p:sp>
      <p:sp>
        <p:nvSpPr>
          <p:cNvPr id="34" name="Shape 32"/>
          <p:cNvSpPr/>
          <p:nvPr/>
        </p:nvSpPr>
        <p:spPr>
          <a:xfrm>
            <a:off x="320040" y="5577840"/>
            <a:ext cx="2240280" cy="685800"/>
          </a:xfrm>
          <a:prstGeom prst="rect">
            <a:avLst/>
          </a:prstGeom>
          <a:solidFill>
            <a:srgbClr val="FFFFFF"/>
          </a:solidFill>
          <a:ln w="12700">
            <a:solidFill>
              <a:srgbClr val="E2E8F0"/>
            </a:solidFill>
            <a:prstDash val="solid"/>
          </a:ln>
        </p:spPr>
      </p:sp>
      <p:sp>
        <p:nvSpPr>
          <p:cNvPr id="35" name="Shape 33"/>
          <p:cNvSpPr/>
          <p:nvPr/>
        </p:nvSpPr>
        <p:spPr>
          <a:xfrm>
            <a:off x="320040" y="5577840"/>
            <a:ext cx="54864" cy="685800"/>
          </a:xfrm>
          <a:prstGeom prst="rect">
            <a:avLst/>
          </a:prstGeom>
          <a:solidFill>
            <a:srgbClr val="9D2706"/>
          </a:solidFill>
          <a:ln/>
        </p:spPr>
      </p:sp>
      <p:sp>
        <p:nvSpPr>
          <p:cNvPr id="36" name="Text 34"/>
          <p:cNvSpPr/>
          <p:nvPr/>
        </p:nvSpPr>
        <p:spPr>
          <a:xfrm>
            <a:off x="457200" y="5632704"/>
            <a:ext cx="2011680" cy="0"/>
          </a:xfrm>
          <a:prstGeom prst="rect">
            <a:avLst/>
          </a:prstGeom>
          <a:noFill/>
          <a:ln/>
        </p:spPr>
        <p:txBody>
          <a:bodyPr wrap="square" rtlCol="0" anchor="ctr"/>
          <a:lstStyle/>
          <a:p>
            <a:pPr indent="0" marL="0">
              <a:buNone/>
            </a:pPr>
            <a:r>
              <a:rPr lang="en-US" sz="1100" b="1" dirty="0">
                <a:solidFill>
                  <a:srgbClr val="2C3E50"/>
                </a:solidFill>
              </a:rPr>
              <a:t>Vanilla CSS</a:t>
            </a:r>
            <a:endParaRPr lang="en-US" sz="1100" dirty="0"/>
          </a:p>
        </p:txBody>
      </p:sp>
      <p:sp>
        <p:nvSpPr>
          <p:cNvPr id="37" name="Text 35"/>
          <p:cNvSpPr/>
          <p:nvPr/>
        </p:nvSpPr>
        <p:spPr>
          <a:xfrm>
            <a:off x="457200" y="5943600"/>
            <a:ext cx="2011680" cy="0"/>
          </a:xfrm>
          <a:prstGeom prst="rect">
            <a:avLst/>
          </a:prstGeom>
          <a:noFill/>
          <a:ln/>
        </p:spPr>
        <p:txBody>
          <a:bodyPr wrap="square" rtlCol="0" anchor="ctr"/>
          <a:lstStyle/>
          <a:p>
            <a:pPr indent="0" marL="0">
              <a:buNone/>
            </a:pPr>
            <a:r>
              <a:rPr lang="en-US" sz="1000" dirty="0">
                <a:solidFill>
                  <a:srgbClr val="5A6B7C"/>
                </a:solidFill>
              </a:rPr>
              <a:t>Floating UI panels</a:t>
            </a:r>
            <a:endParaRPr lang="en-US" sz="1000" dirty="0"/>
          </a:p>
        </p:txBody>
      </p:sp>
      <p:sp>
        <p:nvSpPr>
          <p:cNvPr id="38" name="Shape 36"/>
          <p:cNvSpPr/>
          <p:nvPr/>
        </p:nvSpPr>
        <p:spPr>
          <a:xfrm>
            <a:off x="2697480" y="960120"/>
            <a:ext cx="2240280" cy="685800"/>
          </a:xfrm>
          <a:prstGeom prst="rect">
            <a:avLst/>
          </a:prstGeom>
          <a:solidFill>
            <a:srgbClr val="EDF2F7"/>
          </a:solidFill>
          <a:ln/>
        </p:spPr>
      </p:sp>
      <p:sp>
        <p:nvSpPr>
          <p:cNvPr id="39" name="Shape 37"/>
          <p:cNvSpPr/>
          <p:nvPr/>
        </p:nvSpPr>
        <p:spPr>
          <a:xfrm>
            <a:off x="2697480" y="960120"/>
            <a:ext cx="54864" cy="685800"/>
          </a:xfrm>
          <a:prstGeom prst="rect">
            <a:avLst/>
          </a:prstGeom>
          <a:solidFill>
            <a:srgbClr val="9D2706"/>
          </a:solidFill>
          <a:ln/>
        </p:spPr>
      </p:sp>
      <p:sp>
        <p:nvSpPr>
          <p:cNvPr id="40" name="Text 38"/>
          <p:cNvSpPr/>
          <p:nvPr/>
        </p:nvSpPr>
        <p:spPr>
          <a:xfrm>
            <a:off x="2788920" y="1005840"/>
            <a:ext cx="2084832" cy="594360"/>
          </a:xfrm>
          <a:prstGeom prst="rect">
            <a:avLst/>
          </a:prstGeom>
          <a:noFill/>
          <a:ln/>
        </p:spPr>
        <p:txBody>
          <a:bodyPr wrap="square" rtlCol="0" anchor="ctr"/>
          <a:lstStyle/>
          <a:p>
            <a:pPr algn="ctr" indent="0" marL="0">
              <a:buNone/>
            </a:pPr>
            <a:r>
              <a:rPr lang="en-US" sz="1100" b="1" dirty="0">
                <a:solidFill>
                  <a:srgbClr val="2C3E50"/>
                </a:solidFill>
              </a:rPr>
              <a:t>Merchant</a:t>
            </a:r>
            <a:endParaRPr lang="en-US" sz="1100" dirty="0"/>
          </a:p>
          <a:p>
            <a:pPr algn="ctr" indent="0" marL="0">
              <a:buNone/>
            </a:pPr>
            <a:r>
              <a:rPr lang="en-US" sz="1100" b="1" dirty="0">
                <a:solidFill>
                  <a:srgbClr val="2C3E50"/>
                </a:solidFill>
              </a:rPr>
              <a:t>Dashboard</a:t>
            </a:r>
            <a:endParaRPr lang="en-US" sz="1100" dirty="0"/>
          </a:p>
        </p:txBody>
      </p:sp>
      <p:sp>
        <p:nvSpPr>
          <p:cNvPr id="41" name="Shape 39"/>
          <p:cNvSpPr/>
          <p:nvPr/>
        </p:nvSpPr>
        <p:spPr>
          <a:xfrm>
            <a:off x="2697480" y="1737360"/>
            <a:ext cx="2240280" cy="685800"/>
          </a:xfrm>
          <a:prstGeom prst="rect">
            <a:avLst/>
          </a:prstGeom>
          <a:solidFill>
            <a:srgbClr val="FFFFFF"/>
          </a:solidFill>
          <a:ln w="12700">
            <a:solidFill>
              <a:srgbClr val="E2E8F0"/>
            </a:solidFill>
            <a:prstDash val="solid"/>
          </a:ln>
        </p:spPr>
      </p:sp>
      <p:sp>
        <p:nvSpPr>
          <p:cNvPr id="42" name="Shape 40"/>
          <p:cNvSpPr/>
          <p:nvPr/>
        </p:nvSpPr>
        <p:spPr>
          <a:xfrm>
            <a:off x="2697480" y="1737360"/>
            <a:ext cx="54864" cy="685800"/>
          </a:xfrm>
          <a:prstGeom prst="rect">
            <a:avLst/>
          </a:prstGeom>
          <a:solidFill>
            <a:srgbClr val="9D2706"/>
          </a:solidFill>
          <a:ln/>
        </p:spPr>
      </p:sp>
      <p:sp>
        <p:nvSpPr>
          <p:cNvPr id="43" name="Text 41"/>
          <p:cNvSpPr/>
          <p:nvPr/>
        </p:nvSpPr>
        <p:spPr>
          <a:xfrm>
            <a:off x="2834640" y="1792224"/>
            <a:ext cx="2011680" cy="0"/>
          </a:xfrm>
          <a:prstGeom prst="rect">
            <a:avLst/>
          </a:prstGeom>
          <a:noFill/>
          <a:ln/>
        </p:spPr>
        <p:txBody>
          <a:bodyPr wrap="square" rtlCol="0" anchor="ctr"/>
          <a:lstStyle/>
          <a:p>
            <a:pPr indent="0" marL="0">
              <a:buNone/>
            </a:pPr>
            <a:r>
              <a:rPr lang="en-US" sz="1100" b="1" dirty="0">
                <a:solidFill>
                  <a:srgbClr val="2C3E50"/>
                </a:solidFill>
              </a:rPr>
              <a:t>Next.js Pages</a:t>
            </a:r>
            <a:endParaRPr lang="en-US" sz="1100" dirty="0"/>
          </a:p>
        </p:txBody>
      </p:sp>
      <p:sp>
        <p:nvSpPr>
          <p:cNvPr id="44" name="Text 42"/>
          <p:cNvSpPr/>
          <p:nvPr/>
        </p:nvSpPr>
        <p:spPr>
          <a:xfrm>
            <a:off x="2834640" y="2103120"/>
            <a:ext cx="2011680" cy="0"/>
          </a:xfrm>
          <a:prstGeom prst="rect">
            <a:avLst/>
          </a:prstGeom>
          <a:noFill/>
          <a:ln/>
        </p:spPr>
        <p:txBody>
          <a:bodyPr wrap="square" rtlCol="0" anchor="ctr"/>
          <a:lstStyle/>
          <a:p>
            <a:pPr indent="0" marL="0">
              <a:buNone/>
            </a:pPr>
            <a:r>
              <a:rPr lang="en-US" sz="1000" dirty="0">
                <a:solidFill>
                  <a:srgbClr val="5A6B7C"/>
                </a:solidFill>
              </a:rPr>
              <a:t>Dashboard pages framework</a:t>
            </a:r>
            <a:endParaRPr lang="en-US" sz="1000" dirty="0"/>
          </a:p>
        </p:txBody>
      </p:sp>
      <p:sp>
        <p:nvSpPr>
          <p:cNvPr id="45" name="Shape 43"/>
          <p:cNvSpPr/>
          <p:nvPr/>
        </p:nvSpPr>
        <p:spPr>
          <a:xfrm>
            <a:off x="2697480" y="2505456"/>
            <a:ext cx="2240280" cy="685800"/>
          </a:xfrm>
          <a:prstGeom prst="rect">
            <a:avLst/>
          </a:prstGeom>
          <a:solidFill>
            <a:srgbClr val="FFFFFF"/>
          </a:solidFill>
          <a:ln w="12700">
            <a:solidFill>
              <a:srgbClr val="E2E8F0"/>
            </a:solidFill>
            <a:prstDash val="solid"/>
          </a:ln>
        </p:spPr>
      </p:sp>
      <p:sp>
        <p:nvSpPr>
          <p:cNvPr id="46" name="Shape 44"/>
          <p:cNvSpPr/>
          <p:nvPr/>
        </p:nvSpPr>
        <p:spPr>
          <a:xfrm>
            <a:off x="2697480" y="2505456"/>
            <a:ext cx="54864" cy="685800"/>
          </a:xfrm>
          <a:prstGeom prst="rect">
            <a:avLst/>
          </a:prstGeom>
          <a:solidFill>
            <a:srgbClr val="9D2706"/>
          </a:solidFill>
          <a:ln/>
        </p:spPr>
      </p:sp>
      <p:sp>
        <p:nvSpPr>
          <p:cNvPr id="47" name="Text 45"/>
          <p:cNvSpPr/>
          <p:nvPr/>
        </p:nvSpPr>
        <p:spPr>
          <a:xfrm>
            <a:off x="2834640" y="2560320"/>
            <a:ext cx="2011680" cy="0"/>
          </a:xfrm>
          <a:prstGeom prst="rect">
            <a:avLst/>
          </a:prstGeom>
          <a:noFill/>
          <a:ln/>
        </p:spPr>
        <p:txBody>
          <a:bodyPr wrap="square" rtlCol="0" anchor="ctr"/>
          <a:lstStyle/>
          <a:p>
            <a:pPr indent="0" marL="0">
              <a:buNone/>
            </a:pPr>
            <a:r>
              <a:rPr lang="en-US" sz="1100" b="1" dirty="0">
                <a:solidFill>
                  <a:srgbClr val="2C3E50"/>
                </a:solidFill>
              </a:rPr>
              <a:t>Supabase Auth</a:t>
            </a:r>
            <a:endParaRPr lang="en-US" sz="1100" dirty="0"/>
          </a:p>
        </p:txBody>
      </p:sp>
      <p:sp>
        <p:nvSpPr>
          <p:cNvPr id="48" name="Text 46"/>
          <p:cNvSpPr/>
          <p:nvPr/>
        </p:nvSpPr>
        <p:spPr>
          <a:xfrm>
            <a:off x="2834640" y="2871216"/>
            <a:ext cx="2011680" cy="0"/>
          </a:xfrm>
          <a:prstGeom prst="rect">
            <a:avLst/>
          </a:prstGeom>
          <a:noFill/>
          <a:ln/>
        </p:spPr>
        <p:txBody>
          <a:bodyPr wrap="square" rtlCol="0" anchor="ctr"/>
          <a:lstStyle/>
          <a:p>
            <a:pPr indent="0" marL="0">
              <a:buNone/>
            </a:pPr>
            <a:r>
              <a:rPr lang="en-US" sz="1000" dirty="0">
                <a:solidFill>
                  <a:srgbClr val="5A6B7C"/>
                </a:solidFill>
              </a:rPr>
              <a:t>Session authentication</a:t>
            </a:r>
            <a:endParaRPr lang="en-US" sz="1000" dirty="0"/>
          </a:p>
        </p:txBody>
      </p:sp>
      <p:sp>
        <p:nvSpPr>
          <p:cNvPr id="49" name="Shape 47"/>
          <p:cNvSpPr/>
          <p:nvPr/>
        </p:nvSpPr>
        <p:spPr>
          <a:xfrm>
            <a:off x="2697480" y="3273552"/>
            <a:ext cx="2240280" cy="685800"/>
          </a:xfrm>
          <a:prstGeom prst="rect">
            <a:avLst/>
          </a:prstGeom>
          <a:solidFill>
            <a:srgbClr val="FFFFFF"/>
          </a:solidFill>
          <a:ln w="12700">
            <a:solidFill>
              <a:srgbClr val="E2E8F0"/>
            </a:solidFill>
            <a:prstDash val="solid"/>
          </a:ln>
        </p:spPr>
      </p:sp>
      <p:sp>
        <p:nvSpPr>
          <p:cNvPr id="50" name="Shape 48"/>
          <p:cNvSpPr/>
          <p:nvPr/>
        </p:nvSpPr>
        <p:spPr>
          <a:xfrm>
            <a:off x="2697480" y="3273552"/>
            <a:ext cx="54864" cy="685800"/>
          </a:xfrm>
          <a:prstGeom prst="rect">
            <a:avLst/>
          </a:prstGeom>
          <a:solidFill>
            <a:srgbClr val="9D2706"/>
          </a:solidFill>
          <a:ln/>
        </p:spPr>
      </p:sp>
      <p:sp>
        <p:nvSpPr>
          <p:cNvPr id="51" name="Text 49"/>
          <p:cNvSpPr/>
          <p:nvPr/>
        </p:nvSpPr>
        <p:spPr>
          <a:xfrm>
            <a:off x="2834640" y="3328416"/>
            <a:ext cx="2011680" cy="0"/>
          </a:xfrm>
          <a:prstGeom prst="rect">
            <a:avLst/>
          </a:prstGeom>
          <a:noFill/>
          <a:ln/>
        </p:spPr>
        <p:txBody>
          <a:bodyPr wrap="square" rtlCol="0" anchor="ctr"/>
          <a:lstStyle/>
          <a:p>
            <a:pPr indent="0" marL="0">
              <a:buNone/>
            </a:pPr>
            <a:r>
              <a:rPr lang="en-US" sz="1100" b="1" dirty="0">
                <a:solidFill>
                  <a:srgbClr val="2C3E50"/>
                </a:solidFill>
              </a:rPr>
              <a:t>React Hook Form</a:t>
            </a:r>
            <a:endParaRPr lang="en-US" sz="1100" dirty="0"/>
          </a:p>
        </p:txBody>
      </p:sp>
      <p:sp>
        <p:nvSpPr>
          <p:cNvPr id="52" name="Text 50"/>
          <p:cNvSpPr/>
          <p:nvPr/>
        </p:nvSpPr>
        <p:spPr>
          <a:xfrm>
            <a:off x="2834640" y="3639312"/>
            <a:ext cx="2011680" cy="0"/>
          </a:xfrm>
          <a:prstGeom prst="rect">
            <a:avLst/>
          </a:prstGeom>
          <a:noFill/>
          <a:ln/>
        </p:spPr>
        <p:txBody>
          <a:bodyPr wrap="square" rtlCol="0" anchor="ctr"/>
          <a:lstStyle/>
          <a:p>
            <a:pPr indent="0" marL="0">
              <a:buNone/>
            </a:pPr>
            <a:r>
              <a:rPr lang="en-US" sz="1000" dirty="0">
                <a:solidFill>
                  <a:srgbClr val="5A6B7C"/>
                </a:solidFill>
              </a:rPr>
              <a:t>Form validation state</a:t>
            </a:r>
            <a:endParaRPr lang="en-US" sz="1000" dirty="0"/>
          </a:p>
        </p:txBody>
      </p:sp>
      <p:sp>
        <p:nvSpPr>
          <p:cNvPr id="53" name="Shape 51"/>
          <p:cNvSpPr/>
          <p:nvPr/>
        </p:nvSpPr>
        <p:spPr>
          <a:xfrm>
            <a:off x="2697480" y="4041648"/>
            <a:ext cx="2240280" cy="685800"/>
          </a:xfrm>
          <a:prstGeom prst="rect">
            <a:avLst/>
          </a:prstGeom>
          <a:solidFill>
            <a:srgbClr val="FFFFFF"/>
          </a:solidFill>
          <a:ln w="12700">
            <a:solidFill>
              <a:srgbClr val="E2E8F0"/>
            </a:solidFill>
            <a:prstDash val="solid"/>
          </a:ln>
        </p:spPr>
      </p:sp>
      <p:sp>
        <p:nvSpPr>
          <p:cNvPr id="54" name="Shape 52"/>
          <p:cNvSpPr/>
          <p:nvPr/>
        </p:nvSpPr>
        <p:spPr>
          <a:xfrm>
            <a:off x="2697480" y="4041648"/>
            <a:ext cx="54864" cy="685800"/>
          </a:xfrm>
          <a:prstGeom prst="rect">
            <a:avLst/>
          </a:prstGeom>
          <a:solidFill>
            <a:srgbClr val="9D2706"/>
          </a:solidFill>
          <a:ln/>
        </p:spPr>
      </p:sp>
      <p:sp>
        <p:nvSpPr>
          <p:cNvPr id="55" name="Text 53"/>
          <p:cNvSpPr/>
          <p:nvPr/>
        </p:nvSpPr>
        <p:spPr>
          <a:xfrm>
            <a:off x="2834640" y="4096512"/>
            <a:ext cx="2011680" cy="0"/>
          </a:xfrm>
          <a:prstGeom prst="rect">
            <a:avLst/>
          </a:prstGeom>
          <a:noFill/>
          <a:ln/>
        </p:spPr>
        <p:txBody>
          <a:bodyPr wrap="square" rtlCol="0" anchor="ctr"/>
          <a:lstStyle/>
          <a:p>
            <a:pPr indent="0" marL="0">
              <a:buNone/>
            </a:pPr>
            <a:r>
              <a:rPr lang="en-US" sz="1100" b="1" dirty="0">
                <a:solidFill>
                  <a:srgbClr val="2C3E50"/>
                </a:solidFill>
              </a:rPr>
              <a:t>Recharts</a:t>
            </a:r>
            <a:endParaRPr lang="en-US" sz="1100" dirty="0"/>
          </a:p>
        </p:txBody>
      </p:sp>
      <p:sp>
        <p:nvSpPr>
          <p:cNvPr id="56" name="Text 54"/>
          <p:cNvSpPr/>
          <p:nvPr/>
        </p:nvSpPr>
        <p:spPr>
          <a:xfrm>
            <a:off x="2834640" y="4407408"/>
            <a:ext cx="2011680" cy="0"/>
          </a:xfrm>
          <a:prstGeom prst="rect">
            <a:avLst/>
          </a:prstGeom>
          <a:noFill/>
          <a:ln/>
        </p:spPr>
        <p:txBody>
          <a:bodyPr wrap="square" rtlCol="0" anchor="ctr"/>
          <a:lstStyle/>
          <a:p>
            <a:pPr indent="0" marL="0">
              <a:buNone/>
            </a:pPr>
            <a:r>
              <a:rPr lang="en-US" sz="1000" dirty="0">
                <a:solidFill>
                  <a:srgbClr val="5A6B7C"/>
                </a:solidFill>
              </a:rPr>
              <a:t>Metric analytics UI</a:t>
            </a:r>
            <a:endParaRPr lang="en-US" sz="1000" dirty="0"/>
          </a:p>
        </p:txBody>
      </p:sp>
      <p:sp>
        <p:nvSpPr>
          <p:cNvPr id="57" name="Shape 55"/>
          <p:cNvSpPr/>
          <p:nvPr/>
        </p:nvSpPr>
        <p:spPr>
          <a:xfrm>
            <a:off x="2697480" y="4809744"/>
            <a:ext cx="2240280" cy="685800"/>
          </a:xfrm>
          <a:prstGeom prst="rect">
            <a:avLst/>
          </a:prstGeom>
          <a:solidFill>
            <a:srgbClr val="FFFFFF"/>
          </a:solidFill>
          <a:ln w="12700">
            <a:solidFill>
              <a:srgbClr val="E2E8F0"/>
            </a:solidFill>
            <a:prstDash val="solid"/>
          </a:ln>
        </p:spPr>
      </p:sp>
      <p:sp>
        <p:nvSpPr>
          <p:cNvPr id="58" name="Shape 56"/>
          <p:cNvSpPr/>
          <p:nvPr/>
        </p:nvSpPr>
        <p:spPr>
          <a:xfrm>
            <a:off x="2697480" y="4809744"/>
            <a:ext cx="54864" cy="685800"/>
          </a:xfrm>
          <a:prstGeom prst="rect">
            <a:avLst/>
          </a:prstGeom>
          <a:solidFill>
            <a:srgbClr val="9D2706"/>
          </a:solidFill>
          <a:ln/>
        </p:spPr>
      </p:sp>
      <p:sp>
        <p:nvSpPr>
          <p:cNvPr id="59" name="Text 57"/>
          <p:cNvSpPr/>
          <p:nvPr/>
        </p:nvSpPr>
        <p:spPr>
          <a:xfrm>
            <a:off x="2834640" y="4864608"/>
            <a:ext cx="2011680" cy="0"/>
          </a:xfrm>
          <a:prstGeom prst="rect">
            <a:avLst/>
          </a:prstGeom>
          <a:noFill/>
          <a:ln/>
        </p:spPr>
        <p:txBody>
          <a:bodyPr wrap="square" rtlCol="0" anchor="ctr"/>
          <a:lstStyle/>
          <a:p>
            <a:pPr indent="0" marL="0">
              <a:buNone/>
            </a:pPr>
            <a:r>
              <a:rPr lang="en-US" sz="1100" b="1" dirty="0">
                <a:solidFill>
                  <a:srgbClr val="2C3E50"/>
                </a:solidFill>
              </a:rPr>
              <a:t>Zustand</a:t>
            </a:r>
            <a:endParaRPr lang="en-US" sz="1100" dirty="0"/>
          </a:p>
        </p:txBody>
      </p:sp>
      <p:sp>
        <p:nvSpPr>
          <p:cNvPr id="60" name="Text 58"/>
          <p:cNvSpPr/>
          <p:nvPr/>
        </p:nvSpPr>
        <p:spPr>
          <a:xfrm>
            <a:off x="2834640" y="5175504"/>
            <a:ext cx="2011680" cy="0"/>
          </a:xfrm>
          <a:prstGeom prst="rect">
            <a:avLst/>
          </a:prstGeom>
          <a:noFill/>
          <a:ln/>
        </p:spPr>
        <p:txBody>
          <a:bodyPr wrap="square" rtlCol="0" anchor="ctr"/>
          <a:lstStyle/>
          <a:p>
            <a:pPr indent="0" marL="0">
              <a:buNone/>
            </a:pPr>
            <a:r>
              <a:rPr lang="en-US" sz="1000" dirty="0">
                <a:solidFill>
                  <a:srgbClr val="5A6B7C"/>
                </a:solidFill>
              </a:rPr>
              <a:t>Client state storage</a:t>
            </a:r>
            <a:endParaRPr lang="en-US" sz="1000" dirty="0"/>
          </a:p>
        </p:txBody>
      </p:sp>
      <p:sp>
        <p:nvSpPr>
          <p:cNvPr id="61" name="Shape 59"/>
          <p:cNvSpPr/>
          <p:nvPr/>
        </p:nvSpPr>
        <p:spPr>
          <a:xfrm>
            <a:off x="2697480" y="5577840"/>
            <a:ext cx="2240280" cy="685800"/>
          </a:xfrm>
          <a:prstGeom prst="rect">
            <a:avLst/>
          </a:prstGeom>
          <a:solidFill>
            <a:srgbClr val="FFFFFF"/>
          </a:solidFill>
          <a:ln w="12700">
            <a:solidFill>
              <a:srgbClr val="E2E8F0"/>
            </a:solidFill>
            <a:prstDash val="solid"/>
          </a:ln>
        </p:spPr>
      </p:sp>
      <p:sp>
        <p:nvSpPr>
          <p:cNvPr id="62" name="Shape 60"/>
          <p:cNvSpPr/>
          <p:nvPr/>
        </p:nvSpPr>
        <p:spPr>
          <a:xfrm>
            <a:off x="2697480" y="5577840"/>
            <a:ext cx="54864" cy="685800"/>
          </a:xfrm>
          <a:prstGeom prst="rect">
            <a:avLst/>
          </a:prstGeom>
          <a:solidFill>
            <a:srgbClr val="9D2706"/>
          </a:solidFill>
          <a:ln/>
        </p:spPr>
      </p:sp>
      <p:sp>
        <p:nvSpPr>
          <p:cNvPr id="63" name="Text 61"/>
          <p:cNvSpPr/>
          <p:nvPr/>
        </p:nvSpPr>
        <p:spPr>
          <a:xfrm>
            <a:off x="2834640" y="5632704"/>
            <a:ext cx="2011680" cy="0"/>
          </a:xfrm>
          <a:prstGeom prst="rect">
            <a:avLst/>
          </a:prstGeom>
          <a:noFill/>
          <a:ln/>
        </p:spPr>
        <p:txBody>
          <a:bodyPr wrap="square" rtlCol="0" anchor="ctr"/>
          <a:lstStyle/>
          <a:p>
            <a:pPr indent="0" marL="0">
              <a:buNone/>
            </a:pPr>
            <a:r>
              <a:rPr lang="en-US" sz="1100" b="1" dirty="0">
                <a:solidFill>
                  <a:srgbClr val="2C3E50"/>
                </a:solidFill>
              </a:rPr>
              <a:t>TypeScript</a:t>
            </a:r>
            <a:endParaRPr lang="en-US" sz="1100" dirty="0"/>
          </a:p>
        </p:txBody>
      </p:sp>
      <p:sp>
        <p:nvSpPr>
          <p:cNvPr id="64" name="Text 62"/>
          <p:cNvSpPr/>
          <p:nvPr/>
        </p:nvSpPr>
        <p:spPr>
          <a:xfrm>
            <a:off x="2834640" y="5943600"/>
            <a:ext cx="2011680" cy="0"/>
          </a:xfrm>
          <a:prstGeom prst="rect">
            <a:avLst/>
          </a:prstGeom>
          <a:noFill/>
          <a:ln/>
        </p:spPr>
        <p:txBody>
          <a:bodyPr wrap="square" rtlCol="0" anchor="ctr"/>
          <a:lstStyle/>
          <a:p>
            <a:pPr indent="0" marL="0">
              <a:buNone/>
            </a:pPr>
            <a:r>
              <a:rPr lang="en-US" sz="1000" dirty="0">
                <a:solidFill>
                  <a:srgbClr val="5A6B7C"/>
                </a:solidFill>
              </a:rPr>
              <a:t>Interface type safety</a:t>
            </a:r>
            <a:endParaRPr lang="en-US" sz="1000" dirty="0"/>
          </a:p>
        </p:txBody>
      </p:sp>
      <p:sp>
        <p:nvSpPr>
          <p:cNvPr id="65" name="Shape 63"/>
          <p:cNvSpPr/>
          <p:nvPr/>
        </p:nvSpPr>
        <p:spPr>
          <a:xfrm>
            <a:off x="5074920" y="960120"/>
            <a:ext cx="2240280" cy="685800"/>
          </a:xfrm>
          <a:prstGeom prst="rect">
            <a:avLst/>
          </a:prstGeom>
          <a:solidFill>
            <a:srgbClr val="EDF2F7"/>
          </a:solidFill>
          <a:ln/>
        </p:spPr>
      </p:sp>
      <p:sp>
        <p:nvSpPr>
          <p:cNvPr id="66" name="Shape 64"/>
          <p:cNvSpPr/>
          <p:nvPr/>
        </p:nvSpPr>
        <p:spPr>
          <a:xfrm>
            <a:off x="5074920" y="960120"/>
            <a:ext cx="54864" cy="685800"/>
          </a:xfrm>
          <a:prstGeom prst="rect">
            <a:avLst/>
          </a:prstGeom>
          <a:solidFill>
            <a:srgbClr val="9D2706"/>
          </a:solidFill>
          <a:ln/>
        </p:spPr>
      </p:sp>
      <p:sp>
        <p:nvSpPr>
          <p:cNvPr id="67" name="Text 65"/>
          <p:cNvSpPr/>
          <p:nvPr/>
        </p:nvSpPr>
        <p:spPr>
          <a:xfrm>
            <a:off x="5166360" y="1005840"/>
            <a:ext cx="2084832" cy="594360"/>
          </a:xfrm>
          <a:prstGeom prst="rect">
            <a:avLst/>
          </a:prstGeom>
          <a:noFill/>
          <a:ln/>
        </p:spPr>
        <p:txBody>
          <a:bodyPr wrap="square" rtlCol="0" anchor="ctr"/>
          <a:lstStyle/>
          <a:p>
            <a:pPr algn="ctr" indent="0" marL="0">
              <a:buNone/>
            </a:pPr>
            <a:r>
              <a:rPr lang="en-US" sz="1100" b="1" dirty="0">
                <a:solidFill>
                  <a:srgbClr val="2C3E50"/>
                </a:solidFill>
              </a:rPr>
              <a:t>Backend API</a:t>
            </a:r>
            <a:endParaRPr lang="en-US" sz="1100" dirty="0"/>
          </a:p>
        </p:txBody>
      </p:sp>
      <p:sp>
        <p:nvSpPr>
          <p:cNvPr id="68" name="Shape 66"/>
          <p:cNvSpPr/>
          <p:nvPr/>
        </p:nvSpPr>
        <p:spPr>
          <a:xfrm>
            <a:off x="5074920" y="1737360"/>
            <a:ext cx="2240280" cy="685800"/>
          </a:xfrm>
          <a:prstGeom prst="rect">
            <a:avLst/>
          </a:prstGeom>
          <a:solidFill>
            <a:srgbClr val="FFFFFF"/>
          </a:solidFill>
          <a:ln w="12700">
            <a:solidFill>
              <a:srgbClr val="E2E8F0"/>
            </a:solidFill>
            <a:prstDash val="solid"/>
          </a:ln>
        </p:spPr>
      </p:sp>
      <p:sp>
        <p:nvSpPr>
          <p:cNvPr id="69" name="Shape 67"/>
          <p:cNvSpPr/>
          <p:nvPr/>
        </p:nvSpPr>
        <p:spPr>
          <a:xfrm>
            <a:off x="5074920" y="1737360"/>
            <a:ext cx="54864" cy="685800"/>
          </a:xfrm>
          <a:prstGeom prst="rect">
            <a:avLst/>
          </a:prstGeom>
          <a:solidFill>
            <a:srgbClr val="9D2706"/>
          </a:solidFill>
          <a:ln/>
        </p:spPr>
      </p:sp>
      <p:sp>
        <p:nvSpPr>
          <p:cNvPr id="70" name="Text 68"/>
          <p:cNvSpPr/>
          <p:nvPr/>
        </p:nvSpPr>
        <p:spPr>
          <a:xfrm>
            <a:off x="5212080" y="1792224"/>
            <a:ext cx="2011680" cy="0"/>
          </a:xfrm>
          <a:prstGeom prst="rect">
            <a:avLst/>
          </a:prstGeom>
          <a:noFill/>
          <a:ln/>
        </p:spPr>
        <p:txBody>
          <a:bodyPr wrap="square" rtlCol="0" anchor="ctr"/>
          <a:lstStyle/>
          <a:p>
            <a:pPr indent="0" marL="0">
              <a:buNone/>
            </a:pPr>
            <a:r>
              <a:rPr lang="en-US" sz="1100" b="1" dirty="0">
                <a:solidFill>
                  <a:srgbClr val="2C3E50"/>
                </a:solidFill>
              </a:rPr>
              <a:t>Node.js + Express</a:t>
            </a:r>
            <a:endParaRPr lang="en-US" sz="1100" dirty="0"/>
          </a:p>
        </p:txBody>
      </p:sp>
      <p:sp>
        <p:nvSpPr>
          <p:cNvPr id="71" name="Text 69"/>
          <p:cNvSpPr/>
          <p:nvPr/>
        </p:nvSpPr>
        <p:spPr>
          <a:xfrm>
            <a:off x="5212080" y="2103120"/>
            <a:ext cx="2011680" cy="0"/>
          </a:xfrm>
          <a:prstGeom prst="rect">
            <a:avLst/>
          </a:prstGeom>
          <a:noFill/>
          <a:ln/>
        </p:spPr>
        <p:txBody>
          <a:bodyPr wrap="square" rtlCol="0" anchor="ctr"/>
          <a:lstStyle/>
          <a:p>
            <a:pPr indent="0" marL="0">
              <a:buNone/>
            </a:pPr>
            <a:r>
              <a:rPr lang="en-US" sz="1000" dirty="0">
                <a:solidFill>
                  <a:srgbClr val="5A6B7C"/>
                </a:solidFill>
              </a:rPr>
              <a:t>REST/GraphQL backend</a:t>
            </a:r>
            <a:endParaRPr lang="en-US" sz="1000" dirty="0"/>
          </a:p>
        </p:txBody>
      </p:sp>
      <p:sp>
        <p:nvSpPr>
          <p:cNvPr id="72" name="Shape 70"/>
          <p:cNvSpPr/>
          <p:nvPr/>
        </p:nvSpPr>
        <p:spPr>
          <a:xfrm>
            <a:off x="5074920" y="2505456"/>
            <a:ext cx="2240280" cy="685800"/>
          </a:xfrm>
          <a:prstGeom prst="rect">
            <a:avLst/>
          </a:prstGeom>
          <a:solidFill>
            <a:srgbClr val="FFFFFF"/>
          </a:solidFill>
          <a:ln w="12700">
            <a:solidFill>
              <a:srgbClr val="E2E8F0"/>
            </a:solidFill>
            <a:prstDash val="solid"/>
          </a:ln>
        </p:spPr>
      </p:sp>
      <p:sp>
        <p:nvSpPr>
          <p:cNvPr id="73" name="Shape 71"/>
          <p:cNvSpPr/>
          <p:nvPr/>
        </p:nvSpPr>
        <p:spPr>
          <a:xfrm>
            <a:off x="5074920" y="2505456"/>
            <a:ext cx="54864" cy="685800"/>
          </a:xfrm>
          <a:prstGeom prst="rect">
            <a:avLst/>
          </a:prstGeom>
          <a:solidFill>
            <a:srgbClr val="9D2706"/>
          </a:solidFill>
          <a:ln/>
        </p:spPr>
      </p:sp>
      <p:sp>
        <p:nvSpPr>
          <p:cNvPr id="74" name="Text 72"/>
          <p:cNvSpPr/>
          <p:nvPr/>
        </p:nvSpPr>
        <p:spPr>
          <a:xfrm>
            <a:off x="5212080" y="2560320"/>
            <a:ext cx="2011680" cy="0"/>
          </a:xfrm>
          <a:prstGeom prst="rect">
            <a:avLst/>
          </a:prstGeom>
          <a:noFill/>
          <a:ln/>
        </p:spPr>
        <p:txBody>
          <a:bodyPr wrap="square" rtlCol="0" anchor="ctr"/>
          <a:lstStyle/>
          <a:p>
            <a:pPr indent="0" marL="0">
              <a:buNone/>
            </a:pPr>
            <a:r>
              <a:rPr lang="en-US" sz="1100" b="1" dirty="0">
                <a:solidFill>
                  <a:srgbClr val="2C3E50"/>
                </a:solidFill>
              </a:rPr>
              <a:t>PostgreSQL</a:t>
            </a:r>
            <a:endParaRPr lang="en-US" sz="1100" dirty="0"/>
          </a:p>
        </p:txBody>
      </p:sp>
      <p:sp>
        <p:nvSpPr>
          <p:cNvPr id="75" name="Text 73"/>
          <p:cNvSpPr/>
          <p:nvPr/>
        </p:nvSpPr>
        <p:spPr>
          <a:xfrm>
            <a:off x="5212080" y="2871216"/>
            <a:ext cx="2011680" cy="0"/>
          </a:xfrm>
          <a:prstGeom prst="rect">
            <a:avLst/>
          </a:prstGeom>
          <a:noFill/>
          <a:ln/>
        </p:spPr>
        <p:txBody>
          <a:bodyPr wrap="square" rtlCol="0" anchor="ctr"/>
          <a:lstStyle/>
          <a:p>
            <a:pPr indent="0" marL="0">
              <a:buNone/>
            </a:pPr>
            <a:r>
              <a:rPr lang="en-US" sz="1000" dirty="0">
                <a:solidFill>
                  <a:srgbClr val="5A6B7C"/>
                </a:solidFill>
              </a:rPr>
              <a:t>Database relations</a:t>
            </a:r>
            <a:endParaRPr lang="en-US" sz="1000" dirty="0"/>
          </a:p>
        </p:txBody>
      </p:sp>
      <p:sp>
        <p:nvSpPr>
          <p:cNvPr id="76" name="Shape 74"/>
          <p:cNvSpPr/>
          <p:nvPr/>
        </p:nvSpPr>
        <p:spPr>
          <a:xfrm>
            <a:off x="5074920" y="3273552"/>
            <a:ext cx="2240280" cy="685800"/>
          </a:xfrm>
          <a:prstGeom prst="rect">
            <a:avLst/>
          </a:prstGeom>
          <a:solidFill>
            <a:srgbClr val="FFFFFF"/>
          </a:solidFill>
          <a:ln w="12700">
            <a:solidFill>
              <a:srgbClr val="E2E8F0"/>
            </a:solidFill>
            <a:prstDash val="solid"/>
          </a:ln>
        </p:spPr>
      </p:sp>
      <p:sp>
        <p:nvSpPr>
          <p:cNvPr id="77" name="Shape 75"/>
          <p:cNvSpPr/>
          <p:nvPr/>
        </p:nvSpPr>
        <p:spPr>
          <a:xfrm>
            <a:off x="5074920" y="3273552"/>
            <a:ext cx="54864" cy="685800"/>
          </a:xfrm>
          <a:prstGeom prst="rect">
            <a:avLst/>
          </a:prstGeom>
          <a:solidFill>
            <a:srgbClr val="9D2706"/>
          </a:solidFill>
          <a:ln/>
        </p:spPr>
      </p:sp>
      <p:sp>
        <p:nvSpPr>
          <p:cNvPr id="78" name="Text 76"/>
          <p:cNvSpPr/>
          <p:nvPr/>
        </p:nvSpPr>
        <p:spPr>
          <a:xfrm>
            <a:off x="5212080" y="3328416"/>
            <a:ext cx="2011680" cy="0"/>
          </a:xfrm>
          <a:prstGeom prst="rect">
            <a:avLst/>
          </a:prstGeom>
          <a:noFill/>
          <a:ln/>
        </p:spPr>
        <p:txBody>
          <a:bodyPr wrap="square" rtlCol="0" anchor="ctr"/>
          <a:lstStyle/>
          <a:p>
            <a:pPr indent="0" marL="0">
              <a:buNone/>
            </a:pPr>
            <a:r>
              <a:rPr lang="en-US" sz="1100" b="1" dirty="0">
                <a:solidFill>
                  <a:srgbClr val="2C3E50"/>
                </a:solidFill>
              </a:rPr>
              <a:t>Supabase BaaS</a:t>
            </a:r>
            <a:endParaRPr lang="en-US" sz="1100" dirty="0"/>
          </a:p>
        </p:txBody>
      </p:sp>
      <p:sp>
        <p:nvSpPr>
          <p:cNvPr id="79" name="Text 77"/>
          <p:cNvSpPr/>
          <p:nvPr/>
        </p:nvSpPr>
        <p:spPr>
          <a:xfrm>
            <a:off x="5212080" y="3639312"/>
            <a:ext cx="2011680" cy="0"/>
          </a:xfrm>
          <a:prstGeom prst="rect">
            <a:avLst/>
          </a:prstGeom>
          <a:noFill/>
          <a:ln/>
        </p:spPr>
        <p:txBody>
          <a:bodyPr wrap="square" rtlCol="0" anchor="ctr"/>
          <a:lstStyle/>
          <a:p>
            <a:pPr indent="0" marL="0">
              <a:buNone/>
            </a:pPr>
            <a:r>
              <a:rPr lang="en-US" sz="1000" dirty="0">
                <a:solidFill>
                  <a:srgbClr val="5A6B7C"/>
                </a:solidFill>
              </a:rPr>
              <a:t>Backend utility services</a:t>
            </a:r>
            <a:endParaRPr lang="en-US" sz="1000" dirty="0"/>
          </a:p>
        </p:txBody>
      </p:sp>
      <p:sp>
        <p:nvSpPr>
          <p:cNvPr id="80" name="Shape 78"/>
          <p:cNvSpPr/>
          <p:nvPr/>
        </p:nvSpPr>
        <p:spPr>
          <a:xfrm>
            <a:off x="5074920" y="4041648"/>
            <a:ext cx="2240280" cy="685800"/>
          </a:xfrm>
          <a:prstGeom prst="rect">
            <a:avLst/>
          </a:prstGeom>
          <a:solidFill>
            <a:srgbClr val="FFFFFF"/>
          </a:solidFill>
          <a:ln w="12700">
            <a:solidFill>
              <a:srgbClr val="E2E8F0"/>
            </a:solidFill>
            <a:prstDash val="solid"/>
          </a:ln>
        </p:spPr>
      </p:sp>
      <p:sp>
        <p:nvSpPr>
          <p:cNvPr id="81" name="Shape 79"/>
          <p:cNvSpPr/>
          <p:nvPr/>
        </p:nvSpPr>
        <p:spPr>
          <a:xfrm>
            <a:off x="5074920" y="4041648"/>
            <a:ext cx="54864" cy="685800"/>
          </a:xfrm>
          <a:prstGeom prst="rect">
            <a:avLst/>
          </a:prstGeom>
          <a:solidFill>
            <a:srgbClr val="9D2706"/>
          </a:solidFill>
          <a:ln/>
        </p:spPr>
      </p:sp>
      <p:sp>
        <p:nvSpPr>
          <p:cNvPr id="82" name="Text 80"/>
          <p:cNvSpPr/>
          <p:nvPr/>
        </p:nvSpPr>
        <p:spPr>
          <a:xfrm>
            <a:off x="5212080" y="4096512"/>
            <a:ext cx="2011680" cy="0"/>
          </a:xfrm>
          <a:prstGeom prst="rect">
            <a:avLst/>
          </a:prstGeom>
          <a:noFill/>
          <a:ln/>
        </p:spPr>
        <p:txBody>
          <a:bodyPr wrap="square" rtlCol="0" anchor="ctr"/>
          <a:lstStyle/>
          <a:p>
            <a:pPr indent="0" marL="0">
              <a:buNone/>
            </a:pPr>
            <a:r>
              <a:rPr lang="en-US" sz="1100" b="1" dirty="0">
                <a:solidFill>
                  <a:srgbClr val="2C3E50"/>
                </a:solidFill>
              </a:rPr>
              <a:t>Prisma ORM</a:t>
            </a:r>
            <a:endParaRPr lang="en-US" sz="1100" dirty="0"/>
          </a:p>
        </p:txBody>
      </p:sp>
      <p:sp>
        <p:nvSpPr>
          <p:cNvPr id="83" name="Text 81"/>
          <p:cNvSpPr/>
          <p:nvPr/>
        </p:nvSpPr>
        <p:spPr>
          <a:xfrm>
            <a:off x="5212080" y="4407408"/>
            <a:ext cx="2011680" cy="0"/>
          </a:xfrm>
          <a:prstGeom prst="rect">
            <a:avLst/>
          </a:prstGeom>
          <a:noFill/>
          <a:ln/>
        </p:spPr>
        <p:txBody>
          <a:bodyPr wrap="square" rtlCol="0" anchor="ctr"/>
          <a:lstStyle/>
          <a:p>
            <a:pPr indent="0" marL="0">
              <a:buNone/>
            </a:pPr>
            <a:r>
              <a:rPr lang="en-US" sz="1000" dirty="0">
                <a:solidFill>
                  <a:srgbClr val="5A6B7C"/>
                </a:solidFill>
              </a:rPr>
              <a:t>Database schema layer</a:t>
            </a:r>
            <a:endParaRPr lang="en-US" sz="1000" dirty="0"/>
          </a:p>
        </p:txBody>
      </p:sp>
      <p:sp>
        <p:nvSpPr>
          <p:cNvPr id="84" name="Shape 82"/>
          <p:cNvSpPr/>
          <p:nvPr/>
        </p:nvSpPr>
        <p:spPr>
          <a:xfrm>
            <a:off x="5074920" y="4809744"/>
            <a:ext cx="2240280" cy="685800"/>
          </a:xfrm>
          <a:prstGeom prst="rect">
            <a:avLst/>
          </a:prstGeom>
          <a:solidFill>
            <a:srgbClr val="FFFFFF"/>
          </a:solidFill>
          <a:ln w="12700">
            <a:solidFill>
              <a:srgbClr val="E2E8F0"/>
            </a:solidFill>
            <a:prstDash val="solid"/>
          </a:ln>
        </p:spPr>
      </p:sp>
      <p:sp>
        <p:nvSpPr>
          <p:cNvPr id="85" name="Shape 83"/>
          <p:cNvSpPr/>
          <p:nvPr/>
        </p:nvSpPr>
        <p:spPr>
          <a:xfrm>
            <a:off x="5074920" y="4809744"/>
            <a:ext cx="54864" cy="685800"/>
          </a:xfrm>
          <a:prstGeom prst="rect">
            <a:avLst/>
          </a:prstGeom>
          <a:solidFill>
            <a:srgbClr val="9D2706"/>
          </a:solidFill>
          <a:ln/>
        </p:spPr>
      </p:sp>
      <p:sp>
        <p:nvSpPr>
          <p:cNvPr id="86" name="Text 84"/>
          <p:cNvSpPr/>
          <p:nvPr/>
        </p:nvSpPr>
        <p:spPr>
          <a:xfrm>
            <a:off x="5212080" y="4864608"/>
            <a:ext cx="2011680" cy="0"/>
          </a:xfrm>
          <a:prstGeom prst="rect">
            <a:avLst/>
          </a:prstGeom>
          <a:noFill/>
          <a:ln/>
        </p:spPr>
        <p:txBody>
          <a:bodyPr wrap="square" rtlCol="0" anchor="ctr"/>
          <a:lstStyle/>
          <a:p>
            <a:pPr indent="0" marL="0">
              <a:buNone/>
            </a:pPr>
            <a:r>
              <a:rPr lang="en-US" sz="1100" b="1" dirty="0">
                <a:solidFill>
                  <a:srgbClr val="2C3E50"/>
                </a:solidFill>
              </a:rPr>
              <a:t>Stripe SDK</a:t>
            </a:r>
            <a:endParaRPr lang="en-US" sz="1100" dirty="0"/>
          </a:p>
        </p:txBody>
      </p:sp>
      <p:sp>
        <p:nvSpPr>
          <p:cNvPr id="87" name="Text 85"/>
          <p:cNvSpPr/>
          <p:nvPr/>
        </p:nvSpPr>
        <p:spPr>
          <a:xfrm>
            <a:off x="5212080" y="5175504"/>
            <a:ext cx="2011680" cy="0"/>
          </a:xfrm>
          <a:prstGeom prst="rect">
            <a:avLst/>
          </a:prstGeom>
          <a:noFill/>
          <a:ln/>
        </p:spPr>
        <p:txBody>
          <a:bodyPr wrap="square" rtlCol="0" anchor="ctr"/>
          <a:lstStyle/>
          <a:p>
            <a:pPr indent="0" marL="0">
              <a:buNone/>
            </a:pPr>
            <a:r>
              <a:rPr lang="en-US" sz="1000" dirty="0">
                <a:solidFill>
                  <a:srgbClr val="5A6B7C"/>
                </a:solidFill>
              </a:rPr>
              <a:t>SaaS billing engine</a:t>
            </a:r>
            <a:endParaRPr lang="en-US" sz="1000" dirty="0"/>
          </a:p>
        </p:txBody>
      </p:sp>
      <p:sp>
        <p:nvSpPr>
          <p:cNvPr id="88" name="Shape 86"/>
          <p:cNvSpPr/>
          <p:nvPr/>
        </p:nvSpPr>
        <p:spPr>
          <a:xfrm>
            <a:off x="5074920" y="5577840"/>
            <a:ext cx="2240280" cy="685800"/>
          </a:xfrm>
          <a:prstGeom prst="rect">
            <a:avLst/>
          </a:prstGeom>
          <a:solidFill>
            <a:srgbClr val="FFFFFF"/>
          </a:solidFill>
          <a:ln w="12700">
            <a:solidFill>
              <a:srgbClr val="E2E8F0"/>
            </a:solidFill>
            <a:prstDash val="solid"/>
          </a:ln>
        </p:spPr>
      </p:sp>
      <p:sp>
        <p:nvSpPr>
          <p:cNvPr id="89" name="Shape 87"/>
          <p:cNvSpPr/>
          <p:nvPr/>
        </p:nvSpPr>
        <p:spPr>
          <a:xfrm>
            <a:off x="5074920" y="5577840"/>
            <a:ext cx="54864" cy="685800"/>
          </a:xfrm>
          <a:prstGeom prst="rect">
            <a:avLst/>
          </a:prstGeom>
          <a:solidFill>
            <a:srgbClr val="9D2706"/>
          </a:solidFill>
          <a:ln/>
        </p:spPr>
      </p:sp>
      <p:sp>
        <p:nvSpPr>
          <p:cNvPr id="90" name="Text 88"/>
          <p:cNvSpPr/>
          <p:nvPr/>
        </p:nvSpPr>
        <p:spPr>
          <a:xfrm>
            <a:off x="5212080" y="5632704"/>
            <a:ext cx="2011680" cy="0"/>
          </a:xfrm>
          <a:prstGeom prst="rect">
            <a:avLst/>
          </a:prstGeom>
          <a:noFill/>
          <a:ln/>
        </p:spPr>
        <p:txBody>
          <a:bodyPr wrap="square" rtlCol="0" anchor="ctr"/>
          <a:lstStyle/>
          <a:p>
            <a:pPr indent="0" marL="0">
              <a:buNone/>
            </a:pPr>
            <a:r>
              <a:rPr lang="en-US" sz="1100" b="1" dirty="0">
                <a:solidFill>
                  <a:srgbClr val="2C3E50"/>
                </a:solidFill>
              </a:rPr>
              <a:t>GraphQL</a:t>
            </a:r>
            <a:endParaRPr lang="en-US" sz="1100" dirty="0"/>
          </a:p>
        </p:txBody>
      </p:sp>
      <p:sp>
        <p:nvSpPr>
          <p:cNvPr id="91" name="Text 89"/>
          <p:cNvSpPr/>
          <p:nvPr/>
        </p:nvSpPr>
        <p:spPr>
          <a:xfrm>
            <a:off x="5212080" y="5943600"/>
            <a:ext cx="2011680" cy="0"/>
          </a:xfrm>
          <a:prstGeom prst="rect">
            <a:avLst/>
          </a:prstGeom>
          <a:noFill/>
          <a:ln/>
        </p:spPr>
        <p:txBody>
          <a:bodyPr wrap="square" rtlCol="0" anchor="ctr"/>
          <a:lstStyle/>
          <a:p>
            <a:pPr indent="0" marL="0">
              <a:buNone/>
            </a:pPr>
            <a:r>
              <a:rPr lang="en-US" sz="1000" dirty="0">
                <a:solidFill>
                  <a:srgbClr val="5A6B7C"/>
                </a:solidFill>
              </a:rPr>
              <a:t>Unified client calls</a:t>
            </a:r>
            <a:endParaRPr lang="en-US" sz="1000" dirty="0"/>
          </a:p>
        </p:txBody>
      </p:sp>
      <p:sp>
        <p:nvSpPr>
          <p:cNvPr id="92" name="Shape 90"/>
          <p:cNvSpPr/>
          <p:nvPr/>
        </p:nvSpPr>
        <p:spPr>
          <a:xfrm>
            <a:off x="7452360" y="960120"/>
            <a:ext cx="2240280" cy="685800"/>
          </a:xfrm>
          <a:prstGeom prst="rect">
            <a:avLst/>
          </a:prstGeom>
          <a:solidFill>
            <a:srgbClr val="EDF2F7"/>
          </a:solidFill>
          <a:ln/>
        </p:spPr>
      </p:sp>
      <p:sp>
        <p:nvSpPr>
          <p:cNvPr id="93" name="Shape 91"/>
          <p:cNvSpPr/>
          <p:nvPr/>
        </p:nvSpPr>
        <p:spPr>
          <a:xfrm>
            <a:off x="7452360" y="960120"/>
            <a:ext cx="54864" cy="685800"/>
          </a:xfrm>
          <a:prstGeom prst="rect">
            <a:avLst/>
          </a:prstGeom>
          <a:solidFill>
            <a:srgbClr val="9D2706"/>
          </a:solidFill>
          <a:ln/>
        </p:spPr>
      </p:sp>
      <p:sp>
        <p:nvSpPr>
          <p:cNvPr id="94" name="Text 92"/>
          <p:cNvSpPr/>
          <p:nvPr/>
        </p:nvSpPr>
        <p:spPr>
          <a:xfrm>
            <a:off x="7543800" y="1005840"/>
            <a:ext cx="2084832" cy="594360"/>
          </a:xfrm>
          <a:prstGeom prst="rect">
            <a:avLst/>
          </a:prstGeom>
          <a:noFill/>
          <a:ln/>
        </p:spPr>
        <p:txBody>
          <a:bodyPr wrap="square" rtlCol="0" anchor="ctr"/>
          <a:lstStyle/>
          <a:p>
            <a:pPr algn="ctr" indent="0" marL="0">
              <a:buNone/>
            </a:pPr>
            <a:r>
              <a:rPr lang="en-US" sz="1100" b="1" dirty="0">
                <a:solidFill>
                  <a:srgbClr val="2C3E50"/>
                </a:solidFill>
              </a:rPr>
              <a:t>DevOps &amp;</a:t>
            </a:r>
            <a:endParaRPr lang="en-US" sz="1100" dirty="0"/>
          </a:p>
          <a:p>
            <a:pPr algn="ctr" indent="0" marL="0">
              <a:buNone/>
            </a:pPr>
            <a:r>
              <a:rPr lang="en-US" sz="1100" b="1" dirty="0">
                <a:solidFill>
                  <a:srgbClr val="2C3E50"/>
                </a:solidFill>
              </a:rPr>
              <a:t>Cloud</a:t>
            </a:r>
            <a:endParaRPr lang="en-US" sz="1100" dirty="0"/>
          </a:p>
        </p:txBody>
      </p:sp>
      <p:sp>
        <p:nvSpPr>
          <p:cNvPr id="95" name="Shape 93"/>
          <p:cNvSpPr/>
          <p:nvPr/>
        </p:nvSpPr>
        <p:spPr>
          <a:xfrm>
            <a:off x="7452360" y="1737360"/>
            <a:ext cx="2240280" cy="685800"/>
          </a:xfrm>
          <a:prstGeom prst="rect">
            <a:avLst/>
          </a:prstGeom>
          <a:solidFill>
            <a:srgbClr val="FFFFFF"/>
          </a:solidFill>
          <a:ln w="12700">
            <a:solidFill>
              <a:srgbClr val="E2E8F0"/>
            </a:solidFill>
            <a:prstDash val="solid"/>
          </a:ln>
        </p:spPr>
      </p:sp>
      <p:sp>
        <p:nvSpPr>
          <p:cNvPr id="96" name="Shape 94"/>
          <p:cNvSpPr/>
          <p:nvPr/>
        </p:nvSpPr>
        <p:spPr>
          <a:xfrm>
            <a:off x="7452360" y="1737360"/>
            <a:ext cx="54864" cy="685800"/>
          </a:xfrm>
          <a:prstGeom prst="rect">
            <a:avLst/>
          </a:prstGeom>
          <a:solidFill>
            <a:srgbClr val="9D2706"/>
          </a:solidFill>
          <a:ln/>
        </p:spPr>
      </p:sp>
      <p:sp>
        <p:nvSpPr>
          <p:cNvPr id="97" name="Text 95"/>
          <p:cNvSpPr/>
          <p:nvPr/>
        </p:nvSpPr>
        <p:spPr>
          <a:xfrm>
            <a:off x="7589520" y="1792224"/>
            <a:ext cx="2011680" cy="0"/>
          </a:xfrm>
          <a:prstGeom prst="rect">
            <a:avLst/>
          </a:prstGeom>
          <a:noFill/>
          <a:ln/>
        </p:spPr>
        <p:txBody>
          <a:bodyPr wrap="square" rtlCol="0" anchor="ctr"/>
          <a:lstStyle/>
          <a:p>
            <a:pPr indent="0" marL="0">
              <a:buNone/>
            </a:pPr>
            <a:r>
              <a:rPr lang="en-US" sz="1100" b="1" dirty="0">
                <a:solidFill>
                  <a:srgbClr val="2C3E50"/>
                </a:solidFill>
              </a:rPr>
              <a:t>Vercel</a:t>
            </a:r>
            <a:endParaRPr lang="en-US" sz="1100" dirty="0"/>
          </a:p>
        </p:txBody>
      </p:sp>
      <p:sp>
        <p:nvSpPr>
          <p:cNvPr id="98" name="Text 96"/>
          <p:cNvSpPr/>
          <p:nvPr/>
        </p:nvSpPr>
        <p:spPr>
          <a:xfrm>
            <a:off x="7589520" y="2103120"/>
            <a:ext cx="2011680" cy="0"/>
          </a:xfrm>
          <a:prstGeom prst="rect">
            <a:avLst/>
          </a:prstGeom>
          <a:noFill/>
          <a:ln/>
        </p:spPr>
        <p:txBody>
          <a:bodyPr wrap="square" rtlCol="0" anchor="ctr"/>
          <a:lstStyle/>
          <a:p>
            <a:pPr indent="0" marL="0">
              <a:buNone/>
            </a:pPr>
            <a:r>
              <a:rPr lang="en-US" sz="1000" dirty="0">
                <a:solidFill>
                  <a:srgbClr val="5A6B7C"/>
                </a:solidFill>
              </a:rPr>
              <a:t>Static &amp; API deploy</a:t>
            </a:r>
            <a:endParaRPr lang="en-US" sz="1000" dirty="0"/>
          </a:p>
        </p:txBody>
      </p:sp>
      <p:sp>
        <p:nvSpPr>
          <p:cNvPr id="99" name="Shape 97"/>
          <p:cNvSpPr/>
          <p:nvPr/>
        </p:nvSpPr>
        <p:spPr>
          <a:xfrm>
            <a:off x="7452360" y="2505456"/>
            <a:ext cx="2240280" cy="685800"/>
          </a:xfrm>
          <a:prstGeom prst="rect">
            <a:avLst/>
          </a:prstGeom>
          <a:solidFill>
            <a:srgbClr val="FFFFFF"/>
          </a:solidFill>
          <a:ln w="12700">
            <a:solidFill>
              <a:srgbClr val="E2E8F0"/>
            </a:solidFill>
            <a:prstDash val="solid"/>
          </a:ln>
        </p:spPr>
      </p:sp>
      <p:sp>
        <p:nvSpPr>
          <p:cNvPr id="100" name="Shape 98"/>
          <p:cNvSpPr/>
          <p:nvPr/>
        </p:nvSpPr>
        <p:spPr>
          <a:xfrm>
            <a:off x="7452360" y="2505456"/>
            <a:ext cx="54864" cy="685800"/>
          </a:xfrm>
          <a:prstGeom prst="rect">
            <a:avLst/>
          </a:prstGeom>
          <a:solidFill>
            <a:srgbClr val="9D2706"/>
          </a:solidFill>
          <a:ln/>
        </p:spPr>
      </p:sp>
      <p:sp>
        <p:nvSpPr>
          <p:cNvPr id="101" name="Text 99"/>
          <p:cNvSpPr/>
          <p:nvPr/>
        </p:nvSpPr>
        <p:spPr>
          <a:xfrm>
            <a:off x="7589520" y="2560320"/>
            <a:ext cx="2011680" cy="0"/>
          </a:xfrm>
          <a:prstGeom prst="rect">
            <a:avLst/>
          </a:prstGeom>
          <a:noFill/>
          <a:ln/>
        </p:spPr>
        <p:txBody>
          <a:bodyPr wrap="square" rtlCol="0" anchor="ctr"/>
          <a:lstStyle/>
          <a:p>
            <a:pPr indent="0" marL="0">
              <a:buNone/>
            </a:pPr>
            <a:r>
              <a:rPr lang="en-US" sz="1100" b="1" dirty="0">
                <a:solidFill>
                  <a:srgbClr val="2C3E50"/>
                </a:solidFill>
              </a:rPr>
              <a:t>AWS S3 / R2</a:t>
            </a:r>
            <a:endParaRPr lang="en-US" sz="1100" dirty="0"/>
          </a:p>
        </p:txBody>
      </p:sp>
      <p:sp>
        <p:nvSpPr>
          <p:cNvPr id="102" name="Text 100"/>
          <p:cNvSpPr/>
          <p:nvPr/>
        </p:nvSpPr>
        <p:spPr>
          <a:xfrm>
            <a:off x="7589520" y="2871216"/>
            <a:ext cx="2011680" cy="0"/>
          </a:xfrm>
          <a:prstGeom prst="rect">
            <a:avLst/>
          </a:prstGeom>
          <a:noFill/>
          <a:ln/>
        </p:spPr>
        <p:txBody>
          <a:bodyPr wrap="square" rtlCol="0" anchor="ctr"/>
          <a:lstStyle/>
          <a:p>
            <a:pPr indent="0" marL="0">
              <a:buNone/>
            </a:pPr>
            <a:r>
              <a:rPr lang="en-US" sz="1000" dirty="0">
                <a:solidFill>
                  <a:srgbClr val="5A6B7C"/>
                </a:solidFill>
              </a:rPr>
              <a:t>Bucket storage for models</a:t>
            </a:r>
            <a:endParaRPr lang="en-US" sz="1000" dirty="0"/>
          </a:p>
        </p:txBody>
      </p:sp>
      <p:sp>
        <p:nvSpPr>
          <p:cNvPr id="103" name="Shape 101"/>
          <p:cNvSpPr/>
          <p:nvPr/>
        </p:nvSpPr>
        <p:spPr>
          <a:xfrm>
            <a:off x="7452360" y="3273552"/>
            <a:ext cx="2240280" cy="685800"/>
          </a:xfrm>
          <a:prstGeom prst="rect">
            <a:avLst/>
          </a:prstGeom>
          <a:solidFill>
            <a:srgbClr val="FFFFFF"/>
          </a:solidFill>
          <a:ln w="12700">
            <a:solidFill>
              <a:srgbClr val="E2E8F0"/>
            </a:solidFill>
            <a:prstDash val="solid"/>
          </a:ln>
        </p:spPr>
      </p:sp>
      <p:sp>
        <p:nvSpPr>
          <p:cNvPr id="104" name="Shape 102"/>
          <p:cNvSpPr/>
          <p:nvPr/>
        </p:nvSpPr>
        <p:spPr>
          <a:xfrm>
            <a:off x="7452360" y="3273552"/>
            <a:ext cx="54864" cy="685800"/>
          </a:xfrm>
          <a:prstGeom prst="rect">
            <a:avLst/>
          </a:prstGeom>
          <a:solidFill>
            <a:srgbClr val="9D2706"/>
          </a:solidFill>
          <a:ln/>
        </p:spPr>
      </p:sp>
      <p:sp>
        <p:nvSpPr>
          <p:cNvPr id="105" name="Text 103"/>
          <p:cNvSpPr/>
          <p:nvPr/>
        </p:nvSpPr>
        <p:spPr>
          <a:xfrm>
            <a:off x="7589520" y="3328416"/>
            <a:ext cx="2011680" cy="0"/>
          </a:xfrm>
          <a:prstGeom prst="rect">
            <a:avLst/>
          </a:prstGeom>
          <a:noFill/>
          <a:ln/>
        </p:spPr>
        <p:txBody>
          <a:bodyPr wrap="square" rtlCol="0" anchor="ctr"/>
          <a:lstStyle/>
          <a:p>
            <a:pPr indent="0" marL="0">
              <a:buNone/>
            </a:pPr>
            <a:r>
              <a:rPr lang="en-US" sz="1100" b="1" dirty="0">
                <a:solidFill>
                  <a:srgbClr val="2C3E50"/>
                </a:solidFill>
              </a:rPr>
              <a:t>Cloudflare CDN</a:t>
            </a:r>
            <a:endParaRPr lang="en-US" sz="1100" dirty="0"/>
          </a:p>
        </p:txBody>
      </p:sp>
      <p:sp>
        <p:nvSpPr>
          <p:cNvPr id="106" name="Text 104"/>
          <p:cNvSpPr/>
          <p:nvPr/>
        </p:nvSpPr>
        <p:spPr>
          <a:xfrm>
            <a:off x="7589520" y="3639312"/>
            <a:ext cx="2011680" cy="0"/>
          </a:xfrm>
          <a:prstGeom prst="rect">
            <a:avLst/>
          </a:prstGeom>
          <a:noFill/>
          <a:ln/>
        </p:spPr>
        <p:txBody>
          <a:bodyPr wrap="square" rtlCol="0" anchor="ctr"/>
          <a:lstStyle/>
          <a:p>
            <a:pPr indent="0" marL="0">
              <a:buNone/>
            </a:pPr>
            <a:r>
              <a:rPr lang="en-US" sz="1000" dirty="0">
                <a:solidFill>
                  <a:srgbClr val="5A6B7C"/>
                </a:solidFill>
              </a:rPr>
              <a:t>Mesh model delivery</a:t>
            </a:r>
            <a:endParaRPr lang="en-US" sz="1000" dirty="0"/>
          </a:p>
        </p:txBody>
      </p:sp>
      <p:sp>
        <p:nvSpPr>
          <p:cNvPr id="107" name="Shape 105"/>
          <p:cNvSpPr/>
          <p:nvPr/>
        </p:nvSpPr>
        <p:spPr>
          <a:xfrm>
            <a:off x="7452360" y="4041648"/>
            <a:ext cx="2240280" cy="685800"/>
          </a:xfrm>
          <a:prstGeom prst="rect">
            <a:avLst/>
          </a:prstGeom>
          <a:solidFill>
            <a:srgbClr val="FFFFFF"/>
          </a:solidFill>
          <a:ln w="12700">
            <a:solidFill>
              <a:srgbClr val="E2E8F0"/>
            </a:solidFill>
            <a:prstDash val="solid"/>
          </a:ln>
        </p:spPr>
      </p:sp>
      <p:sp>
        <p:nvSpPr>
          <p:cNvPr id="108" name="Shape 106"/>
          <p:cNvSpPr/>
          <p:nvPr/>
        </p:nvSpPr>
        <p:spPr>
          <a:xfrm>
            <a:off x="7452360" y="4041648"/>
            <a:ext cx="54864" cy="685800"/>
          </a:xfrm>
          <a:prstGeom prst="rect">
            <a:avLst/>
          </a:prstGeom>
          <a:solidFill>
            <a:srgbClr val="9D2706"/>
          </a:solidFill>
          <a:ln/>
        </p:spPr>
      </p:sp>
      <p:sp>
        <p:nvSpPr>
          <p:cNvPr id="109" name="Text 107"/>
          <p:cNvSpPr/>
          <p:nvPr/>
        </p:nvSpPr>
        <p:spPr>
          <a:xfrm>
            <a:off x="7589520" y="4096512"/>
            <a:ext cx="2011680" cy="0"/>
          </a:xfrm>
          <a:prstGeom prst="rect">
            <a:avLst/>
          </a:prstGeom>
          <a:noFill/>
          <a:ln/>
        </p:spPr>
        <p:txBody>
          <a:bodyPr wrap="square" rtlCol="0" anchor="ctr"/>
          <a:lstStyle/>
          <a:p>
            <a:pPr indent="0" marL="0">
              <a:buNone/>
            </a:pPr>
            <a:r>
              <a:rPr lang="en-US" sz="1100" b="1" dirty="0">
                <a:solidFill>
                  <a:srgbClr val="2C3E50"/>
                </a:solidFill>
              </a:rPr>
              <a:t>GitHub Actions</a:t>
            </a:r>
            <a:endParaRPr lang="en-US" sz="1100" dirty="0"/>
          </a:p>
        </p:txBody>
      </p:sp>
      <p:sp>
        <p:nvSpPr>
          <p:cNvPr id="110" name="Text 108"/>
          <p:cNvSpPr/>
          <p:nvPr/>
        </p:nvSpPr>
        <p:spPr>
          <a:xfrm>
            <a:off x="7589520" y="4407408"/>
            <a:ext cx="2011680" cy="0"/>
          </a:xfrm>
          <a:prstGeom prst="rect">
            <a:avLst/>
          </a:prstGeom>
          <a:noFill/>
          <a:ln/>
        </p:spPr>
        <p:txBody>
          <a:bodyPr wrap="square" rtlCol="0" anchor="ctr"/>
          <a:lstStyle/>
          <a:p>
            <a:pPr indent="0" marL="0">
              <a:buNone/>
            </a:pPr>
            <a:r>
              <a:rPr lang="en-US" sz="1000" dirty="0">
                <a:solidFill>
                  <a:srgbClr val="5A6B7C"/>
                </a:solidFill>
              </a:rPr>
              <a:t>CI/CD code workflows</a:t>
            </a:r>
            <a:endParaRPr lang="en-US" sz="1000" dirty="0"/>
          </a:p>
        </p:txBody>
      </p:sp>
      <p:sp>
        <p:nvSpPr>
          <p:cNvPr id="111" name="Shape 109"/>
          <p:cNvSpPr/>
          <p:nvPr/>
        </p:nvSpPr>
        <p:spPr>
          <a:xfrm>
            <a:off x="7452360" y="4809744"/>
            <a:ext cx="2240280" cy="685800"/>
          </a:xfrm>
          <a:prstGeom prst="rect">
            <a:avLst/>
          </a:prstGeom>
          <a:solidFill>
            <a:srgbClr val="FFFFFF"/>
          </a:solidFill>
          <a:ln w="12700">
            <a:solidFill>
              <a:srgbClr val="E2E8F0"/>
            </a:solidFill>
            <a:prstDash val="solid"/>
          </a:ln>
        </p:spPr>
      </p:sp>
      <p:sp>
        <p:nvSpPr>
          <p:cNvPr id="112" name="Shape 110"/>
          <p:cNvSpPr/>
          <p:nvPr/>
        </p:nvSpPr>
        <p:spPr>
          <a:xfrm>
            <a:off x="7452360" y="4809744"/>
            <a:ext cx="54864" cy="685800"/>
          </a:xfrm>
          <a:prstGeom prst="rect">
            <a:avLst/>
          </a:prstGeom>
          <a:solidFill>
            <a:srgbClr val="9D2706"/>
          </a:solidFill>
          <a:ln/>
        </p:spPr>
      </p:sp>
      <p:sp>
        <p:nvSpPr>
          <p:cNvPr id="113" name="Text 111"/>
          <p:cNvSpPr/>
          <p:nvPr/>
        </p:nvSpPr>
        <p:spPr>
          <a:xfrm>
            <a:off x="7589520" y="4864608"/>
            <a:ext cx="2011680" cy="0"/>
          </a:xfrm>
          <a:prstGeom prst="rect">
            <a:avLst/>
          </a:prstGeom>
          <a:noFill/>
          <a:ln/>
        </p:spPr>
        <p:txBody>
          <a:bodyPr wrap="square" rtlCol="0" anchor="ctr"/>
          <a:lstStyle/>
          <a:p>
            <a:pPr indent="0" marL="0">
              <a:buNone/>
            </a:pPr>
            <a:r>
              <a:rPr lang="en-US" sz="1100" b="1" dirty="0">
                <a:solidFill>
                  <a:srgbClr val="2C3E50"/>
                </a:solidFill>
              </a:rPr>
              <a:t>Docker Engine</a:t>
            </a:r>
            <a:endParaRPr lang="en-US" sz="1100" dirty="0"/>
          </a:p>
        </p:txBody>
      </p:sp>
      <p:sp>
        <p:nvSpPr>
          <p:cNvPr id="114" name="Text 112"/>
          <p:cNvSpPr/>
          <p:nvPr/>
        </p:nvSpPr>
        <p:spPr>
          <a:xfrm>
            <a:off x="7589520" y="5175504"/>
            <a:ext cx="2011680" cy="0"/>
          </a:xfrm>
          <a:prstGeom prst="rect">
            <a:avLst/>
          </a:prstGeom>
          <a:noFill/>
          <a:ln/>
        </p:spPr>
        <p:txBody>
          <a:bodyPr wrap="square" rtlCol="0" anchor="ctr"/>
          <a:lstStyle/>
          <a:p>
            <a:pPr indent="0" marL="0">
              <a:buNone/>
            </a:pPr>
            <a:r>
              <a:rPr lang="en-US" sz="1000" dirty="0">
                <a:solidFill>
                  <a:srgbClr val="5A6B7C"/>
                </a:solidFill>
              </a:rPr>
              <a:t>Container build packaging</a:t>
            </a:r>
            <a:endParaRPr lang="en-US" sz="1000" dirty="0"/>
          </a:p>
        </p:txBody>
      </p:sp>
      <p:sp>
        <p:nvSpPr>
          <p:cNvPr id="115" name="Shape 113"/>
          <p:cNvSpPr/>
          <p:nvPr/>
        </p:nvSpPr>
        <p:spPr>
          <a:xfrm>
            <a:off x="7452360" y="5577840"/>
            <a:ext cx="2240280" cy="685800"/>
          </a:xfrm>
          <a:prstGeom prst="rect">
            <a:avLst/>
          </a:prstGeom>
          <a:solidFill>
            <a:srgbClr val="FFFFFF"/>
          </a:solidFill>
          <a:ln w="12700">
            <a:solidFill>
              <a:srgbClr val="E2E8F0"/>
            </a:solidFill>
            <a:prstDash val="solid"/>
          </a:ln>
        </p:spPr>
      </p:sp>
      <p:sp>
        <p:nvSpPr>
          <p:cNvPr id="116" name="Shape 114"/>
          <p:cNvSpPr/>
          <p:nvPr/>
        </p:nvSpPr>
        <p:spPr>
          <a:xfrm>
            <a:off x="7452360" y="5577840"/>
            <a:ext cx="54864" cy="685800"/>
          </a:xfrm>
          <a:prstGeom prst="rect">
            <a:avLst/>
          </a:prstGeom>
          <a:solidFill>
            <a:srgbClr val="9D2706"/>
          </a:solidFill>
          <a:ln/>
        </p:spPr>
      </p:sp>
      <p:sp>
        <p:nvSpPr>
          <p:cNvPr id="117" name="Text 115"/>
          <p:cNvSpPr/>
          <p:nvPr/>
        </p:nvSpPr>
        <p:spPr>
          <a:xfrm>
            <a:off x="7589520" y="5632704"/>
            <a:ext cx="2011680" cy="0"/>
          </a:xfrm>
          <a:prstGeom prst="rect">
            <a:avLst/>
          </a:prstGeom>
          <a:noFill/>
          <a:ln/>
        </p:spPr>
        <p:txBody>
          <a:bodyPr wrap="square" rtlCol="0" anchor="ctr"/>
          <a:lstStyle/>
          <a:p>
            <a:pPr indent="0" marL="0">
              <a:buNone/>
            </a:pPr>
            <a:r>
              <a:rPr lang="en-US" sz="1100" b="1" dirty="0">
                <a:solidFill>
                  <a:srgbClr val="2C3E50"/>
                </a:solidFill>
              </a:rPr>
              <a:t>AWS / GCP</a:t>
            </a:r>
            <a:endParaRPr lang="en-US" sz="1100" dirty="0"/>
          </a:p>
        </p:txBody>
      </p:sp>
      <p:sp>
        <p:nvSpPr>
          <p:cNvPr id="118" name="Text 116"/>
          <p:cNvSpPr/>
          <p:nvPr/>
        </p:nvSpPr>
        <p:spPr>
          <a:xfrm>
            <a:off x="7589520" y="5943600"/>
            <a:ext cx="2011680" cy="0"/>
          </a:xfrm>
          <a:prstGeom prst="rect">
            <a:avLst/>
          </a:prstGeom>
          <a:noFill/>
          <a:ln/>
        </p:spPr>
        <p:txBody>
          <a:bodyPr wrap="square" rtlCol="0" anchor="ctr"/>
          <a:lstStyle/>
          <a:p>
            <a:pPr indent="0" marL="0">
              <a:buNone/>
            </a:pPr>
            <a:r>
              <a:rPr lang="en-US" sz="1000" dirty="0">
                <a:solidFill>
                  <a:srgbClr val="5A6B7C"/>
                </a:solidFill>
              </a:rPr>
              <a:t>Target cloud infrastructure</a:t>
            </a:r>
            <a:endParaRPr lang="en-US" sz="1000" dirty="0"/>
          </a:p>
        </p:txBody>
      </p:sp>
      <p:sp>
        <p:nvSpPr>
          <p:cNvPr id="119" name="Shape 117"/>
          <p:cNvSpPr/>
          <p:nvPr/>
        </p:nvSpPr>
        <p:spPr>
          <a:xfrm>
            <a:off x="9829800" y="960120"/>
            <a:ext cx="2240280" cy="685800"/>
          </a:xfrm>
          <a:prstGeom prst="rect">
            <a:avLst/>
          </a:prstGeom>
          <a:solidFill>
            <a:srgbClr val="EDF2F7"/>
          </a:solidFill>
          <a:ln/>
        </p:spPr>
      </p:sp>
      <p:sp>
        <p:nvSpPr>
          <p:cNvPr id="120" name="Shape 118"/>
          <p:cNvSpPr/>
          <p:nvPr/>
        </p:nvSpPr>
        <p:spPr>
          <a:xfrm>
            <a:off x="9829800" y="960120"/>
            <a:ext cx="54864" cy="685800"/>
          </a:xfrm>
          <a:prstGeom prst="rect">
            <a:avLst/>
          </a:prstGeom>
          <a:solidFill>
            <a:srgbClr val="9D2706"/>
          </a:solidFill>
          <a:ln/>
        </p:spPr>
      </p:sp>
      <p:sp>
        <p:nvSpPr>
          <p:cNvPr id="121" name="Text 119"/>
          <p:cNvSpPr/>
          <p:nvPr/>
        </p:nvSpPr>
        <p:spPr>
          <a:xfrm>
            <a:off x="9921240" y="1005840"/>
            <a:ext cx="2084832" cy="594360"/>
          </a:xfrm>
          <a:prstGeom prst="rect">
            <a:avLst/>
          </a:prstGeom>
          <a:noFill/>
          <a:ln/>
        </p:spPr>
        <p:txBody>
          <a:bodyPr wrap="square" rtlCol="0" anchor="ctr"/>
          <a:lstStyle/>
          <a:p>
            <a:pPr algn="ctr" indent="0" marL="0">
              <a:buNone/>
            </a:pPr>
            <a:r>
              <a:rPr lang="en-US" sz="1100" b="1" dirty="0">
                <a:solidFill>
                  <a:srgbClr val="2C3E50"/>
                </a:solidFill>
              </a:rPr>
              <a:t>E-Commerce</a:t>
            </a:r>
            <a:endParaRPr lang="en-US" sz="1100" dirty="0"/>
          </a:p>
          <a:p>
            <a:pPr algn="ctr" indent="0" marL="0">
              <a:buNone/>
            </a:pPr>
            <a:r>
              <a:rPr lang="en-US" sz="1100" b="1" dirty="0">
                <a:solidFill>
                  <a:srgbClr val="2C3E50"/>
                </a:solidFill>
              </a:rPr>
              <a:t>Core</a:t>
            </a:r>
            <a:endParaRPr lang="en-US" sz="1100" dirty="0"/>
          </a:p>
        </p:txBody>
      </p:sp>
      <p:sp>
        <p:nvSpPr>
          <p:cNvPr id="122" name="Shape 120"/>
          <p:cNvSpPr/>
          <p:nvPr/>
        </p:nvSpPr>
        <p:spPr>
          <a:xfrm>
            <a:off x="9829800" y="1737360"/>
            <a:ext cx="2240280" cy="685800"/>
          </a:xfrm>
          <a:prstGeom prst="rect">
            <a:avLst/>
          </a:prstGeom>
          <a:solidFill>
            <a:srgbClr val="FFFFFF"/>
          </a:solidFill>
          <a:ln w="12700">
            <a:solidFill>
              <a:srgbClr val="E2E8F0"/>
            </a:solidFill>
            <a:prstDash val="solid"/>
          </a:ln>
        </p:spPr>
      </p:sp>
      <p:sp>
        <p:nvSpPr>
          <p:cNvPr id="123" name="Shape 121"/>
          <p:cNvSpPr/>
          <p:nvPr/>
        </p:nvSpPr>
        <p:spPr>
          <a:xfrm>
            <a:off x="9829800" y="1737360"/>
            <a:ext cx="54864" cy="685800"/>
          </a:xfrm>
          <a:prstGeom prst="rect">
            <a:avLst/>
          </a:prstGeom>
          <a:solidFill>
            <a:srgbClr val="9D2706"/>
          </a:solidFill>
          <a:ln/>
        </p:spPr>
      </p:sp>
      <p:sp>
        <p:nvSpPr>
          <p:cNvPr id="124" name="Text 122"/>
          <p:cNvSpPr/>
          <p:nvPr/>
        </p:nvSpPr>
        <p:spPr>
          <a:xfrm>
            <a:off x="9966960" y="1792224"/>
            <a:ext cx="2011680" cy="0"/>
          </a:xfrm>
          <a:prstGeom prst="rect">
            <a:avLst/>
          </a:prstGeom>
          <a:noFill/>
          <a:ln/>
        </p:spPr>
        <p:txBody>
          <a:bodyPr wrap="square" rtlCol="0" anchor="ctr"/>
          <a:lstStyle/>
          <a:p>
            <a:pPr indent="0" marL="0">
              <a:buNone/>
            </a:pPr>
            <a:r>
              <a:rPr lang="en-US" sz="1100" b="1" dirty="0">
                <a:solidFill>
                  <a:srgbClr val="2C3E50"/>
                </a:solidFill>
              </a:rPr>
              <a:t>Shopify Admin API</a:t>
            </a:r>
            <a:endParaRPr lang="en-US" sz="1100" dirty="0"/>
          </a:p>
        </p:txBody>
      </p:sp>
      <p:sp>
        <p:nvSpPr>
          <p:cNvPr id="125" name="Text 123"/>
          <p:cNvSpPr/>
          <p:nvPr/>
        </p:nvSpPr>
        <p:spPr>
          <a:xfrm>
            <a:off x="9966960" y="2103120"/>
            <a:ext cx="2011680" cy="0"/>
          </a:xfrm>
          <a:prstGeom prst="rect">
            <a:avLst/>
          </a:prstGeom>
          <a:noFill/>
          <a:ln/>
        </p:spPr>
        <p:txBody>
          <a:bodyPr wrap="square" rtlCol="0" anchor="ctr"/>
          <a:lstStyle/>
          <a:p>
            <a:pPr indent="0" marL="0">
              <a:buNone/>
            </a:pPr>
            <a:r>
              <a:rPr lang="en-US" sz="1000" dirty="0">
                <a:solidFill>
                  <a:srgbClr val="5A6B7C"/>
                </a:solidFill>
              </a:rPr>
              <a:t>GraphQL product data sync</a:t>
            </a:r>
            <a:endParaRPr lang="en-US" sz="1000" dirty="0"/>
          </a:p>
        </p:txBody>
      </p:sp>
      <p:sp>
        <p:nvSpPr>
          <p:cNvPr id="126" name="Shape 124"/>
          <p:cNvSpPr/>
          <p:nvPr/>
        </p:nvSpPr>
        <p:spPr>
          <a:xfrm>
            <a:off x="9829800" y="2505456"/>
            <a:ext cx="2240280" cy="685800"/>
          </a:xfrm>
          <a:prstGeom prst="rect">
            <a:avLst/>
          </a:prstGeom>
          <a:solidFill>
            <a:srgbClr val="FFFFFF"/>
          </a:solidFill>
          <a:ln w="12700">
            <a:solidFill>
              <a:srgbClr val="E2E8F0"/>
            </a:solidFill>
            <a:prstDash val="solid"/>
          </a:ln>
        </p:spPr>
      </p:sp>
      <p:sp>
        <p:nvSpPr>
          <p:cNvPr id="127" name="Shape 125"/>
          <p:cNvSpPr/>
          <p:nvPr/>
        </p:nvSpPr>
        <p:spPr>
          <a:xfrm>
            <a:off x="9829800" y="2505456"/>
            <a:ext cx="54864" cy="685800"/>
          </a:xfrm>
          <a:prstGeom prst="rect">
            <a:avLst/>
          </a:prstGeom>
          <a:solidFill>
            <a:srgbClr val="9D2706"/>
          </a:solidFill>
          <a:ln/>
        </p:spPr>
      </p:sp>
      <p:sp>
        <p:nvSpPr>
          <p:cNvPr id="128" name="Text 126"/>
          <p:cNvSpPr/>
          <p:nvPr/>
        </p:nvSpPr>
        <p:spPr>
          <a:xfrm>
            <a:off x="9966960" y="2560320"/>
            <a:ext cx="2011680" cy="0"/>
          </a:xfrm>
          <a:prstGeom prst="rect">
            <a:avLst/>
          </a:prstGeom>
          <a:noFill/>
          <a:ln/>
        </p:spPr>
        <p:txBody>
          <a:bodyPr wrap="square" rtlCol="0" anchor="ctr"/>
          <a:lstStyle/>
          <a:p>
            <a:pPr indent="0" marL="0">
              <a:buNone/>
            </a:pPr>
            <a:r>
              <a:rPr lang="en-US" sz="1100" b="1" dirty="0">
                <a:solidFill>
                  <a:srgbClr val="2C3E50"/>
                </a:solidFill>
              </a:rPr>
              <a:t>App Bridge</a:t>
            </a:r>
            <a:endParaRPr lang="en-US" sz="1100" dirty="0"/>
          </a:p>
        </p:txBody>
      </p:sp>
      <p:sp>
        <p:nvSpPr>
          <p:cNvPr id="129" name="Text 127"/>
          <p:cNvSpPr/>
          <p:nvPr/>
        </p:nvSpPr>
        <p:spPr>
          <a:xfrm>
            <a:off x="9966960" y="2871216"/>
            <a:ext cx="2011680" cy="0"/>
          </a:xfrm>
          <a:prstGeom prst="rect">
            <a:avLst/>
          </a:prstGeom>
          <a:noFill/>
          <a:ln/>
        </p:spPr>
        <p:txBody>
          <a:bodyPr wrap="square" rtlCol="0" anchor="ctr"/>
          <a:lstStyle/>
          <a:p>
            <a:pPr indent="0" marL="0">
              <a:buNone/>
            </a:pPr>
            <a:r>
              <a:rPr lang="en-US" sz="1000" dirty="0">
                <a:solidFill>
                  <a:srgbClr val="5A6B7C"/>
                </a:solidFill>
              </a:rPr>
              <a:t>Embed store dashboard</a:t>
            </a:r>
            <a:endParaRPr lang="en-US" sz="1000" dirty="0"/>
          </a:p>
        </p:txBody>
      </p:sp>
      <p:sp>
        <p:nvSpPr>
          <p:cNvPr id="130" name="Shape 128"/>
          <p:cNvSpPr/>
          <p:nvPr/>
        </p:nvSpPr>
        <p:spPr>
          <a:xfrm>
            <a:off x="9829800" y="3273552"/>
            <a:ext cx="2240280" cy="685800"/>
          </a:xfrm>
          <a:prstGeom prst="rect">
            <a:avLst/>
          </a:prstGeom>
          <a:solidFill>
            <a:srgbClr val="FFFFFF"/>
          </a:solidFill>
          <a:ln w="12700">
            <a:solidFill>
              <a:srgbClr val="E2E8F0"/>
            </a:solidFill>
            <a:prstDash val="solid"/>
          </a:ln>
        </p:spPr>
      </p:sp>
      <p:sp>
        <p:nvSpPr>
          <p:cNvPr id="131" name="Shape 129"/>
          <p:cNvSpPr/>
          <p:nvPr/>
        </p:nvSpPr>
        <p:spPr>
          <a:xfrm>
            <a:off x="9829800" y="3273552"/>
            <a:ext cx="54864" cy="685800"/>
          </a:xfrm>
          <a:prstGeom prst="rect">
            <a:avLst/>
          </a:prstGeom>
          <a:solidFill>
            <a:srgbClr val="9D2706"/>
          </a:solidFill>
          <a:ln/>
        </p:spPr>
      </p:sp>
      <p:sp>
        <p:nvSpPr>
          <p:cNvPr id="132" name="Text 130"/>
          <p:cNvSpPr/>
          <p:nvPr/>
        </p:nvSpPr>
        <p:spPr>
          <a:xfrm>
            <a:off x="9966960" y="3328416"/>
            <a:ext cx="2011680" cy="0"/>
          </a:xfrm>
          <a:prstGeom prst="rect">
            <a:avLst/>
          </a:prstGeom>
          <a:noFill/>
          <a:ln/>
        </p:spPr>
        <p:txBody>
          <a:bodyPr wrap="square" rtlCol="0" anchor="ctr"/>
          <a:lstStyle/>
          <a:p>
            <a:pPr indent="0" marL="0">
              <a:buNone/>
            </a:pPr>
            <a:r>
              <a:rPr lang="en-US" sz="1100" b="1" dirty="0">
                <a:solidFill>
                  <a:srgbClr val="2C3E50"/>
                </a:solidFill>
              </a:rPr>
              <a:t>OAuth 2.0</a:t>
            </a:r>
            <a:endParaRPr lang="en-US" sz="1100" dirty="0"/>
          </a:p>
        </p:txBody>
      </p:sp>
      <p:sp>
        <p:nvSpPr>
          <p:cNvPr id="133" name="Text 131"/>
          <p:cNvSpPr/>
          <p:nvPr/>
        </p:nvSpPr>
        <p:spPr>
          <a:xfrm>
            <a:off x="9966960" y="3639312"/>
            <a:ext cx="2011680" cy="0"/>
          </a:xfrm>
          <a:prstGeom prst="rect">
            <a:avLst/>
          </a:prstGeom>
          <a:noFill/>
          <a:ln/>
        </p:spPr>
        <p:txBody>
          <a:bodyPr wrap="square" rtlCol="0" anchor="ctr"/>
          <a:lstStyle/>
          <a:p>
            <a:pPr indent="0" marL="0">
              <a:buNone/>
            </a:pPr>
            <a:r>
              <a:rPr lang="en-US" sz="1000" dirty="0">
                <a:solidFill>
                  <a:srgbClr val="5A6B7C"/>
                </a:solidFill>
              </a:rPr>
              <a:t>Tenant auth handshake</a:t>
            </a:r>
            <a:endParaRPr lang="en-US" sz="1000" dirty="0"/>
          </a:p>
        </p:txBody>
      </p:sp>
      <p:sp>
        <p:nvSpPr>
          <p:cNvPr id="134" name="Shape 132"/>
          <p:cNvSpPr/>
          <p:nvPr/>
        </p:nvSpPr>
        <p:spPr>
          <a:xfrm>
            <a:off x="9829800" y="4041648"/>
            <a:ext cx="2240280" cy="685800"/>
          </a:xfrm>
          <a:prstGeom prst="rect">
            <a:avLst/>
          </a:prstGeom>
          <a:solidFill>
            <a:srgbClr val="FFFFFF"/>
          </a:solidFill>
          <a:ln w="12700">
            <a:solidFill>
              <a:srgbClr val="E2E8F0"/>
            </a:solidFill>
            <a:prstDash val="solid"/>
          </a:ln>
        </p:spPr>
      </p:sp>
      <p:sp>
        <p:nvSpPr>
          <p:cNvPr id="135" name="Shape 133"/>
          <p:cNvSpPr/>
          <p:nvPr/>
        </p:nvSpPr>
        <p:spPr>
          <a:xfrm>
            <a:off x="9829800" y="4041648"/>
            <a:ext cx="54864" cy="685800"/>
          </a:xfrm>
          <a:prstGeom prst="rect">
            <a:avLst/>
          </a:prstGeom>
          <a:solidFill>
            <a:srgbClr val="9D2706"/>
          </a:solidFill>
          <a:ln/>
        </p:spPr>
      </p:sp>
      <p:sp>
        <p:nvSpPr>
          <p:cNvPr id="136" name="Text 134"/>
          <p:cNvSpPr/>
          <p:nvPr/>
        </p:nvSpPr>
        <p:spPr>
          <a:xfrm>
            <a:off x="9966960" y="4096512"/>
            <a:ext cx="2011680" cy="0"/>
          </a:xfrm>
          <a:prstGeom prst="rect">
            <a:avLst/>
          </a:prstGeom>
          <a:noFill/>
          <a:ln/>
        </p:spPr>
        <p:txBody>
          <a:bodyPr wrap="square" rtlCol="0" anchor="ctr"/>
          <a:lstStyle/>
          <a:p>
            <a:pPr indent="0" marL="0">
              <a:buNone/>
            </a:pPr>
            <a:r>
              <a:rPr lang="en-US" sz="1100" b="1" dirty="0">
                <a:solidFill>
                  <a:srgbClr val="2C3E50"/>
                </a:solidFill>
              </a:rPr>
              <a:t>Shopify Webhooks</a:t>
            </a:r>
            <a:endParaRPr lang="en-US" sz="1100" dirty="0"/>
          </a:p>
        </p:txBody>
      </p:sp>
      <p:sp>
        <p:nvSpPr>
          <p:cNvPr id="137" name="Text 135"/>
          <p:cNvSpPr/>
          <p:nvPr/>
        </p:nvSpPr>
        <p:spPr>
          <a:xfrm>
            <a:off x="9966960" y="4407408"/>
            <a:ext cx="2011680" cy="0"/>
          </a:xfrm>
          <a:prstGeom prst="rect">
            <a:avLst/>
          </a:prstGeom>
          <a:noFill/>
          <a:ln/>
        </p:spPr>
        <p:txBody>
          <a:bodyPr wrap="square" rtlCol="0" anchor="ctr"/>
          <a:lstStyle/>
          <a:p>
            <a:pPr indent="0" marL="0">
              <a:buNone/>
            </a:pPr>
            <a:r>
              <a:rPr lang="en-US" sz="1000" dirty="0">
                <a:solidFill>
                  <a:srgbClr val="5A6B7C"/>
                </a:solidFill>
              </a:rPr>
              <a:t>Order capture events</a:t>
            </a:r>
            <a:endParaRPr lang="en-US" sz="1000" dirty="0"/>
          </a:p>
        </p:txBody>
      </p:sp>
      <p:sp>
        <p:nvSpPr>
          <p:cNvPr id="138" name="Shape 136"/>
          <p:cNvSpPr/>
          <p:nvPr/>
        </p:nvSpPr>
        <p:spPr>
          <a:xfrm>
            <a:off x="9829800" y="4809744"/>
            <a:ext cx="2240280" cy="685800"/>
          </a:xfrm>
          <a:prstGeom prst="rect">
            <a:avLst/>
          </a:prstGeom>
          <a:solidFill>
            <a:srgbClr val="FFFFFF"/>
          </a:solidFill>
          <a:ln w="12700">
            <a:solidFill>
              <a:srgbClr val="E2E8F0"/>
            </a:solidFill>
            <a:prstDash val="solid"/>
          </a:ln>
        </p:spPr>
      </p:sp>
      <p:sp>
        <p:nvSpPr>
          <p:cNvPr id="139" name="Shape 137"/>
          <p:cNvSpPr/>
          <p:nvPr/>
        </p:nvSpPr>
        <p:spPr>
          <a:xfrm>
            <a:off x="9829800" y="4809744"/>
            <a:ext cx="54864" cy="685800"/>
          </a:xfrm>
          <a:prstGeom prst="rect">
            <a:avLst/>
          </a:prstGeom>
          <a:solidFill>
            <a:srgbClr val="9D2706"/>
          </a:solidFill>
          <a:ln/>
        </p:spPr>
      </p:sp>
      <p:sp>
        <p:nvSpPr>
          <p:cNvPr id="140" name="Text 138"/>
          <p:cNvSpPr/>
          <p:nvPr/>
        </p:nvSpPr>
        <p:spPr>
          <a:xfrm>
            <a:off x="9966960" y="4864608"/>
            <a:ext cx="2011680" cy="0"/>
          </a:xfrm>
          <a:prstGeom prst="rect">
            <a:avLst/>
          </a:prstGeom>
          <a:noFill/>
          <a:ln/>
        </p:spPr>
        <p:txBody>
          <a:bodyPr wrap="square" rtlCol="0" anchor="ctr"/>
          <a:lstStyle/>
          <a:p>
            <a:pPr indent="0" marL="0">
              <a:buNone/>
            </a:pPr>
            <a:r>
              <a:rPr lang="en-US" sz="1100" b="1" dirty="0">
                <a:solidFill>
                  <a:srgbClr val="2C3E50"/>
                </a:solidFill>
              </a:rPr>
              <a:t>GLTF/USDZ Export</a:t>
            </a:r>
            <a:endParaRPr lang="en-US" sz="1100" dirty="0"/>
          </a:p>
        </p:txBody>
      </p:sp>
      <p:sp>
        <p:nvSpPr>
          <p:cNvPr id="141" name="Text 139"/>
          <p:cNvSpPr/>
          <p:nvPr/>
        </p:nvSpPr>
        <p:spPr>
          <a:xfrm>
            <a:off x="9966960" y="5175504"/>
            <a:ext cx="2011680" cy="0"/>
          </a:xfrm>
          <a:prstGeom prst="rect">
            <a:avLst/>
          </a:prstGeom>
          <a:noFill/>
          <a:ln/>
        </p:spPr>
        <p:txBody>
          <a:bodyPr wrap="square" rtlCol="0" anchor="ctr"/>
          <a:lstStyle/>
          <a:p>
            <a:pPr indent="0" marL="0">
              <a:buNone/>
            </a:pPr>
            <a:r>
              <a:rPr lang="en-US" sz="1000" dirty="0">
                <a:solidFill>
                  <a:srgbClr val="5A6B7C"/>
                </a:solidFill>
              </a:rPr>
              <a:t>Dynamic AR model export</a:t>
            </a:r>
            <a:endParaRPr lang="en-US" sz="1000" dirty="0"/>
          </a:p>
        </p:txBody>
      </p:sp>
      <p:sp>
        <p:nvSpPr>
          <p:cNvPr id="142" name="Shape 140"/>
          <p:cNvSpPr/>
          <p:nvPr/>
        </p:nvSpPr>
        <p:spPr>
          <a:xfrm>
            <a:off x="9829800" y="5577840"/>
            <a:ext cx="2240280" cy="685800"/>
          </a:xfrm>
          <a:prstGeom prst="rect">
            <a:avLst/>
          </a:prstGeom>
          <a:solidFill>
            <a:srgbClr val="FFFFFF"/>
          </a:solidFill>
          <a:ln w="12700">
            <a:solidFill>
              <a:srgbClr val="E2E8F0"/>
            </a:solidFill>
            <a:prstDash val="solid"/>
          </a:ln>
        </p:spPr>
      </p:sp>
      <p:sp>
        <p:nvSpPr>
          <p:cNvPr id="143" name="Shape 141"/>
          <p:cNvSpPr/>
          <p:nvPr/>
        </p:nvSpPr>
        <p:spPr>
          <a:xfrm>
            <a:off x="9829800" y="5577840"/>
            <a:ext cx="54864" cy="685800"/>
          </a:xfrm>
          <a:prstGeom prst="rect">
            <a:avLst/>
          </a:prstGeom>
          <a:solidFill>
            <a:srgbClr val="9D2706"/>
          </a:solidFill>
          <a:ln/>
        </p:spPr>
      </p:sp>
      <p:sp>
        <p:nvSpPr>
          <p:cNvPr id="144" name="Text 142"/>
          <p:cNvSpPr/>
          <p:nvPr/>
        </p:nvSpPr>
        <p:spPr>
          <a:xfrm>
            <a:off x="9966960" y="5632704"/>
            <a:ext cx="2011680" cy="0"/>
          </a:xfrm>
          <a:prstGeom prst="rect">
            <a:avLst/>
          </a:prstGeom>
          <a:noFill/>
          <a:ln/>
        </p:spPr>
        <p:txBody>
          <a:bodyPr wrap="square" rtlCol="0" anchor="ctr"/>
          <a:lstStyle/>
          <a:p>
            <a:pPr indent="0" marL="0">
              <a:buNone/>
            </a:pPr>
            <a:r>
              <a:rPr lang="en-US" sz="1100" b="1" dirty="0">
                <a:solidFill>
                  <a:srgbClr val="2C3E50"/>
                </a:solidFill>
              </a:rPr>
              <a:t>REST &amp; GraphQL</a:t>
            </a:r>
            <a:endParaRPr lang="en-US" sz="1100" dirty="0"/>
          </a:p>
        </p:txBody>
      </p:sp>
      <p:sp>
        <p:nvSpPr>
          <p:cNvPr id="145" name="Text 143"/>
          <p:cNvSpPr/>
          <p:nvPr/>
        </p:nvSpPr>
        <p:spPr>
          <a:xfrm>
            <a:off x="9966960" y="5943600"/>
            <a:ext cx="2011680" cy="0"/>
          </a:xfrm>
          <a:prstGeom prst="rect">
            <a:avLst/>
          </a:prstGeom>
          <a:noFill/>
          <a:ln/>
        </p:spPr>
        <p:txBody>
          <a:bodyPr wrap="square" rtlCol="0" anchor="ctr"/>
          <a:lstStyle/>
          <a:p>
            <a:pPr indent="0" marL="0">
              <a:buNone/>
            </a:pPr>
            <a:r>
              <a:rPr lang="en-US" sz="1000" dirty="0">
                <a:solidFill>
                  <a:srgbClr val="5A6B7C"/>
                </a:solidFill>
              </a:rPr>
              <a:t>Gateway communication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Project Roadmap</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5 phases — from MVP to scale.</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594360" y="1481328"/>
            <a:ext cx="11247120" cy="36576"/>
          </a:xfrm>
          <a:prstGeom prst="rect">
            <a:avLst/>
          </a:prstGeom>
          <a:solidFill>
            <a:srgbClr val="E2E8F0"/>
          </a:solidFill>
          <a:ln/>
        </p:spPr>
      </p:sp>
      <p:sp>
        <p:nvSpPr>
          <p:cNvPr id="12" name="Shape 10"/>
          <p:cNvSpPr/>
          <p:nvPr/>
        </p:nvSpPr>
        <p:spPr>
          <a:xfrm>
            <a:off x="1161288" y="1316736"/>
            <a:ext cx="347472" cy="347472"/>
          </a:xfrm>
          <a:prstGeom prst="ellipse">
            <a:avLst/>
          </a:prstGeom>
          <a:solidFill>
            <a:srgbClr val="9D2706"/>
          </a:solidFill>
          <a:ln w="12700">
            <a:solidFill>
              <a:srgbClr val="9D2706"/>
            </a:solidFill>
            <a:prstDash val="solid"/>
          </a:ln>
        </p:spPr>
      </p:sp>
      <p:sp>
        <p:nvSpPr>
          <p:cNvPr id="13" name="Text 11"/>
          <p:cNvSpPr/>
          <p:nvPr/>
        </p:nvSpPr>
        <p:spPr>
          <a:xfrm>
            <a:off x="1161288" y="1353312"/>
            <a:ext cx="347472" cy="0"/>
          </a:xfrm>
          <a:prstGeom prst="rect">
            <a:avLst/>
          </a:prstGeom>
          <a:noFill/>
          <a:ln/>
        </p:spPr>
        <p:txBody>
          <a:bodyPr wrap="square" rtlCol="0" anchor="ctr"/>
          <a:lstStyle/>
          <a:p>
            <a:pPr algn="ctr" indent="0" marL="0">
              <a:buNone/>
            </a:pPr>
            <a:r>
              <a:rPr lang="en-US" sz="1050" b="1" dirty="0">
                <a:solidFill>
                  <a:srgbClr val="FFFFFF"/>
                </a:solidFill>
              </a:rPr>
              <a:t>✓</a:t>
            </a:r>
            <a:endParaRPr lang="en-US" sz="1050" dirty="0"/>
          </a:p>
        </p:txBody>
      </p:sp>
      <p:sp>
        <p:nvSpPr>
          <p:cNvPr id="14" name="Shape 12"/>
          <p:cNvSpPr/>
          <p:nvPr/>
        </p:nvSpPr>
        <p:spPr>
          <a:xfrm>
            <a:off x="320040" y="1691640"/>
            <a:ext cx="2240280" cy="4572000"/>
          </a:xfrm>
          <a:prstGeom prst="rect">
            <a:avLst/>
          </a:prstGeom>
          <a:solidFill>
            <a:srgbClr val="FFFFFF"/>
          </a:solidFill>
          <a:ln w="12700">
            <a:solidFill>
              <a:srgbClr val="9D2706"/>
            </a:solidFill>
            <a:prstDash val="solid"/>
          </a:ln>
        </p:spPr>
      </p:sp>
      <p:sp>
        <p:nvSpPr>
          <p:cNvPr id="15" name="Shape 13"/>
          <p:cNvSpPr/>
          <p:nvPr/>
        </p:nvSpPr>
        <p:spPr>
          <a:xfrm>
            <a:off x="320040" y="1691640"/>
            <a:ext cx="2240280" cy="868680"/>
          </a:xfrm>
          <a:prstGeom prst="rect">
            <a:avLst/>
          </a:prstGeom>
          <a:solidFill>
            <a:srgbClr val="9D2706"/>
          </a:solidFill>
          <a:ln/>
        </p:spPr>
      </p:sp>
      <p:sp>
        <p:nvSpPr>
          <p:cNvPr id="16" name="Shape 14"/>
          <p:cNvSpPr/>
          <p:nvPr/>
        </p:nvSpPr>
        <p:spPr>
          <a:xfrm>
            <a:off x="320040" y="1691640"/>
            <a:ext cx="54864" cy="4572000"/>
          </a:xfrm>
          <a:prstGeom prst="rect">
            <a:avLst/>
          </a:prstGeom>
          <a:solidFill>
            <a:srgbClr val="9D2706"/>
          </a:solidFill>
          <a:ln/>
        </p:spPr>
      </p:sp>
      <p:sp>
        <p:nvSpPr>
          <p:cNvPr id="17" name="Text 15"/>
          <p:cNvSpPr/>
          <p:nvPr/>
        </p:nvSpPr>
        <p:spPr>
          <a:xfrm>
            <a:off x="429768" y="1737360"/>
            <a:ext cx="2011680" cy="0"/>
          </a:xfrm>
          <a:prstGeom prst="rect">
            <a:avLst/>
          </a:prstGeom>
          <a:noFill/>
          <a:ln/>
        </p:spPr>
        <p:txBody>
          <a:bodyPr wrap="square" rtlCol="0" anchor="ctr"/>
          <a:lstStyle/>
          <a:p>
            <a:pPr indent="0" marL="0">
              <a:buNone/>
            </a:pPr>
            <a:r>
              <a:rPr lang="en-US" sz="900" b="1" dirty="0">
                <a:solidFill>
                  <a:srgbClr val="FFFFFF"/>
                </a:solidFill>
              </a:rPr>
              <a:t>Phase 01</a:t>
            </a:r>
            <a:endParaRPr lang="en-US" sz="900" dirty="0"/>
          </a:p>
        </p:txBody>
      </p:sp>
      <p:sp>
        <p:nvSpPr>
          <p:cNvPr id="18" name="Text 16"/>
          <p:cNvSpPr/>
          <p:nvPr/>
        </p:nvSpPr>
        <p:spPr>
          <a:xfrm>
            <a:off x="429768" y="1874520"/>
            <a:ext cx="2011680" cy="0"/>
          </a:xfrm>
          <a:prstGeom prst="rect">
            <a:avLst/>
          </a:prstGeom>
          <a:noFill/>
          <a:ln/>
        </p:spPr>
        <p:txBody>
          <a:bodyPr wrap="square" rtlCol="0" anchor="ctr"/>
          <a:lstStyle/>
          <a:p>
            <a:pPr indent="0" marL="0">
              <a:lnSpc>
                <a:spcPct val="120000"/>
              </a:lnSpc>
              <a:buNone/>
            </a:pPr>
            <a:r>
              <a:rPr lang="en-US" sz="1250" b="1" dirty="0">
                <a:solidFill>
                  <a:srgbClr val="FFFFFF"/>
                </a:solidFill>
              </a:rPr>
              <a:t>3D Viewer</a:t>
            </a:r>
            <a:endParaRPr lang="en-US" sz="1250" dirty="0"/>
          </a:p>
          <a:p>
            <a:pPr indent="0" marL="0">
              <a:lnSpc>
                <a:spcPct val="120000"/>
              </a:lnSpc>
              <a:buNone/>
            </a:pPr>
            <a:r>
              <a:rPr lang="en-US" sz="1250" b="1" dirty="0">
                <a:solidFill>
                  <a:srgbClr val="FFFFFF"/>
                </a:solidFill>
              </a:rPr>
              <a:t>MVP</a:t>
            </a:r>
            <a:endParaRPr lang="en-US" sz="1250" dirty="0"/>
          </a:p>
        </p:txBody>
      </p:sp>
      <p:sp>
        <p:nvSpPr>
          <p:cNvPr id="19" name="Shape 17"/>
          <p:cNvSpPr/>
          <p:nvPr/>
        </p:nvSpPr>
        <p:spPr>
          <a:xfrm>
            <a:off x="429768" y="2651760"/>
            <a:ext cx="2011680" cy="320040"/>
          </a:xfrm>
          <a:prstGeom prst="rect">
            <a:avLst/>
          </a:prstGeom>
          <a:solidFill>
            <a:srgbClr val="9D2706"/>
          </a:solidFill>
          <a:ln w="12700">
            <a:solidFill>
              <a:srgbClr val="E2E8F0"/>
            </a:solidFill>
            <a:prstDash val="solid"/>
          </a:ln>
        </p:spPr>
      </p:sp>
      <p:sp>
        <p:nvSpPr>
          <p:cNvPr id="20" name="Text 18"/>
          <p:cNvSpPr/>
          <p:nvPr/>
        </p:nvSpPr>
        <p:spPr>
          <a:xfrm>
            <a:off x="429768" y="2697480"/>
            <a:ext cx="2011680" cy="0"/>
          </a:xfrm>
          <a:prstGeom prst="rect">
            <a:avLst/>
          </a:prstGeom>
          <a:noFill/>
          <a:ln/>
        </p:spPr>
        <p:txBody>
          <a:bodyPr wrap="square" rtlCol="0" anchor="ctr"/>
          <a:lstStyle/>
          <a:p>
            <a:pPr algn="ctr" indent="0" marL="0">
              <a:buNone/>
            </a:pPr>
            <a:r>
              <a:rPr lang="en-US" sz="900" b="1" dirty="0">
                <a:solidFill>
                  <a:srgbClr val="FFFFFF"/>
                </a:solidFill>
              </a:rPr>
              <a:t>✓ COMPLETE</a:t>
            </a:r>
            <a:endParaRPr lang="en-US" sz="900" dirty="0"/>
          </a:p>
        </p:txBody>
      </p:sp>
      <p:sp>
        <p:nvSpPr>
          <p:cNvPr id="21" name="Text 19"/>
          <p:cNvSpPr/>
          <p:nvPr/>
        </p:nvSpPr>
        <p:spPr>
          <a:xfrm>
            <a:off x="429768" y="3072384"/>
            <a:ext cx="2011680" cy="0"/>
          </a:xfrm>
          <a:prstGeom prst="rect">
            <a:avLst/>
          </a:prstGeom>
          <a:noFill/>
          <a:ln/>
        </p:spPr>
        <p:txBody>
          <a:bodyPr wrap="square" rtlCol="0" anchor="ctr"/>
          <a:lstStyle/>
          <a:p>
            <a:pPr indent="0" marL="0">
              <a:buNone/>
            </a:pPr>
            <a:r>
              <a:rPr lang="en-US" sz="950" i="1" dirty="0">
                <a:solidFill>
                  <a:srgbClr val="8A9BA8"/>
                </a:solidFill>
              </a:rPr>
              <a:t>Weeks 1–2</a:t>
            </a:r>
            <a:endParaRPr lang="en-US" sz="950" dirty="0"/>
          </a:p>
        </p:txBody>
      </p:sp>
      <p:sp>
        <p:nvSpPr>
          <p:cNvPr id="22" name="Shape 20"/>
          <p:cNvSpPr/>
          <p:nvPr/>
        </p:nvSpPr>
        <p:spPr>
          <a:xfrm>
            <a:off x="429768" y="3429000"/>
            <a:ext cx="54864" cy="274320"/>
          </a:xfrm>
          <a:prstGeom prst="rect">
            <a:avLst/>
          </a:prstGeom>
          <a:solidFill>
            <a:srgbClr val="9D2706"/>
          </a:solidFill>
          <a:ln/>
        </p:spPr>
      </p:sp>
      <p:sp>
        <p:nvSpPr>
          <p:cNvPr id="23" name="Text 21"/>
          <p:cNvSpPr/>
          <p:nvPr/>
        </p:nvSpPr>
        <p:spPr>
          <a:xfrm>
            <a:off x="548640" y="3456432"/>
            <a:ext cx="1920240" cy="0"/>
          </a:xfrm>
          <a:prstGeom prst="rect">
            <a:avLst/>
          </a:prstGeom>
          <a:noFill/>
          <a:ln/>
        </p:spPr>
        <p:txBody>
          <a:bodyPr wrap="square" rtlCol="0" anchor="ctr"/>
          <a:lstStyle/>
          <a:p>
            <a:pPr indent="0" marL="0">
              <a:buNone/>
            </a:pPr>
            <a:r>
              <a:rPr lang="en-US" sz="950" dirty="0">
                <a:solidFill>
                  <a:srgbClr val="2C3E50"/>
                </a:solidFill>
              </a:rPr>
              <a:t>Next.js + Three.js core setup</a:t>
            </a:r>
            <a:endParaRPr lang="en-US" sz="950" dirty="0"/>
          </a:p>
        </p:txBody>
      </p:sp>
      <p:sp>
        <p:nvSpPr>
          <p:cNvPr id="24" name="Shape 22"/>
          <p:cNvSpPr/>
          <p:nvPr/>
        </p:nvSpPr>
        <p:spPr>
          <a:xfrm>
            <a:off x="429768" y="3867912"/>
            <a:ext cx="54864" cy="274320"/>
          </a:xfrm>
          <a:prstGeom prst="rect">
            <a:avLst/>
          </a:prstGeom>
          <a:solidFill>
            <a:srgbClr val="9D2706"/>
          </a:solidFill>
          <a:ln/>
        </p:spPr>
      </p:sp>
      <p:sp>
        <p:nvSpPr>
          <p:cNvPr id="25" name="Text 23"/>
          <p:cNvSpPr/>
          <p:nvPr/>
        </p:nvSpPr>
        <p:spPr>
          <a:xfrm>
            <a:off x="548640" y="3895344"/>
            <a:ext cx="1920240" cy="0"/>
          </a:xfrm>
          <a:prstGeom prst="rect">
            <a:avLst/>
          </a:prstGeom>
          <a:noFill/>
          <a:ln/>
        </p:spPr>
        <p:txBody>
          <a:bodyPr wrap="square" rtlCol="0" anchor="ctr"/>
          <a:lstStyle/>
          <a:p>
            <a:pPr indent="0" marL="0">
              <a:buNone/>
            </a:pPr>
            <a:r>
              <a:rPr lang="en-US" sz="950" dirty="0">
                <a:solidFill>
                  <a:srgbClr val="2C3E50"/>
                </a:solidFill>
              </a:rPr>
              <a:t>3D model loader (.glb format)</a:t>
            </a:r>
            <a:endParaRPr lang="en-US" sz="950" dirty="0"/>
          </a:p>
        </p:txBody>
      </p:sp>
      <p:sp>
        <p:nvSpPr>
          <p:cNvPr id="26" name="Shape 24"/>
          <p:cNvSpPr/>
          <p:nvPr/>
        </p:nvSpPr>
        <p:spPr>
          <a:xfrm>
            <a:off x="429768" y="4306824"/>
            <a:ext cx="54864" cy="274320"/>
          </a:xfrm>
          <a:prstGeom prst="rect">
            <a:avLst/>
          </a:prstGeom>
          <a:solidFill>
            <a:srgbClr val="9D2706"/>
          </a:solidFill>
          <a:ln/>
        </p:spPr>
      </p:sp>
      <p:sp>
        <p:nvSpPr>
          <p:cNvPr id="27" name="Text 25"/>
          <p:cNvSpPr/>
          <p:nvPr/>
        </p:nvSpPr>
        <p:spPr>
          <a:xfrm>
            <a:off x="548640" y="4334256"/>
            <a:ext cx="1920240" cy="0"/>
          </a:xfrm>
          <a:prstGeom prst="rect">
            <a:avLst/>
          </a:prstGeom>
          <a:noFill/>
          <a:ln/>
        </p:spPr>
        <p:txBody>
          <a:bodyPr wrap="square" rtlCol="0" anchor="ctr"/>
          <a:lstStyle/>
          <a:p>
            <a:pPr indent="0" marL="0">
              <a:buNone/>
            </a:pPr>
            <a:r>
              <a:rPr lang="en-US" sz="950" dirty="0">
                <a:solidFill>
                  <a:srgbClr val="2C3E50"/>
                </a:solidFill>
              </a:rPr>
              <a:t>Modular part/colour swapping</a:t>
            </a:r>
            <a:endParaRPr lang="en-US" sz="950" dirty="0"/>
          </a:p>
        </p:txBody>
      </p:sp>
      <p:sp>
        <p:nvSpPr>
          <p:cNvPr id="28" name="Shape 26"/>
          <p:cNvSpPr/>
          <p:nvPr/>
        </p:nvSpPr>
        <p:spPr>
          <a:xfrm>
            <a:off x="429768" y="4745736"/>
            <a:ext cx="54864" cy="274320"/>
          </a:xfrm>
          <a:prstGeom prst="rect">
            <a:avLst/>
          </a:prstGeom>
          <a:solidFill>
            <a:srgbClr val="9D2706"/>
          </a:solidFill>
          <a:ln/>
        </p:spPr>
      </p:sp>
      <p:sp>
        <p:nvSpPr>
          <p:cNvPr id="29" name="Text 27"/>
          <p:cNvSpPr/>
          <p:nvPr/>
        </p:nvSpPr>
        <p:spPr>
          <a:xfrm>
            <a:off x="548640" y="4773168"/>
            <a:ext cx="1920240" cy="0"/>
          </a:xfrm>
          <a:prstGeom prst="rect">
            <a:avLst/>
          </a:prstGeom>
          <a:noFill/>
          <a:ln/>
        </p:spPr>
        <p:txBody>
          <a:bodyPr wrap="square" rtlCol="0" anchor="ctr"/>
          <a:lstStyle/>
          <a:p>
            <a:pPr indent="0" marL="0">
              <a:buNone/>
            </a:pPr>
            <a:r>
              <a:rPr lang="en-US" sz="950" dirty="0">
                <a:solidFill>
                  <a:srgbClr val="2C3E50"/>
                </a:solidFill>
              </a:rPr>
              <a:t>Floating glassmorphism UI</a:t>
            </a:r>
            <a:endParaRPr lang="en-US" sz="950" dirty="0"/>
          </a:p>
        </p:txBody>
      </p:sp>
      <p:sp>
        <p:nvSpPr>
          <p:cNvPr id="30" name="Shape 28"/>
          <p:cNvSpPr/>
          <p:nvPr/>
        </p:nvSpPr>
        <p:spPr>
          <a:xfrm>
            <a:off x="429768" y="5184648"/>
            <a:ext cx="54864" cy="274320"/>
          </a:xfrm>
          <a:prstGeom prst="rect">
            <a:avLst/>
          </a:prstGeom>
          <a:solidFill>
            <a:srgbClr val="9D2706"/>
          </a:solidFill>
          <a:ln/>
        </p:spPr>
      </p:sp>
      <p:sp>
        <p:nvSpPr>
          <p:cNvPr id="31" name="Text 29"/>
          <p:cNvSpPr/>
          <p:nvPr/>
        </p:nvSpPr>
        <p:spPr>
          <a:xfrm>
            <a:off x="548640" y="5212080"/>
            <a:ext cx="1920240" cy="0"/>
          </a:xfrm>
          <a:prstGeom prst="rect">
            <a:avLst/>
          </a:prstGeom>
          <a:noFill/>
          <a:ln/>
        </p:spPr>
        <p:txBody>
          <a:bodyPr wrap="square" rtlCol="0" anchor="ctr"/>
          <a:lstStyle/>
          <a:p>
            <a:pPr indent="0" marL="0">
              <a:buNone/>
            </a:pPr>
            <a:r>
              <a:rPr lang="en-US" sz="950" dirty="0">
                <a:solidFill>
                  <a:srgbClr val="2C3E50"/>
                </a:solidFill>
              </a:rPr>
              <a:t>Calculated dynamic price engine</a:t>
            </a:r>
            <a:endParaRPr lang="en-US" sz="950" dirty="0"/>
          </a:p>
        </p:txBody>
      </p:sp>
      <p:sp>
        <p:nvSpPr>
          <p:cNvPr id="32" name="Shape 30"/>
          <p:cNvSpPr/>
          <p:nvPr/>
        </p:nvSpPr>
        <p:spPr>
          <a:xfrm>
            <a:off x="429768" y="5623560"/>
            <a:ext cx="54864" cy="274320"/>
          </a:xfrm>
          <a:prstGeom prst="rect">
            <a:avLst/>
          </a:prstGeom>
          <a:solidFill>
            <a:srgbClr val="9D2706"/>
          </a:solidFill>
          <a:ln/>
        </p:spPr>
      </p:sp>
      <p:sp>
        <p:nvSpPr>
          <p:cNvPr id="33" name="Text 31"/>
          <p:cNvSpPr/>
          <p:nvPr/>
        </p:nvSpPr>
        <p:spPr>
          <a:xfrm>
            <a:off x="548640" y="5650992"/>
            <a:ext cx="1920240" cy="0"/>
          </a:xfrm>
          <a:prstGeom prst="rect">
            <a:avLst/>
          </a:prstGeom>
          <a:noFill/>
          <a:ln/>
        </p:spPr>
        <p:txBody>
          <a:bodyPr wrap="square" rtlCol="0" anchor="ctr"/>
          <a:lstStyle/>
          <a:p>
            <a:pPr indent="0" marL="0">
              <a:buNone/>
            </a:pPr>
            <a:r>
              <a:rPr lang="en-US" sz="950" dirty="0">
                <a:solidFill>
                  <a:srgbClr val="2C3E50"/>
                </a:solidFill>
              </a:rPr>
              <a:t>GitHub workflow integration</a:t>
            </a:r>
            <a:endParaRPr lang="en-US" sz="950" dirty="0"/>
          </a:p>
        </p:txBody>
      </p:sp>
      <p:sp>
        <p:nvSpPr>
          <p:cNvPr id="34" name="Shape 32"/>
          <p:cNvSpPr/>
          <p:nvPr/>
        </p:nvSpPr>
        <p:spPr>
          <a:xfrm>
            <a:off x="3538728" y="1316736"/>
            <a:ext cx="347472" cy="347472"/>
          </a:xfrm>
          <a:prstGeom prst="ellipse">
            <a:avLst/>
          </a:prstGeom>
          <a:solidFill>
            <a:srgbClr val="FFFFFF"/>
          </a:solidFill>
          <a:ln w="12700">
            <a:solidFill>
              <a:srgbClr val="5A6B7C"/>
            </a:solidFill>
            <a:prstDash val="solid"/>
          </a:ln>
        </p:spPr>
      </p:sp>
      <p:sp>
        <p:nvSpPr>
          <p:cNvPr id="35" name="Text 33"/>
          <p:cNvSpPr/>
          <p:nvPr/>
        </p:nvSpPr>
        <p:spPr>
          <a:xfrm>
            <a:off x="3538728" y="1353312"/>
            <a:ext cx="347472" cy="0"/>
          </a:xfrm>
          <a:prstGeom prst="rect">
            <a:avLst/>
          </a:prstGeom>
          <a:noFill/>
          <a:ln/>
        </p:spPr>
        <p:txBody>
          <a:bodyPr wrap="square" rtlCol="0" anchor="ctr"/>
          <a:lstStyle/>
          <a:p>
            <a:pPr algn="ctr" indent="0" marL="0">
              <a:buNone/>
            </a:pPr>
            <a:r>
              <a:rPr lang="en-US" sz="1050" b="1" dirty="0">
                <a:solidFill>
                  <a:srgbClr val="5A6B7C"/>
                </a:solidFill>
              </a:rPr>
              <a:t>02</a:t>
            </a:r>
            <a:endParaRPr lang="en-US" sz="1050" dirty="0"/>
          </a:p>
        </p:txBody>
      </p:sp>
      <p:sp>
        <p:nvSpPr>
          <p:cNvPr id="36" name="Shape 34"/>
          <p:cNvSpPr/>
          <p:nvPr/>
        </p:nvSpPr>
        <p:spPr>
          <a:xfrm>
            <a:off x="2697480" y="1691640"/>
            <a:ext cx="2240280" cy="4572000"/>
          </a:xfrm>
          <a:prstGeom prst="rect">
            <a:avLst/>
          </a:prstGeom>
          <a:solidFill>
            <a:srgbClr val="FFFFFF"/>
          </a:solidFill>
          <a:ln w="12700">
            <a:solidFill>
              <a:srgbClr val="E2E8F0"/>
            </a:solidFill>
            <a:prstDash val="solid"/>
          </a:ln>
        </p:spPr>
      </p:sp>
      <p:sp>
        <p:nvSpPr>
          <p:cNvPr id="37" name="Shape 35"/>
          <p:cNvSpPr/>
          <p:nvPr/>
        </p:nvSpPr>
        <p:spPr>
          <a:xfrm>
            <a:off x="2697480" y="1691640"/>
            <a:ext cx="2240280" cy="868680"/>
          </a:xfrm>
          <a:prstGeom prst="rect">
            <a:avLst/>
          </a:prstGeom>
          <a:solidFill>
            <a:srgbClr val="EDF2F7"/>
          </a:solidFill>
          <a:ln/>
        </p:spPr>
      </p:sp>
      <p:sp>
        <p:nvSpPr>
          <p:cNvPr id="38" name="Shape 36"/>
          <p:cNvSpPr/>
          <p:nvPr/>
        </p:nvSpPr>
        <p:spPr>
          <a:xfrm>
            <a:off x="2697480" y="1691640"/>
            <a:ext cx="54864" cy="4572000"/>
          </a:xfrm>
          <a:prstGeom prst="rect">
            <a:avLst/>
          </a:prstGeom>
          <a:solidFill>
            <a:srgbClr val="E2E8F0"/>
          </a:solidFill>
          <a:ln/>
        </p:spPr>
      </p:sp>
      <p:sp>
        <p:nvSpPr>
          <p:cNvPr id="39" name="Text 37"/>
          <p:cNvSpPr/>
          <p:nvPr/>
        </p:nvSpPr>
        <p:spPr>
          <a:xfrm>
            <a:off x="2807208" y="1737360"/>
            <a:ext cx="2011680" cy="0"/>
          </a:xfrm>
          <a:prstGeom prst="rect">
            <a:avLst/>
          </a:prstGeom>
          <a:noFill/>
          <a:ln/>
        </p:spPr>
        <p:txBody>
          <a:bodyPr wrap="square" rtlCol="0" anchor="ctr"/>
          <a:lstStyle/>
          <a:p>
            <a:pPr indent="0" marL="0">
              <a:buNone/>
            </a:pPr>
            <a:r>
              <a:rPr lang="en-US" sz="900" b="1" dirty="0">
                <a:solidFill>
                  <a:srgbClr val="8A9BA8"/>
                </a:solidFill>
              </a:rPr>
              <a:t>Phase 02</a:t>
            </a:r>
            <a:endParaRPr lang="en-US" sz="900" dirty="0"/>
          </a:p>
        </p:txBody>
      </p:sp>
      <p:sp>
        <p:nvSpPr>
          <p:cNvPr id="40" name="Text 38"/>
          <p:cNvSpPr/>
          <p:nvPr/>
        </p:nvSpPr>
        <p:spPr>
          <a:xfrm>
            <a:off x="2807208" y="1874520"/>
            <a:ext cx="2011680" cy="0"/>
          </a:xfrm>
          <a:prstGeom prst="rect">
            <a:avLst/>
          </a:prstGeom>
          <a:noFill/>
          <a:ln/>
        </p:spPr>
        <p:txBody>
          <a:bodyPr wrap="square" rtlCol="0" anchor="ctr"/>
          <a:lstStyle/>
          <a:p>
            <a:pPr indent="0" marL="0">
              <a:lnSpc>
                <a:spcPct val="120000"/>
              </a:lnSpc>
              <a:buNone/>
            </a:pPr>
            <a:r>
              <a:rPr lang="en-US" sz="1250" b="1" dirty="0">
                <a:solidFill>
                  <a:srgbClr val="2C3E50"/>
                </a:solidFill>
              </a:rPr>
              <a:t>SaaS</a:t>
            </a:r>
            <a:endParaRPr lang="en-US" sz="1250" dirty="0"/>
          </a:p>
          <a:p>
            <a:pPr indent="0" marL="0">
              <a:lnSpc>
                <a:spcPct val="120000"/>
              </a:lnSpc>
              <a:buNone/>
            </a:pPr>
            <a:r>
              <a:rPr lang="en-US" sz="1250" b="1" dirty="0">
                <a:solidFill>
                  <a:srgbClr val="2C3E50"/>
                </a:solidFill>
              </a:rPr>
              <a:t>Dashboard</a:t>
            </a:r>
            <a:endParaRPr lang="en-US" sz="1250" dirty="0"/>
          </a:p>
        </p:txBody>
      </p:sp>
      <p:sp>
        <p:nvSpPr>
          <p:cNvPr id="41" name="Shape 39"/>
          <p:cNvSpPr/>
          <p:nvPr/>
        </p:nvSpPr>
        <p:spPr>
          <a:xfrm>
            <a:off x="2807208" y="2651760"/>
            <a:ext cx="2011680" cy="320040"/>
          </a:xfrm>
          <a:prstGeom prst="rect">
            <a:avLst/>
          </a:prstGeom>
          <a:solidFill>
            <a:srgbClr val="FFFFFF"/>
          </a:solidFill>
          <a:ln w="12700">
            <a:solidFill>
              <a:srgbClr val="E2E8F0"/>
            </a:solidFill>
            <a:prstDash val="solid"/>
          </a:ln>
        </p:spPr>
      </p:sp>
      <p:sp>
        <p:nvSpPr>
          <p:cNvPr id="42" name="Text 40"/>
          <p:cNvSpPr/>
          <p:nvPr/>
        </p:nvSpPr>
        <p:spPr>
          <a:xfrm>
            <a:off x="2807208" y="2697480"/>
            <a:ext cx="2011680" cy="0"/>
          </a:xfrm>
          <a:prstGeom prst="rect">
            <a:avLst/>
          </a:prstGeom>
          <a:noFill/>
          <a:ln/>
        </p:spPr>
        <p:txBody>
          <a:bodyPr wrap="square" rtlCol="0" anchor="ctr"/>
          <a:lstStyle/>
          <a:p>
            <a:pPr algn="ctr" indent="0" marL="0">
              <a:buNone/>
            </a:pPr>
            <a:r>
              <a:rPr lang="en-US" sz="900" b="1" dirty="0">
                <a:solidFill>
                  <a:srgbClr val="5A6B7C"/>
                </a:solidFill>
              </a:rPr>
              <a:t>🔜 NEXT</a:t>
            </a:r>
            <a:endParaRPr lang="en-US" sz="900" dirty="0"/>
          </a:p>
        </p:txBody>
      </p:sp>
      <p:sp>
        <p:nvSpPr>
          <p:cNvPr id="43" name="Text 41"/>
          <p:cNvSpPr/>
          <p:nvPr/>
        </p:nvSpPr>
        <p:spPr>
          <a:xfrm>
            <a:off x="2807208" y="3072384"/>
            <a:ext cx="2011680" cy="0"/>
          </a:xfrm>
          <a:prstGeom prst="rect">
            <a:avLst/>
          </a:prstGeom>
          <a:noFill/>
          <a:ln/>
        </p:spPr>
        <p:txBody>
          <a:bodyPr wrap="square" rtlCol="0" anchor="ctr"/>
          <a:lstStyle/>
          <a:p>
            <a:pPr indent="0" marL="0">
              <a:buNone/>
            </a:pPr>
            <a:r>
              <a:rPr lang="en-US" sz="950" i="1" dirty="0">
                <a:solidFill>
                  <a:srgbClr val="8A9BA8"/>
                </a:solidFill>
              </a:rPr>
              <a:t>Weeks 3–6</a:t>
            </a:r>
            <a:endParaRPr lang="en-US" sz="950" dirty="0"/>
          </a:p>
        </p:txBody>
      </p:sp>
      <p:sp>
        <p:nvSpPr>
          <p:cNvPr id="44" name="Shape 42"/>
          <p:cNvSpPr/>
          <p:nvPr/>
        </p:nvSpPr>
        <p:spPr>
          <a:xfrm>
            <a:off x="2807208" y="3429000"/>
            <a:ext cx="54864" cy="274320"/>
          </a:xfrm>
          <a:prstGeom prst="rect">
            <a:avLst/>
          </a:prstGeom>
          <a:solidFill>
            <a:srgbClr val="9D2706"/>
          </a:solidFill>
          <a:ln/>
        </p:spPr>
      </p:sp>
      <p:sp>
        <p:nvSpPr>
          <p:cNvPr id="45" name="Text 43"/>
          <p:cNvSpPr/>
          <p:nvPr/>
        </p:nvSpPr>
        <p:spPr>
          <a:xfrm>
            <a:off x="2926080" y="3456432"/>
            <a:ext cx="1920240" cy="0"/>
          </a:xfrm>
          <a:prstGeom prst="rect">
            <a:avLst/>
          </a:prstGeom>
          <a:noFill/>
          <a:ln/>
        </p:spPr>
        <p:txBody>
          <a:bodyPr wrap="square" rtlCol="0" anchor="ctr"/>
          <a:lstStyle/>
          <a:p>
            <a:pPr indent="0" marL="0">
              <a:buNone/>
            </a:pPr>
            <a:r>
              <a:rPr lang="en-US" sz="950" dirty="0">
                <a:solidFill>
                  <a:srgbClr val="2C3E50"/>
                </a:solidFill>
              </a:rPr>
              <a:t>Secure merchant login (JWT)</a:t>
            </a:r>
            <a:endParaRPr lang="en-US" sz="950" dirty="0"/>
          </a:p>
        </p:txBody>
      </p:sp>
      <p:sp>
        <p:nvSpPr>
          <p:cNvPr id="46" name="Shape 44"/>
          <p:cNvSpPr/>
          <p:nvPr/>
        </p:nvSpPr>
        <p:spPr>
          <a:xfrm>
            <a:off x="2807208" y="3867912"/>
            <a:ext cx="54864" cy="274320"/>
          </a:xfrm>
          <a:prstGeom prst="rect">
            <a:avLst/>
          </a:prstGeom>
          <a:solidFill>
            <a:srgbClr val="9D2706"/>
          </a:solidFill>
          <a:ln/>
        </p:spPr>
      </p:sp>
      <p:sp>
        <p:nvSpPr>
          <p:cNvPr id="47" name="Text 45"/>
          <p:cNvSpPr/>
          <p:nvPr/>
        </p:nvSpPr>
        <p:spPr>
          <a:xfrm>
            <a:off x="2926080" y="3895344"/>
            <a:ext cx="1920240" cy="0"/>
          </a:xfrm>
          <a:prstGeom prst="rect">
            <a:avLst/>
          </a:prstGeom>
          <a:noFill/>
          <a:ln/>
        </p:spPr>
        <p:txBody>
          <a:bodyPr wrap="square" rtlCol="0" anchor="ctr"/>
          <a:lstStyle/>
          <a:p>
            <a:pPr indent="0" marL="0">
              <a:buNone/>
            </a:pPr>
            <a:r>
              <a:rPr lang="en-US" sz="950" dirty="0">
                <a:solidFill>
                  <a:srgbClr val="2C3E50"/>
                </a:solidFill>
              </a:rPr>
              <a:t>Model upload &amp; asset manager</a:t>
            </a:r>
            <a:endParaRPr lang="en-US" sz="950" dirty="0"/>
          </a:p>
        </p:txBody>
      </p:sp>
      <p:sp>
        <p:nvSpPr>
          <p:cNvPr id="48" name="Shape 46"/>
          <p:cNvSpPr/>
          <p:nvPr/>
        </p:nvSpPr>
        <p:spPr>
          <a:xfrm>
            <a:off x="2807208" y="4306824"/>
            <a:ext cx="54864" cy="274320"/>
          </a:xfrm>
          <a:prstGeom prst="rect">
            <a:avLst/>
          </a:prstGeom>
          <a:solidFill>
            <a:srgbClr val="9D2706"/>
          </a:solidFill>
          <a:ln/>
        </p:spPr>
      </p:sp>
      <p:sp>
        <p:nvSpPr>
          <p:cNvPr id="49" name="Text 47"/>
          <p:cNvSpPr/>
          <p:nvPr/>
        </p:nvSpPr>
        <p:spPr>
          <a:xfrm>
            <a:off x="2926080" y="4334256"/>
            <a:ext cx="1920240" cy="0"/>
          </a:xfrm>
          <a:prstGeom prst="rect">
            <a:avLst/>
          </a:prstGeom>
          <a:noFill/>
          <a:ln/>
        </p:spPr>
        <p:txBody>
          <a:bodyPr wrap="square" rtlCol="0" anchor="ctr"/>
          <a:lstStyle/>
          <a:p>
            <a:pPr indent="0" marL="0">
              <a:buNone/>
            </a:pPr>
            <a:r>
              <a:rPr lang="en-US" sz="950" dirty="0">
                <a:solidFill>
                  <a:srgbClr val="2C3E50"/>
                </a:solidFill>
              </a:rPr>
              <a:t>Material &amp; pricing rule builder</a:t>
            </a:r>
            <a:endParaRPr lang="en-US" sz="950" dirty="0"/>
          </a:p>
        </p:txBody>
      </p:sp>
      <p:sp>
        <p:nvSpPr>
          <p:cNvPr id="50" name="Shape 48"/>
          <p:cNvSpPr/>
          <p:nvPr/>
        </p:nvSpPr>
        <p:spPr>
          <a:xfrm>
            <a:off x="2807208" y="4745736"/>
            <a:ext cx="54864" cy="274320"/>
          </a:xfrm>
          <a:prstGeom prst="rect">
            <a:avLst/>
          </a:prstGeom>
          <a:solidFill>
            <a:srgbClr val="9D2706"/>
          </a:solidFill>
          <a:ln/>
        </p:spPr>
      </p:sp>
      <p:sp>
        <p:nvSpPr>
          <p:cNvPr id="51" name="Text 49"/>
          <p:cNvSpPr/>
          <p:nvPr/>
        </p:nvSpPr>
        <p:spPr>
          <a:xfrm>
            <a:off x="2926080" y="4773168"/>
            <a:ext cx="1920240" cy="0"/>
          </a:xfrm>
          <a:prstGeom prst="rect">
            <a:avLst/>
          </a:prstGeom>
          <a:noFill/>
          <a:ln/>
        </p:spPr>
        <p:txBody>
          <a:bodyPr wrap="square" rtlCol="0" anchor="ctr"/>
          <a:lstStyle/>
          <a:p>
            <a:pPr indent="0" marL="0">
              <a:buNone/>
            </a:pPr>
            <a:r>
              <a:rPr lang="en-US" sz="950" dirty="0">
                <a:solidFill>
                  <a:srgbClr val="2C3E50"/>
                </a:solidFill>
              </a:rPr>
              <a:t>E-commerce product config</a:t>
            </a:r>
            <a:endParaRPr lang="en-US" sz="950" dirty="0"/>
          </a:p>
        </p:txBody>
      </p:sp>
      <p:sp>
        <p:nvSpPr>
          <p:cNvPr id="52" name="Shape 50"/>
          <p:cNvSpPr/>
          <p:nvPr/>
        </p:nvSpPr>
        <p:spPr>
          <a:xfrm>
            <a:off x="2807208" y="5184648"/>
            <a:ext cx="54864" cy="274320"/>
          </a:xfrm>
          <a:prstGeom prst="rect">
            <a:avLst/>
          </a:prstGeom>
          <a:solidFill>
            <a:srgbClr val="9D2706"/>
          </a:solidFill>
          <a:ln/>
        </p:spPr>
      </p:sp>
      <p:sp>
        <p:nvSpPr>
          <p:cNvPr id="53" name="Text 51"/>
          <p:cNvSpPr/>
          <p:nvPr/>
        </p:nvSpPr>
        <p:spPr>
          <a:xfrm>
            <a:off x="2926080" y="5212080"/>
            <a:ext cx="1920240" cy="0"/>
          </a:xfrm>
          <a:prstGeom prst="rect">
            <a:avLst/>
          </a:prstGeom>
          <a:noFill/>
          <a:ln/>
        </p:spPr>
        <p:txBody>
          <a:bodyPr wrap="square" rtlCol="0" anchor="ctr"/>
          <a:lstStyle/>
          <a:p>
            <a:pPr indent="0" marL="0">
              <a:buNone/>
            </a:pPr>
            <a:r>
              <a:rPr lang="en-US" sz="950" dirty="0">
                <a:solidFill>
                  <a:srgbClr val="2C3E50"/>
                </a:solidFill>
              </a:rPr>
              <a:t>Visual embed code widget</a:t>
            </a:r>
            <a:endParaRPr lang="en-US" sz="950" dirty="0"/>
          </a:p>
        </p:txBody>
      </p:sp>
      <p:sp>
        <p:nvSpPr>
          <p:cNvPr id="54" name="Shape 52"/>
          <p:cNvSpPr/>
          <p:nvPr/>
        </p:nvSpPr>
        <p:spPr>
          <a:xfrm>
            <a:off x="2807208" y="5623560"/>
            <a:ext cx="54864" cy="274320"/>
          </a:xfrm>
          <a:prstGeom prst="rect">
            <a:avLst/>
          </a:prstGeom>
          <a:solidFill>
            <a:srgbClr val="9D2706"/>
          </a:solidFill>
          <a:ln/>
        </p:spPr>
      </p:sp>
      <p:sp>
        <p:nvSpPr>
          <p:cNvPr id="55" name="Text 53"/>
          <p:cNvSpPr/>
          <p:nvPr/>
        </p:nvSpPr>
        <p:spPr>
          <a:xfrm>
            <a:off x="2926080" y="5650992"/>
            <a:ext cx="1920240" cy="0"/>
          </a:xfrm>
          <a:prstGeom prst="rect">
            <a:avLst/>
          </a:prstGeom>
          <a:noFill/>
          <a:ln/>
        </p:spPr>
        <p:txBody>
          <a:bodyPr wrap="square" rtlCol="0" anchor="ctr"/>
          <a:lstStyle/>
          <a:p>
            <a:pPr indent="0" marL="0">
              <a:buNone/>
            </a:pPr>
            <a:r>
              <a:rPr lang="en-US" sz="950" dirty="0">
                <a:solidFill>
                  <a:srgbClr val="2C3E50"/>
                </a:solidFill>
              </a:rPr>
              <a:t>Usage analytics system</a:t>
            </a:r>
            <a:endParaRPr lang="en-US" sz="950" dirty="0"/>
          </a:p>
        </p:txBody>
      </p:sp>
      <p:sp>
        <p:nvSpPr>
          <p:cNvPr id="56" name="Shape 54"/>
          <p:cNvSpPr/>
          <p:nvPr/>
        </p:nvSpPr>
        <p:spPr>
          <a:xfrm>
            <a:off x="5916168" y="1316736"/>
            <a:ext cx="347472" cy="347472"/>
          </a:xfrm>
          <a:prstGeom prst="ellipse">
            <a:avLst/>
          </a:prstGeom>
          <a:solidFill>
            <a:srgbClr val="FFFFFF"/>
          </a:solidFill>
          <a:ln w="12700">
            <a:solidFill>
              <a:srgbClr val="5A6B7C"/>
            </a:solidFill>
            <a:prstDash val="solid"/>
          </a:ln>
        </p:spPr>
      </p:sp>
      <p:sp>
        <p:nvSpPr>
          <p:cNvPr id="57" name="Text 55"/>
          <p:cNvSpPr/>
          <p:nvPr/>
        </p:nvSpPr>
        <p:spPr>
          <a:xfrm>
            <a:off x="5916168" y="1353312"/>
            <a:ext cx="347472" cy="0"/>
          </a:xfrm>
          <a:prstGeom prst="rect">
            <a:avLst/>
          </a:prstGeom>
          <a:noFill/>
          <a:ln/>
        </p:spPr>
        <p:txBody>
          <a:bodyPr wrap="square" rtlCol="0" anchor="ctr"/>
          <a:lstStyle/>
          <a:p>
            <a:pPr algn="ctr" indent="0" marL="0">
              <a:buNone/>
            </a:pPr>
            <a:r>
              <a:rPr lang="en-US" sz="1050" b="1" dirty="0">
                <a:solidFill>
                  <a:srgbClr val="5A6B7C"/>
                </a:solidFill>
              </a:rPr>
              <a:t>03</a:t>
            </a:r>
            <a:endParaRPr lang="en-US" sz="1050" dirty="0"/>
          </a:p>
        </p:txBody>
      </p:sp>
      <p:sp>
        <p:nvSpPr>
          <p:cNvPr id="58" name="Shape 56"/>
          <p:cNvSpPr/>
          <p:nvPr/>
        </p:nvSpPr>
        <p:spPr>
          <a:xfrm>
            <a:off x="5074920" y="1691640"/>
            <a:ext cx="2240280" cy="4572000"/>
          </a:xfrm>
          <a:prstGeom prst="rect">
            <a:avLst/>
          </a:prstGeom>
          <a:solidFill>
            <a:srgbClr val="FFFFFF"/>
          </a:solidFill>
          <a:ln w="12700">
            <a:solidFill>
              <a:srgbClr val="E2E8F0"/>
            </a:solidFill>
            <a:prstDash val="solid"/>
          </a:ln>
        </p:spPr>
      </p:sp>
      <p:sp>
        <p:nvSpPr>
          <p:cNvPr id="59" name="Shape 57"/>
          <p:cNvSpPr/>
          <p:nvPr/>
        </p:nvSpPr>
        <p:spPr>
          <a:xfrm>
            <a:off x="5074920" y="1691640"/>
            <a:ext cx="2240280" cy="868680"/>
          </a:xfrm>
          <a:prstGeom prst="rect">
            <a:avLst/>
          </a:prstGeom>
          <a:solidFill>
            <a:srgbClr val="EDF2F7"/>
          </a:solidFill>
          <a:ln/>
        </p:spPr>
      </p:sp>
      <p:sp>
        <p:nvSpPr>
          <p:cNvPr id="60" name="Shape 58"/>
          <p:cNvSpPr/>
          <p:nvPr/>
        </p:nvSpPr>
        <p:spPr>
          <a:xfrm>
            <a:off x="5074920" y="1691640"/>
            <a:ext cx="54864" cy="4572000"/>
          </a:xfrm>
          <a:prstGeom prst="rect">
            <a:avLst/>
          </a:prstGeom>
          <a:solidFill>
            <a:srgbClr val="E2E8F0"/>
          </a:solidFill>
          <a:ln/>
        </p:spPr>
      </p:sp>
      <p:sp>
        <p:nvSpPr>
          <p:cNvPr id="61" name="Text 59"/>
          <p:cNvSpPr/>
          <p:nvPr/>
        </p:nvSpPr>
        <p:spPr>
          <a:xfrm>
            <a:off x="5184648" y="1737360"/>
            <a:ext cx="2011680" cy="0"/>
          </a:xfrm>
          <a:prstGeom prst="rect">
            <a:avLst/>
          </a:prstGeom>
          <a:noFill/>
          <a:ln/>
        </p:spPr>
        <p:txBody>
          <a:bodyPr wrap="square" rtlCol="0" anchor="ctr"/>
          <a:lstStyle/>
          <a:p>
            <a:pPr indent="0" marL="0">
              <a:buNone/>
            </a:pPr>
            <a:r>
              <a:rPr lang="en-US" sz="900" b="1" dirty="0">
                <a:solidFill>
                  <a:srgbClr val="8A9BA8"/>
                </a:solidFill>
              </a:rPr>
              <a:t>Phase 03</a:t>
            </a:r>
            <a:endParaRPr lang="en-US" sz="900" dirty="0"/>
          </a:p>
        </p:txBody>
      </p:sp>
      <p:sp>
        <p:nvSpPr>
          <p:cNvPr id="62" name="Text 60"/>
          <p:cNvSpPr/>
          <p:nvPr/>
        </p:nvSpPr>
        <p:spPr>
          <a:xfrm>
            <a:off x="5184648" y="1874520"/>
            <a:ext cx="2011680" cy="0"/>
          </a:xfrm>
          <a:prstGeom prst="rect">
            <a:avLst/>
          </a:prstGeom>
          <a:noFill/>
          <a:ln/>
        </p:spPr>
        <p:txBody>
          <a:bodyPr wrap="square" rtlCol="0" anchor="ctr"/>
          <a:lstStyle/>
          <a:p>
            <a:pPr indent="0" marL="0">
              <a:lnSpc>
                <a:spcPct val="120000"/>
              </a:lnSpc>
              <a:buNone/>
            </a:pPr>
            <a:r>
              <a:rPr lang="en-US" sz="1250" b="1" dirty="0">
                <a:solidFill>
                  <a:srgbClr val="2C3E50"/>
                </a:solidFill>
              </a:rPr>
              <a:t>Shopify</a:t>
            </a:r>
            <a:endParaRPr lang="en-US" sz="1250" dirty="0"/>
          </a:p>
          <a:p>
            <a:pPr indent="0" marL="0">
              <a:lnSpc>
                <a:spcPct val="120000"/>
              </a:lnSpc>
              <a:buNone/>
            </a:pPr>
            <a:r>
              <a:rPr lang="en-US" sz="1250" b="1" dirty="0">
                <a:solidFill>
                  <a:srgbClr val="2C3E50"/>
                </a:solidFill>
              </a:rPr>
              <a:t>Integration</a:t>
            </a:r>
            <a:endParaRPr lang="en-US" sz="1250" dirty="0"/>
          </a:p>
        </p:txBody>
      </p:sp>
      <p:sp>
        <p:nvSpPr>
          <p:cNvPr id="63" name="Shape 61"/>
          <p:cNvSpPr/>
          <p:nvPr/>
        </p:nvSpPr>
        <p:spPr>
          <a:xfrm>
            <a:off x="5184648" y="2651760"/>
            <a:ext cx="2011680" cy="320040"/>
          </a:xfrm>
          <a:prstGeom prst="rect">
            <a:avLst/>
          </a:prstGeom>
          <a:solidFill>
            <a:srgbClr val="FFFFFF"/>
          </a:solidFill>
          <a:ln w="12700">
            <a:solidFill>
              <a:srgbClr val="E2E8F0"/>
            </a:solidFill>
            <a:prstDash val="solid"/>
          </a:ln>
        </p:spPr>
      </p:sp>
      <p:sp>
        <p:nvSpPr>
          <p:cNvPr id="64" name="Text 62"/>
          <p:cNvSpPr/>
          <p:nvPr/>
        </p:nvSpPr>
        <p:spPr>
          <a:xfrm>
            <a:off x="5184648" y="2697480"/>
            <a:ext cx="2011680" cy="0"/>
          </a:xfrm>
          <a:prstGeom prst="rect">
            <a:avLst/>
          </a:prstGeom>
          <a:noFill/>
          <a:ln/>
        </p:spPr>
        <p:txBody>
          <a:bodyPr wrap="square" rtlCol="0" anchor="ctr"/>
          <a:lstStyle/>
          <a:p>
            <a:pPr algn="ctr" indent="0" marL="0">
              <a:buNone/>
            </a:pPr>
            <a:r>
              <a:rPr lang="en-US" sz="900" b="1" dirty="0">
                <a:solidFill>
                  <a:srgbClr val="5A6B7C"/>
                </a:solidFill>
              </a:rPr>
              <a:t>📋 PLANNED</a:t>
            </a:r>
            <a:endParaRPr lang="en-US" sz="900" dirty="0"/>
          </a:p>
        </p:txBody>
      </p:sp>
      <p:sp>
        <p:nvSpPr>
          <p:cNvPr id="65" name="Text 63"/>
          <p:cNvSpPr/>
          <p:nvPr/>
        </p:nvSpPr>
        <p:spPr>
          <a:xfrm>
            <a:off x="5184648" y="3072384"/>
            <a:ext cx="2011680" cy="0"/>
          </a:xfrm>
          <a:prstGeom prst="rect">
            <a:avLst/>
          </a:prstGeom>
          <a:noFill/>
          <a:ln/>
        </p:spPr>
        <p:txBody>
          <a:bodyPr wrap="square" rtlCol="0" anchor="ctr"/>
          <a:lstStyle/>
          <a:p>
            <a:pPr indent="0" marL="0">
              <a:buNone/>
            </a:pPr>
            <a:r>
              <a:rPr lang="en-US" sz="950" i="1" dirty="0">
                <a:solidFill>
                  <a:srgbClr val="8A9BA8"/>
                </a:solidFill>
              </a:rPr>
              <a:t>Weeks 7–9</a:t>
            </a:r>
            <a:endParaRPr lang="en-US" sz="950" dirty="0"/>
          </a:p>
        </p:txBody>
      </p:sp>
      <p:sp>
        <p:nvSpPr>
          <p:cNvPr id="66" name="Shape 64"/>
          <p:cNvSpPr/>
          <p:nvPr/>
        </p:nvSpPr>
        <p:spPr>
          <a:xfrm>
            <a:off x="5184648" y="3429000"/>
            <a:ext cx="54864" cy="274320"/>
          </a:xfrm>
          <a:prstGeom prst="rect">
            <a:avLst/>
          </a:prstGeom>
          <a:solidFill>
            <a:srgbClr val="9D2706"/>
          </a:solidFill>
          <a:ln/>
        </p:spPr>
      </p:sp>
      <p:sp>
        <p:nvSpPr>
          <p:cNvPr id="67" name="Text 65"/>
          <p:cNvSpPr/>
          <p:nvPr/>
        </p:nvSpPr>
        <p:spPr>
          <a:xfrm>
            <a:off x="5303520" y="3456432"/>
            <a:ext cx="1920240" cy="0"/>
          </a:xfrm>
          <a:prstGeom prst="rect">
            <a:avLst/>
          </a:prstGeom>
          <a:noFill/>
          <a:ln/>
        </p:spPr>
        <p:txBody>
          <a:bodyPr wrap="square" rtlCol="0" anchor="ctr"/>
          <a:lstStyle/>
          <a:p>
            <a:pPr indent="0" marL="0">
              <a:buNone/>
            </a:pPr>
            <a:r>
              <a:rPr lang="en-US" sz="950" dirty="0">
                <a:solidFill>
                  <a:srgbClr val="2C3E50"/>
                </a:solidFill>
              </a:rPr>
              <a:t>Shopify app builder setup</a:t>
            </a:r>
            <a:endParaRPr lang="en-US" sz="950" dirty="0"/>
          </a:p>
        </p:txBody>
      </p:sp>
      <p:sp>
        <p:nvSpPr>
          <p:cNvPr id="68" name="Shape 66"/>
          <p:cNvSpPr/>
          <p:nvPr/>
        </p:nvSpPr>
        <p:spPr>
          <a:xfrm>
            <a:off x="5184648" y="3867912"/>
            <a:ext cx="54864" cy="274320"/>
          </a:xfrm>
          <a:prstGeom prst="rect">
            <a:avLst/>
          </a:prstGeom>
          <a:solidFill>
            <a:srgbClr val="9D2706"/>
          </a:solidFill>
          <a:ln/>
        </p:spPr>
      </p:sp>
      <p:sp>
        <p:nvSpPr>
          <p:cNvPr id="69" name="Text 67"/>
          <p:cNvSpPr/>
          <p:nvPr/>
        </p:nvSpPr>
        <p:spPr>
          <a:xfrm>
            <a:off x="5303520" y="3895344"/>
            <a:ext cx="1920240" cy="0"/>
          </a:xfrm>
          <a:prstGeom prst="rect">
            <a:avLst/>
          </a:prstGeom>
          <a:noFill/>
          <a:ln/>
        </p:spPr>
        <p:txBody>
          <a:bodyPr wrap="square" rtlCol="0" anchor="ctr"/>
          <a:lstStyle/>
          <a:p>
            <a:pPr indent="0" marL="0">
              <a:buNone/>
            </a:pPr>
            <a:r>
              <a:rPr lang="en-US" sz="950" dirty="0">
                <a:solidFill>
                  <a:srgbClr val="2C3E50"/>
                </a:solidFill>
              </a:rPr>
              <a:t>Injectable custom theme widget</a:t>
            </a:r>
            <a:endParaRPr lang="en-US" sz="950" dirty="0"/>
          </a:p>
        </p:txBody>
      </p:sp>
      <p:sp>
        <p:nvSpPr>
          <p:cNvPr id="70" name="Shape 68"/>
          <p:cNvSpPr/>
          <p:nvPr/>
        </p:nvSpPr>
        <p:spPr>
          <a:xfrm>
            <a:off x="5184648" y="4306824"/>
            <a:ext cx="54864" cy="274320"/>
          </a:xfrm>
          <a:prstGeom prst="rect">
            <a:avLst/>
          </a:prstGeom>
          <a:solidFill>
            <a:srgbClr val="9D2706"/>
          </a:solidFill>
          <a:ln/>
        </p:spPr>
      </p:sp>
      <p:sp>
        <p:nvSpPr>
          <p:cNvPr id="71" name="Text 69"/>
          <p:cNvSpPr/>
          <p:nvPr/>
        </p:nvSpPr>
        <p:spPr>
          <a:xfrm>
            <a:off x="5303520" y="4334256"/>
            <a:ext cx="1920240" cy="0"/>
          </a:xfrm>
          <a:prstGeom prst="rect">
            <a:avLst/>
          </a:prstGeom>
          <a:noFill/>
          <a:ln/>
        </p:spPr>
        <p:txBody>
          <a:bodyPr wrap="square" rtlCol="0" anchor="ctr"/>
          <a:lstStyle/>
          <a:p>
            <a:pPr indent="0" marL="0">
              <a:buNone/>
            </a:pPr>
            <a:r>
              <a:rPr lang="en-US" sz="950" dirty="0">
                <a:solidFill>
                  <a:srgbClr val="2C3E50"/>
                </a:solidFill>
              </a:rPr>
              <a:t>Dynamic variant mapping to cart</a:t>
            </a:r>
            <a:endParaRPr lang="en-US" sz="950" dirty="0"/>
          </a:p>
        </p:txBody>
      </p:sp>
      <p:sp>
        <p:nvSpPr>
          <p:cNvPr id="72" name="Shape 70"/>
          <p:cNvSpPr/>
          <p:nvPr/>
        </p:nvSpPr>
        <p:spPr>
          <a:xfrm>
            <a:off x="5184648" y="4745736"/>
            <a:ext cx="54864" cy="274320"/>
          </a:xfrm>
          <a:prstGeom prst="rect">
            <a:avLst/>
          </a:prstGeom>
          <a:solidFill>
            <a:srgbClr val="9D2706"/>
          </a:solidFill>
          <a:ln/>
        </p:spPr>
      </p:sp>
      <p:sp>
        <p:nvSpPr>
          <p:cNvPr id="73" name="Text 71"/>
          <p:cNvSpPr/>
          <p:nvPr/>
        </p:nvSpPr>
        <p:spPr>
          <a:xfrm>
            <a:off x="5303520" y="4773168"/>
            <a:ext cx="1920240" cy="0"/>
          </a:xfrm>
          <a:prstGeom prst="rect">
            <a:avLst/>
          </a:prstGeom>
          <a:noFill/>
          <a:ln/>
        </p:spPr>
        <p:txBody>
          <a:bodyPr wrap="square" rtlCol="0" anchor="ctr"/>
          <a:lstStyle/>
          <a:p>
            <a:pPr indent="0" marL="0">
              <a:buNone/>
            </a:pPr>
            <a:r>
              <a:rPr lang="en-US" sz="950" dirty="0">
                <a:solidFill>
                  <a:srgbClr val="2C3E50"/>
                </a:solidFill>
              </a:rPr>
              <a:t>Shopify App Store validation</a:t>
            </a:r>
            <a:endParaRPr lang="en-US" sz="950" dirty="0"/>
          </a:p>
        </p:txBody>
      </p:sp>
      <p:sp>
        <p:nvSpPr>
          <p:cNvPr id="74" name="Shape 72"/>
          <p:cNvSpPr/>
          <p:nvPr/>
        </p:nvSpPr>
        <p:spPr>
          <a:xfrm>
            <a:off x="5184648" y="5184648"/>
            <a:ext cx="54864" cy="274320"/>
          </a:xfrm>
          <a:prstGeom prst="rect">
            <a:avLst/>
          </a:prstGeom>
          <a:solidFill>
            <a:srgbClr val="9D2706"/>
          </a:solidFill>
          <a:ln/>
        </p:spPr>
      </p:sp>
      <p:sp>
        <p:nvSpPr>
          <p:cNvPr id="75" name="Text 73"/>
          <p:cNvSpPr/>
          <p:nvPr/>
        </p:nvSpPr>
        <p:spPr>
          <a:xfrm>
            <a:off x="5303520" y="5212080"/>
            <a:ext cx="1920240" cy="0"/>
          </a:xfrm>
          <a:prstGeom prst="rect">
            <a:avLst/>
          </a:prstGeom>
          <a:noFill/>
          <a:ln/>
        </p:spPr>
        <p:txBody>
          <a:bodyPr wrap="square" rtlCol="0" anchor="ctr"/>
          <a:lstStyle/>
          <a:p>
            <a:pPr indent="0" marL="0">
              <a:buNone/>
            </a:pPr>
            <a:r>
              <a:rPr lang="en-US" sz="950" dirty="0">
                <a:solidFill>
                  <a:srgbClr val="2C3E50"/>
                </a:solidFill>
              </a:rPr>
              <a:t>Webhook system for updates</a:t>
            </a:r>
            <a:endParaRPr lang="en-US" sz="950" dirty="0"/>
          </a:p>
        </p:txBody>
      </p:sp>
      <p:sp>
        <p:nvSpPr>
          <p:cNvPr id="76" name="Shape 74"/>
          <p:cNvSpPr/>
          <p:nvPr/>
        </p:nvSpPr>
        <p:spPr>
          <a:xfrm>
            <a:off x="5184648" y="5623560"/>
            <a:ext cx="54864" cy="274320"/>
          </a:xfrm>
          <a:prstGeom prst="rect">
            <a:avLst/>
          </a:prstGeom>
          <a:solidFill>
            <a:srgbClr val="9D2706"/>
          </a:solidFill>
          <a:ln/>
        </p:spPr>
      </p:sp>
      <p:sp>
        <p:nvSpPr>
          <p:cNvPr id="77" name="Text 75"/>
          <p:cNvSpPr/>
          <p:nvPr/>
        </p:nvSpPr>
        <p:spPr>
          <a:xfrm>
            <a:off x="5303520" y="5650992"/>
            <a:ext cx="1920240" cy="0"/>
          </a:xfrm>
          <a:prstGeom prst="rect">
            <a:avLst/>
          </a:prstGeom>
          <a:noFill/>
          <a:ln/>
        </p:spPr>
        <p:txBody>
          <a:bodyPr wrap="square" rtlCol="0" anchor="ctr"/>
          <a:lstStyle/>
          <a:p>
            <a:pPr indent="0" marL="0">
              <a:buNone/>
            </a:pPr>
            <a:r>
              <a:rPr lang="en-US" sz="950" dirty="0">
                <a:solidFill>
                  <a:srgbClr val="2C3E50"/>
                </a:solidFill>
              </a:rPr>
              <a:t>App Bridge administration</a:t>
            </a:r>
            <a:endParaRPr lang="en-US" sz="950" dirty="0"/>
          </a:p>
        </p:txBody>
      </p:sp>
      <p:sp>
        <p:nvSpPr>
          <p:cNvPr id="78" name="Shape 76"/>
          <p:cNvSpPr/>
          <p:nvPr/>
        </p:nvSpPr>
        <p:spPr>
          <a:xfrm>
            <a:off x="8293608" y="1316736"/>
            <a:ext cx="347472" cy="347472"/>
          </a:xfrm>
          <a:prstGeom prst="ellipse">
            <a:avLst/>
          </a:prstGeom>
          <a:solidFill>
            <a:srgbClr val="FFFFFF"/>
          </a:solidFill>
          <a:ln w="12700">
            <a:solidFill>
              <a:srgbClr val="5A6B7C"/>
            </a:solidFill>
            <a:prstDash val="solid"/>
          </a:ln>
        </p:spPr>
      </p:sp>
      <p:sp>
        <p:nvSpPr>
          <p:cNvPr id="79" name="Text 77"/>
          <p:cNvSpPr/>
          <p:nvPr/>
        </p:nvSpPr>
        <p:spPr>
          <a:xfrm>
            <a:off x="8293608" y="1353312"/>
            <a:ext cx="347472" cy="0"/>
          </a:xfrm>
          <a:prstGeom prst="rect">
            <a:avLst/>
          </a:prstGeom>
          <a:noFill/>
          <a:ln/>
        </p:spPr>
        <p:txBody>
          <a:bodyPr wrap="square" rtlCol="0" anchor="ctr"/>
          <a:lstStyle/>
          <a:p>
            <a:pPr algn="ctr" indent="0" marL="0">
              <a:buNone/>
            </a:pPr>
            <a:r>
              <a:rPr lang="en-US" sz="1050" b="1" dirty="0">
                <a:solidFill>
                  <a:srgbClr val="5A6B7C"/>
                </a:solidFill>
              </a:rPr>
              <a:t>04</a:t>
            </a:r>
            <a:endParaRPr lang="en-US" sz="1050" dirty="0"/>
          </a:p>
        </p:txBody>
      </p:sp>
      <p:sp>
        <p:nvSpPr>
          <p:cNvPr id="80" name="Shape 78"/>
          <p:cNvSpPr/>
          <p:nvPr/>
        </p:nvSpPr>
        <p:spPr>
          <a:xfrm>
            <a:off x="7452360" y="1691640"/>
            <a:ext cx="2240280" cy="4572000"/>
          </a:xfrm>
          <a:prstGeom prst="rect">
            <a:avLst/>
          </a:prstGeom>
          <a:solidFill>
            <a:srgbClr val="FFFFFF"/>
          </a:solidFill>
          <a:ln w="12700">
            <a:solidFill>
              <a:srgbClr val="E2E8F0"/>
            </a:solidFill>
            <a:prstDash val="solid"/>
          </a:ln>
        </p:spPr>
      </p:sp>
      <p:sp>
        <p:nvSpPr>
          <p:cNvPr id="81" name="Shape 79"/>
          <p:cNvSpPr/>
          <p:nvPr/>
        </p:nvSpPr>
        <p:spPr>
          <a:xfrm>
            <a:off x="7452360" y="1691640"/>
            <a:ext cx="2240280" cy="868680"/>
          </a:xfrm>
          <a:prstGeom prst="rect">
            <a:avLst/>
          </a:prstGeom>
          <a:solidFill>
            <a:srgbClr val="EDF2F7"/>
          </a:solidFill>
          <a:ln/>
        </p:spPr>
      </p:sp>
      <p:sp>
        <p:nvSpPr>
          <p:cNvPr id="82" name="Shape 80"/>
          <p:cNvSpPr/>
          <p:nvPr/>
        </p:nvSpPr>
        <p:spPr>
          <a:xfrm>
            <a:off x="7452360" y="1691640"/>
            <a:ext cx="54864" cy="4572000"/>
          </a:xfrm>
          <a:prstGeom prst="rect">
            <a:avLst/>
          </a:prstGeom>
          <a:solidFill>
            <a:srgbClr val="E2E8F0"/>
          </a:solidFill>
          <a:ln/>
        </p:spPr>
      </p:sp>
      <p:sp>
        <p:nvSpPr>
          <p:cNvPr id="83" name="Text 81"/>
          <p:cNvSpPr/>
          <p:nvPr/>
        </p:nvSpPr>
        <p:spPr>
          <a:xfrm>
            <a:off x="7562088" y="1737360"/>
            <a:ext cx="2011680" cy="0"/>
          </a:xfrm>
          <a:prstGeom prst="rect">
            <a:avLst/>
          </a:prstGeom>
          <a:noFill/>
          <a:ln/>
        </p:spPr>
        <p:txBody>
          <a:bodyPr wrap="square" rtlCol="0" anchor="ctr"/>
          <a:lstStyle/>
          <a:p>
            <a:pPr indent="0" marL="0">
              <a:buNone/>
            </a:pPr>
            <a:r>
              <a:rPr lang="en-US" sz="900" b="1" dirty="0">
                <a:solidFill>
                  <a:srgbClr val="8A9BA8"/>
                </a:solidFill>
              </a:rPr>
              <a:t>Phase 04</a:t>
            </a:r>
            <a:endParaRPr lang="en-US" sz="900" dirty="0"/>
          </a:p>
        </p:txBody>
      </p:sp>
      <p:sp>
        <p:nvSpPr>
          <p:cNvPr id="84" name="Text 82"/>
          <p:cNvSpPr/>
          <p:nvPr/>
        </p:nvSpPr>
        <p:spPr>
          <a:xfrm>
            <a:off x="7562088" y="1874520"/>
            <a:ext cx="2011680" cy="0"/>
          </a:xfrm>
          <a:prstGeom prst="rect">
            <a:avLst/>
          </a:prstGeom>
          <a:noFill/>
          <a:ln/>
        </p:spPr>
        <p:txBody>
          <a:bodyPr wrap="square" rtlCol="0" anchor="ctr"/>
          <a:lstStyle/>
          <a:p>
            <a:pPr indent="0" marL="0">
              <a:lnSpc>
                <a:spcPct val="120000"/>
              </a:lnSpc>
              <a:buNone/>
            </a:pPr>
            <a:r>
              <a:rPr lang="en-US" sz="1250" b="1" dirty="0">
                <a:solidFill>
                  <a:srgbClr val="2C3E50"/>
                </a:solidFill>
              </a:rPr>
              <a:t>AR</a:t>
            </a:r>
            <a:endParaRPr lang="en-US" sz="1250" dirty="0"/>
          </a:p>
          <a:p>
            <a:pPr indent="0" marL="0">
              <a:lnSpc>
                <a:spcPct val="120000"/>
              </a:lnSpc>
              <a:buNone/>
            </a:pPr>
            <a:r>
              <a:rPr lang="en-US" sz="1250" b="1" dirty="0">
                <a:solidFill>
                  <a:srgbClr val="2C3E50"/>
                </a:solidFill>
              </a:rPr>
              <a:t>Experiences</a:t>
            </a:r>
            <a:endParaRPr lang="en-US" sz="1250" dirty="0"/>
          </a:p>
        </p:txBody>
      </p:sp>
      <p:sp>
        <p:nvSpPr>
          <p:cNvPr id="85" name="Shape 83"/>
          <p:cNvSpPr/>
          <p:nvPr/>
        </p:nvSpPr>
        <p:spPr>
          <a:xfrm>
            <a:off x="7562088" y="2651760"/>
            <a:ext cx="2011680" cy="320040"/>
          </a:xfrm>
          <a:prstGeom prst="rect">
            <a:avLst/>
          </a:prstGeom>
          <a:solidFill>
            <a:srgbClr val="FFFFFF"/>
          </a:solidFill>
          <a:ln w="12700">
            <a:solidFill>
              <a:srgbClr val="E2E8F0"/>
            </a:solidFill>
            <a:prstDash val="solid"/>
          </a:ln>
        </p:spPr>
      </p:sp>
      <p:sp>
        <p:nvSpPr>
          <p:cNvPr id="86" name="Text 84"/>
          <p:cNvSpPr/>
          <p:nvPr/>
        </p:nvSpPr>
        <p:spPr>
          <a:xfrm>
            <a:off x="7562088" y="2697480"/>
            <a:ext cx="2011680" cy="0"/>
          </a:xfrm>
          <a:prstGeom prst="rect">
            <a:avLst/>
          </a:prstGeom>
          <a:noFill/>
          <a:ln/>
        </p:spPr>
        <p:txBody>
          <a:bodyPr wrap="square" rtlCol="0" anchor="ctr"/>
          <a:lstStyle/>
          <a:p>
            <a:pPr algn="ctr" indent="0" marL="0">
              <a:buNone/>
            </a:pPr>
            <a:r>
              <a:rPr lang="en-US" sz="900" b="1" dirty="0">
                <a:solidFill>
                  <a:srgbClr val="5A6B7C"/>
                </a:solidFill>
              </a:rPr>
              <a:t>📋 PLANNED</a:t>
            </a:r>
            <a:endParaRPr lang="en-US" sz="900" dirty="0"/>
          </a:p>
        </p:txBody>
      </p:sp>
      <p:sp>
        <p:nvSpPr>
          <p:cNvPr id="87" name="Text 85"/>
          <p:cNvSpPr/>
          <p:nvPr/>
        </p:nvSpPr>
        <p:spPr>
          <a:xfrm>
            <a:off x="7562088" y="3072384"/>
            <a:ext cx="2011680" cy="0"/>
          </a:xfrm>
          <a:prstGeom prst="rect">
            <a:avLst/>
          </a:prstGeom>
          <a:noFill/>
          <a:ln/>
        </p:spPr>
        <p:txBody>
          <a:bodyPr wrap="square" rtlCol="0" anchor="ctr"/>
          <a:lstStyle/>
          <a:p>
            <a:pPr indent="0" marL="0">
              <a:buNone/>
            </a:pPr>
            <a:r>
              <a:rPr lang="en-US" sz="950" i="1" dirty="0">
                <a:solidFill>
                  <a:srgbClr val="8A9BA8"/>
                </a:solidFill>
              </a:rPr>
              <a:t>Weeks 10–14</a:t>
            </a:r>
            <a:endParaRPr lang="en-US" sz="950" dirty="0"/>
          </a:p>
        </p:txBody>
      </p:sp>
      <p:sp>
        <p:nvSpPr>
          <p:cNvPr id="88" name="Shape 86"/>
          <p:cNvSpPr/>
          <p:nvPr/>
        </p:nvSpPr>
        <p:spPr>
          <a:xfrm>
            <a:off x="7562088" y="3429000"/>
            <a:ext cx="54864" cy="274320"/>
          </a:xfrm>
          <a:prstGeom prst="rect">
            <a:avLst/>
          </a:prstGeom>
          <a:solidFill>
            <a:srgbClr val="9D2706"/>
          </a:solidFill>
          <a:ln/>
        </p:spPr>
      </p:sp>
      <p:sp>
        <p:nvSpPr>
          <p:cNvPr id="89" name="Text 87"/>
          <p:cNvSpPr/>
          <p:nvPr/>
        </p:nvSpPr>
        <p:spPr>
          <a:xfrm>
            <a:off x="7680960" y="3456432"/>
            <a:ext cx="1920240" cy="0"/>
          </a:xfrm>
          <a:prstGeom prst="rect">
            <a:avLst/>
          </a:prstGeom>
          <a:noFill/>
          <a:ln/>
        </p:spPr>
        <p:txBody>
          <a:bodyPr wrap="square" rtlCol="0" anchor="ctr"/>
          <a:lstStyle/>
          <a:p>
            <a:pPr indent="0" marL="0">
              <a:buNone/>
            </a:pPr>
            <a:r>
              <a:rPr lang="en-US" sz="950" dirty="0">
                <a:solidFill>
                  <a:srgbClr val="2C3E50"/>
                </a:solidFill>
              </a:rPr>
              <a:t>WebXR Room view layout</a:t>
            </a:r>
            <a:endParaRPr lang="en-US" sz="950" dirty="0"/>
          </a:p>
        </p:txBody>
      </p:sp>
      <p:sp>
        <p:nvSpPr>
          <p:cNvPr id="90" name="Shape 88"/>
          <p:cNvSpPr/>
          <p:nvPr/>
        </p:nvSpPr>
        <p:spPr>
          <a:xfrm>
            <a:off x="7562088" y="3867912"/>
            <a:ext cx="54864" cy="274320"/>
          </a:xfrm>
          <a:prstGeom prst="rect">
            <a:avLst/>
          </a:prstGeom>
          <a:solidFill>
            <a:srgbClr val="9D2706"/>
          </a:solidFill>
          <a:ln/>
        </p:spPr>
      </p:sp>
      <p:sp>
        <p:nvSpPr>
          <p:cNvPr id="91" name="Text 89"/>
          <p:cNvSpPr/>
          <p:nvPr/>
        </p:nvSpPr>
        <p:spPr>
          <a:xfrm>
            <a:off x="7680960" y="3895344"/>
            <a:ext cx="1920240" cy="0"/>
          </a:xfrm>
          <a:prstGeom prst="rect">
            <a:avLst/>
          </a:prstGeom>
          <a:noFill/>
          <a:ln/>
        </p:spPr>
        <p:txBody>
          <a:bodyPr wrap="square" rtlCol="0" anchor="ctr"/>
          <a:lstStyle/>
          <a:p>
            <a:pPr indent="0" marL="0">
              <a:buNone/>
            </a:pPr>
            <a:r>
              <a:rPr lang="en-US" sz="950" dirty="0">
                <a:solidFill>
                  <a:srgbClr val="2C3E50"/>
                </a:solidFill>
              </a:rPr>
              <a:t>USDZ iOS pipeline compiler</a:t>
            </a:r>
            <a:endParaRPr lang="en-US" sz="950" dirty="0"/>
          </a:p>
        </p:txBody>
      </p:sp>
      <p:sp>
        <p:nvSpPr>
          <p:cNvPr id="92" name="Shape 90"/>
          <p:cNvSpPr/>
          <p:nvPr/>
        </p:nvSpPr>
        <p:spPr>
          <a:xfrm>
            <a:off x="7562088" y="4306824"/>
            <a:ext cx="54864" cy="274320"/>
          </a:xfrm>
          <a:prstGeom prst="rect">
            <a:avLst/>
          </a:prstGeom>
          <a:solidFill>
            <a:srgbClr val="9D2706"/>
          </a:solidFill>
          <a:ln/>
        </p:spPr>
      </p:sp>
      <p:sp>
        <p:nvSpPr>
          <p:cNvPr id="93" name="Text 91"/>
          <p:cNvSpPr/>
          <p:nvPr/>
        </p:nvSpPr>
        <p:spPr>
          <a:xfrm>
            <a:off x="7680960" y="4334256"/>
            <a:ext cx="1920240" cy="0"/>
          </a:xfrm>
          <a:prstGeom prst="rect">
            <a:avLst/>
          </a:prstGeom>
          <a:noFill/>
          <a:ln/>
        </p:spPr>
        <p:txBody>
          <a:bodyPr wrap="square" rtlCol="0" anchor="ctr"/>
          <a:lstStyle/>
          <a:p>
            <a:pPr indent="0" marL="0">
              <a:buNone/>
            </a:pPr>
            <a:r>
              <a:rPr lang="en-US" sz="950" dirty="0">
                <a:solidFill>
                  <a:srgbClr val="2C3E50"/>
                </a:solidFill>
              </a:rPr>
              <a:t>Android AR Core assets</a:t>
            </a:r>
            <a:endParaRPr lang="en-US" sz="950" dirty="0"/>
          </a:p>
        </p:txBody>
      </p:sp>
      <p:sp>
        <p:nvSpPr>
          <p:cNvPr id="94" name="Shape 92"/>
          <p:cNvSpPr/>
          <p:nvPr/>
        </p:nvSpPr>
        <p:spPr>
          <a:xfrm>
            <a:off x="7562088" y="4745736"/>
            <a:ext cx="54864" cy="274320"/>
          </a:xfrm>
          <a:prstGeom prst="rect">
            <a:avLst/>
          </a:prstGeom>
          <a:solidFill>
            <a:srgbClr val="9D2706"/>
          </a:solidFill>
          <a:ln/>
        </p:spPr>
      </p:sp>
      <p:sp>
        <p:nvSpPr>
          <p:cNvPr id="95" name="Text 93"/>
          <p:cNvSpPr/>
          <p:nvPr/>
        </p:nvSpPr>
        <p:spPr>
          <a:xfrm>
            <a:off x="7680960" y="4773168"/>
            <a:ext cx="1920240" cy="0"/>
          </a:xfrm>
          <a:prstGeom prst="rect">
            <a:avLst/>
          </a:prstGeom>
          <a:noFill/>
          <a:ln/>
        </p:spPr>
        <p:txBody>
          <a:bodyPr wrap="square" rtlCol="0" anchor="ctr"/>
          <a:lstStyle/>
          <a:p>
            <a:pPr indent="0" marL="0">
              <a:buNone/>
            </a:pPr>
            <a:r>
              <a:rPr lang="en-US" sz="950" dirty="0">
                <a:solidFill>
                  <a:srgbClr val="2C3E50"/>
                </a:solidFill>
              </a:rPr>
              <a:t>MediaPipe tracking engine</a:t>
            </a:r>
            <a:endParaRPr lang="en-US" sz="950" dirty="0"/>
          </a:p>
        </p:txBody>
      </p:sp>
      <p:sp>
        <p:nvSpPr>
          <p:cNvPr id="96" name="Shape 94"/>
          <p:cNvSpPr/>
          <p:nvPr/>
        </p:nvSpPr>
        <p:spPr>
          <a:xfrm>
            <a:off x="7562088" y="5184648"/>
            <a:ext cx="54864" cy="274320"/>
          </a:xfrm>
          <a:prstGeom prst="rect">
            <a:avLst/>
          </a:prstGeom>
          <a:solidFill>
            <a:srgbClr val="9D2706"/>
          </a:solidFill>
          <a:ln/>
        </p:spPr>
      </p:sp>
      <p:sp>
        <p:nvSpPr>
          <p:cNvPr id="97" name="Text 95"/>
          <p:cNvSpPr/>
          <p:nvPr/>
        </p:nvSpPr>
        <p:spPr>
          <a:xfrm>
            <a:off x="7680960" y="5212080"/>
            <a:ext cx="1920240" cy="0"/>
          </a:xfrm>
          <a:prstGeom prst="rect">
            <a:avLst/>
          </a:prstGeom>
          <a:noFill/>
          <a:ln/>
        </p:spPr>
        <p:txBody>
          <a:bodyPr wrap="square" rtlCol="0" anchor="ctr"/>
          <a:lstStyle/>
          <a:p>
            <a:pPr indent="0" marL="0">
              <a:buNone/>
            </a:pPr>
            <a:r>
              <a:rPr lang="en-US" sz="950" dirty="0">
                <a:solidFill>
                  <a:srgbClr val="2C3E50"/>
                </a:solidFill>
              </a:rPr>
              <a:t>Camera permission UI config</a:t>
            </a:r>
            <a:endParaRPr lang="en-US" sz="950" dirty="0"/>
          </a:p>
        </p:txBody>
      </p:sp>
      <p:sp>
        <p:nvSpPr>
          <p:cNvPr id="98" name="Shape 96"/>
          <p:cNvSpPr/>
          <p:nvPr/>
        </p:nvSpPr>
        <p:spPr>
          <a:xfrm>
            <a:off x="7562088" y="5623560"/>
            <a:ext cx="54864" cy="274320"/>
          </a:xfrm>
          <a:prstGeom prst="rect">
            <a:avLst/>
          </a:prstGeom>
          <a:solidFill>
            <a:srgbClr val="9D2706"/>
          </a:solidFill>
          <a:ln/>
        </p:spPr>
      </p:sp>
      <p:sp>
        <p:nvSpPr>
          <p:cNvPr id="99" name="Text 97"/>
          <p:cNvSpPr/>
          <p:nvPr/>
        </p:nvSpPr>
        <p:spPr>
          <a:xfrm>
            <a:off x="7680960" y="5650992"/>
            <a:ext cx="1920240" cy="0"/>
          </a:xfrm>
          <a:prstGeom prst="rect">
            <a:avLst/>
          </a:prstGeom>
          <a:noFill/>
          <a:ln/>
        </p:spPr>
        <p:txBody>
          <a:bodyPr wrap="square" rtlCol="0" anchor="ctr"/>
          <a:lstStyle/>
          <a:p>
            <a:pPr indent="0" marL="0">
              <a:buNone/>
            </a:pPr>
            <a:r>
              <a:rPr lang="en-US" sz="950" dirty="0">
                <a:solidFill>
                  <a:srgbClr val="2C3E50"/>
                </a:solidFill>
              </a:rPr>
              <a:t>VTO client validation</a:t>
            </a:r>
            <a:endParaRPr lang="en-US" sz="950" dirty="0"/>
          </a:p>
        </p:txBody>
      </p:sp>
      <p:sp>
        <p:nvSpPr>
          <p:cNvPr id="100" name="Shape 98"/>
          <p:cNvSpPr/>
          <p:nvPr/>
        </p:nvSpPr>
        <p:spPr>
          <a:xfrm>
            <a:off x="10671048" y="1316736"/>
            <a:ext cx="347472" cy="347472"/>
          </a:xfrm>
          <a:prstGeom prst="ellipse">
            <a:avLst/>
          </a:prstGeom>
          <a:solidFill>
            <a:srgbClr val="FFFFFF"/>
          </a:solidFill>
          <a:ln w="12700">
            <a:solidFill>
              <a:srgbClr val="5A6B7C"/>
            </a:solidFill>
            <a:prstDash val="solid"/>
          </a:ln>
        </p:spPr>
      </p:sp>
      <p:sp>
        <p:nvSpPr>
          <p:cNvPr id="101" name="Text 99"/>
          <p:cNvSpPr/>
          <p:nvPr/>
        </p:nvSpPr>
        <p:spPr>
          <a:xfrm>
            <a:off x="10671048" y="1353312"/>
            <a:ext cx="347472" cy="0"/>
          </a:xfrm>
          <a:prstGeom prst="rect">
            <a:avLst/>
          </a:prstGeom>
          <a:noFill/>
          <a:ln/>
        </p:spPr>
        <p:txBody>
          <a:bodyPr wrap="square" rtlCol="0" anchor="ctr"/>
          <a:lstStyle/>
          <a:p>
            <a:pPr algn="ctr" indent="0" marL="0">
              <a:buNone/>
            </a:pPr>
            <a:r>
              <a:rPr lang="en-US" sz="1050" b="1" dirty="0">
                <a:solidFill>
                  <a:srgbClr val="5A6B7C"/>
                </a:solidFill>
              </a:rPr>
              <a:t>05</a:t>
            </a:r>
            <a:endParaRPr lang="en-US" sz="1050" dirty="0"/>
          </a:p>
        </p:txBody>
      </p:sp>
      <p:sp>
        <p:nvSpPr>
          <p:cNvPr id="102" name="Shape 100"/>
          <p:cNvSpPr/>
          <p:nvPr/>
        </p:nvSpPr>
        <p:spPr>
          <a:xfrm>
            <a:off x="9829800" y="1691640"/>
            <a:ext cx="2240280" cy="4572000"/>
          </a:xfrm>
          <a:prstGeom prst="rect">
            <a:avLst/>
          </a:prstGeom>
          <a:solidFill>
            <a:srgbClr val="FFFFFF"/>
          </a:solidFill>
          <a:ln w="12700">
            <a:solidFill>
              <a:srgbClr val="E2E8F0"/>
            </a:solidFill>
            <a:prstDash val="solid"/>
          </a:ln>
        </p:spPr>
      </p:sp>
      <p:sp>
        <p:nvSpPr>
          <p:cNvPr id="103" name="Shape 101"/>
          <p:cNvSpPr/>
          <p:nvPr/>
        </p:nvSpPr>
        <p:spPr>
          <a:xfrm>
            <a:off x="9829800" y="1691640"/>
            <a:ext cx="2240280" cy="868680"/>
          </a:xfrm>
          <a:prstGeom prst="rect">
            <a:avLst/>
          </a:prstGeom>
          <a:solidFill>
            <a:srgbClr val="EDF2F7"/>
          </a:solidFill>
          <a:ln/>
        </p:spPr>
      </p:sp>
      <p:sp>
        <p:nvSpPr>
          <p:cNvPr id="104" name="Shape 102"/>
          <p:cNvSpPr/>
          <p:nvPr/>
        </p:nvSpPr>
        <p:spPr>
          <a:xfrm>
            <a:off x="9829800" y="1691640"/>
            <a:ext cx="54864" cy="4572000"/>
          </a:xfrm>
          <a:prstGeom prst="rect">
            <a:avLst/>
          </a:prstGeom>
          <a:solidFill>
            <a:srgbClr val="E2E8F0"/>
          </a:solidFill>
          <a:ln/>
        </p:spPr>
      </p:sp>
      <p:sp>
        <p:nvSpPr>
          <p:cNvPr id="105" name="Text 103"/>
          <p:cNvSpPr/>
          <p:nvPr/>
        </p:nvSpPr>
        <p:spPr>
          <a:xfrm>
            <a:off x="9939528" y="1737360"/>
            <a:ext cx="2011680" cy="0"/>
          </a:xfrm>
          <a:prstGeom prst="rect">
            <a:avLst/>
          </a:prstGeom>
          <a:noFill/>
          <a:ln/>
        </p:spPr>
        <p:txBody>
          <a:bodyPr wrap="square" rtlCol="0" anchor="ctr"/>
          <a:lstStyle/>
          <a:p>
            <a:pPr indent="0" marL="0">
              <a:buNone/>
            </a:pPr>
            <a:r>
              <a:rPr lang="en-US" sz="900" b="1" dirty="0">
                <a:solidFill>
                  <a:srgbClr val="8A9BA8"/>
                </a:solidFill>
              </a:rPr>
              <a:t>Phase 05</a:t>
            </a:r>
            <a:endParaRPr lang="en-US" sz="900" dirty="0"/>
          </a:p>
        </p:txBody>
      </p:sp>
      <p:sp>
        <p:nvSpPr>
          <p:cNvPr id="106" name="Text 104"/>
          <p:cNvSpPr/>
          <p:nvPr/>
        </p:nvSpPr>
        <p:spPr>
          <a:xfrm>
            <a:off x="9939528" y="1874520"/>
            <a:ext cx="2011680" cy="0"/>
          </a:xfrm>
          <a:prstGeom prst="rect">
            <a:avLst/>
          </a:prstGeom>
          <a:noFill/>
          <a:ln/>
        </p:spPr>
        <p:txBody>
          <a:bodyPr wrap="square" rtlCol="0" anchor="ctr"/>
          <a:lstStyle/>
          <a:p>
            <a:pPr indent="0" marL="0">
              <a:lnSpc>
                <a:spcPct val="120000"/>
              </a:lnSpc>
              <a:buNone/>
            </a:pPr>
            <a:r>
              <a:rPr lang="en-US" sz="1250" b="1" dirty="0">
                <a:solidFill>
                  <a:srgbClr val="2C3E50"/>
                </a:solidFill>
              </a:rPr>
              <a:t>Infrastructure</a:t>
            </a:r>
            <a:endParaRPr lang="en-US" sz="1250" dirty="0"/>
          </a:p>
        </p:txBody>
      </p:sp>
      <p:sp>
        <p:nvSpPr>
          <p:cNvPr id="107" name="Shape 105"/>
          <p:cNvSpPr/>
          <p:nvPr/>
        </p:nvSpPr>
        <p:spPr>
          <a:xfrm>
            <a:off x="9939528" y="2651760"/>
            <a:ext cx="2011680" cy="320040"/>
          </a:xfrm>
          <a:prstGeom prst="rect">
            <a:avLst/>
          </a:prstGeom>
          <a:solidFill>
            <a:srgbClr val="FFFFFF"/>
          </a:solidFill>
          <a:ln w="12700">
            <a:solidFill>
              <a:srgbClr val="E2E8F0"/>
            </a:solidFill>
            <a:prstDash val="solid"/>
          </a:ln>
        </p:spPr>
      </p:sp>
      <p:sp>
        <p:nvSpPr>
          <p:cNvPr id="108" name="Text 106"/>
          <p:cNvSpPr/>
          <p:nvPr/>
        </p:nvSpPr>
        <p:spPr>
          <a:xfrm>
            <a:off x="9939528" y="2697480"/>
            <a:ext cx="2011680" cy="0"/>
          </a:xfrm>
          <a:prstGeom prst="rect">
            <a:avLst/>
          </a:prstGeom>
          <a:noFill/>
          <a:ln/>
        </p:spPr>
        <p:txBody>
          <a:bodyPr wrap="square" rtlCol="0" anchor="ctr"/>
          <a:lstStyle/>
          <a:p>
            <a:pPr algn="ctr" indent="0" marL="0">
              <a:buNone/>
            </a:pPr>
            <a:r>
              <a:rPr lang="en-US" sz="900" b="1" dirty="0">
                <a:solidFill>
                  <a:srgbClr val="5A6B7C"/>
                </a:solidFill>
              </a:rPr>
              <a:t>🚀 FUTURE</a:t>
            </a:r>
            <a:endParaRPr lang="en-US" sz="900" dirty="0"/>
          </a:p>
        </p:txBody>
      </p:sp>
      <p:sp>
        <p:nvSpPr>
          <p:cNvPr id="109" name="Text 107"/>
          <p:cNvSpPr/>
          <p:nvPr/>
        </p:nvSpPr>
        <p:spPr>
          <a:xfrm>
            <a:off x="9939528" y="3072384"/>
            <a:ext cx="2011680" cy="0"/>
          </a:xfrm>
          <a:prstGeom prst="rect">
            <a:avLst/>
          </a:prstGeom>
          <a:noFill/>
          <a:ln/>
        </p:spPr>
        <p:txBody>
          <a:bodyPr wrap="square" rtlCol="0" anchor="ctr"/>
          <a:lstStyle/>
          <a:p>
            <a:pPr indent="0" marL="0">
              <a:buNone/>
            </a:pPr>
            <a:r>
              <a:rPr lang="en-US" sz="950" i="1" dirty="0">
                <a:solidFill>
                  <a:srgbClr val="8A9BA8"/>
                </a:solidFill>
              </a:rPr>
              <a:t>Weeks 15–20</a:t>
            </a:r>
            <a:endParaRPr lang="en-US" sz="950" dirty="0"/>
          </a:p>
        </p:txBody>
      </p:sp>
      <p:sp>
        <p:nvSpPr>
          <p:cNvPr id="110" name="Shape 108"/>
          <p:cNvSpPr/>
          <p:nvPr/>
        </p:nvSpPr>
        <p:spPr>
          <a:xfrm>
            <a:off x="9939528" y="3429000"/>
            <a:ext cx="54864" cy="274320"/>
          </a:xfrm>
          <a:prstGeom prst="rect">
            <a:avLst/>
          </a:prstGeom>
          <a:solidFill>
            <a:srgbClr val="9D2706"/>
          </a:solidFill>
          <a:ln/>
        </p:spPr>
      </p:sp>
      <p:sp>
        <p:nvSpPr>
          <p:cNvPr id="111" name="Text 109"/>
          <p:cNvSpPr/>
          <p:nvPr/>
        </p:nvSpPr>
        <p:spPr>
          <a:xfrm>
            <a:off x="10058400" y="3456432"/>
            <a:ext cx="1920240" cy="0"/>
          </a:xfrm>
          <a:prstGeom prst="rect">
            <a:avLst/>
          </a:prstGeom>
          <a:noFill/>
          <a:ln/>
        </p:spPr>
        <p:txBody>
          <a:bodyPr wrap="square" rtlCol="0" anchor="ctr"/>
          <a:lstStyle/>
          <a:p>
            <a:pPr indent="0" marL="0">
              <a:buNone/>
            </a:pPr>
            <a:r>
              <a:rPr lang="en-US" sz="950" dirty="0">
                <a:solidFill>
                  <a:srgbClr val="2C3E50"/>
                </a:solidFill>
              </a:rPr>
              <a:t>AWS/GCP server migration</a:t>
            </a:r>
            <a:endParaRPr lang="en-US" sz="950" dirty="0"/>
          </a:p>
        </p:txBody>
      </p:sp>
      <p:sp>
        <p:nvSpPr>
          <p:cNvPr id="112" name="Shape 110"/>
          <p:cNvSpPr/>
          <p:nvPr/>
        </p:nvSpPr>
        <p:spPr>
          <a:xfrm>
            <a:off x="9939528" y="3867912"/>
            <a:ext cx="54864" cy="274320"/>
          </a:xfrm>
          <a:prstGeom prst="rect">
            <a:avLst/>
          </a:prstGeom>
          <a:solidFill>
            <a:srgbClr val="9D2706"/>
          </a:solidFill>
          <a:ln/>
        </p:spPr>
      </p:sp>
      <p:sp>
        <p:nvSpPr>
          <p:cNvPr id="113" name="Text 111"/>
          <p:cNvSpPr/>
          <p:nvPr/>
        </p:nvSpPr>
        <p:spPr>
          <a:xfrm>
            <a:off x="10058400" y="3895344"/>
            <a:ext cx="1920240" cy="0"/>
          </a:xfrm>
          <a:prstGeom prst="rect">
            <a:avLst/>
          </a:prstGeom>
          <a:noFill/>
          <a:ln/>
        </p:spPr>
        <p:txBody>
          <a:bodyPr wrap="square" rtlCol="0" anchor="ctr"/>
          <a:lstStyle/>
          <a:p>
            <a:pPr indent="0" marL="0">
              <a:buNone/>
            </a:pPr>
            <a:r>
              <a:rPr lang="en-US" sz="950" dirty="0">
                <a:solidFill>
                  <a:srgbClr val="2C3E50"/>
                </a:solidFill>
              </a:rPr>
              <a:t>Cloud CDN edge routing</a:t>
            </a:r>
            <a:endParaRPr lang="en-US" sz="950" dirty="0"/>
          </a:p>
        </p:txBody>
      </p:sp>
      <p:sp>
        <p:nvSpPr>
          <p:cNvPr id="114" name="Shape 112"/>
          <p:cNvSpPr/>
          <p:nvPr/>
        </p:nvSpPr>
        <p:spPr>
          <a:xfrm>
            <a:off x="9939528" y="4306824"/>
            <a:ext cx="54864" cy="274320"/>
          </a:xfrm>
          <a:prstGeom prst="rect">
            <a:avLst/>
          </a:prstGeom>
          <a:solidFill>
            <a:srgbClr val="9D2706"/>
          </a:solidFill>
          <a:ln/>
        </p:spPr>
      </p:sp>
      <p:sp>
        <p:nvSpPr>
          <p:cNvPr id="115" name="Text 113"/>
          <p:cNvSpPr/>
          <p:nvPr/>
        </p:nvSpPr>
        <p:spPr>
          <a:xfrm>
            <a:off x="10058400" y="4334256"/>
            <a:ext cx="1920240" cy="0"/>
          </a:xfrm>
          <a:prstGeom prst="rect">
            <a:avLst/>
          </a:prstGeom>
          <a:noFill/>
          <a:ln/>
        </p:spPr>
        <p:txBody>
          <a:bodyPr wrap="square" rtlCol="0" anchor="ctr"/>
          <a:lstStyle/>
          <a:p>
            <a:pPr indent="0" marL="0">
              <a:buNone/>
            </a:pPr>
            <a:r>
              <a:rPr lang="en-US" sz="950" dirty="0">
                <a:solidFill>
                  <a:srgbClr val="2C3E50"/>
                </a:solidFill>
              </a:rPr>
              <a:t>Supabase tenant partition</a:t>
            </a:r>
            <a:endParaRPr lang="en-US" sz="950" dirty="0"/>
          </a:p>
        </p:txBody>
      </p:sp>
      <p:sp>
        <p:nvSpPr>
          <p:cNvPr id="116" name="Shape 114"/>
          <p:cNvSpPr/>
          <p:nvPr/>
        </p:nvSpPr>
        <p:spPr>
          <a:xfrm>
            <a:off x="9939528" y="4745736"/>
            <a:ext cx="54864" cy="274320"/>
          </a:xfrm>
          <a:prstGeom prst="rect">
            <a:avLst/>
          </a:prstGeom>
          <a:solidFill>
            <a:srgbClr val="9D2706"/>
          </a:solidFill>
          <a:ln/>
        </p:spPr>
      </p:sp>
      <p:sp>
        <p:nvSpPr>
          <p:cNvPr id="117" name="Text 115"/>
          <p:cNvSpPr/>
          <p:nvPr/>
        </p:nvSpPr>
        <p:spPr>
          <a:xfrm>
            <a:off x="10058400" y="4773168"/>
            <a:ext cx="1920240" cy="0"/>
          </a:xfrm>
          <a:prstGeom prst="rect">
            <a:avLst/>
          </a:prstGeom>
          <a:noFill/>
          <a:ln/>
        </p:spPr>
        <p:txBody>
          <a:bodyPr wrap="square" rtlCol="0" anchor="ctr"/>
          <a:lstStyle/>
          <a:p>
            <a:pPr indent="0" marL="0">
              <a:buNone/>
            </a:pPr>
            <a:r>
              <a:rPr lang="en-US" sz="950" dirty="0">
                <a:solidFill>
                  <a:srgbClr val="2C3E50"/>
                </a:solidFill>
              </a:rPr>
              <a:t>White-label domain rules</a:t>
            </a:r>
            <a:endParaRPr lang="en-US" sz="950" dirty="0"/>
          </a:p>
        </p:txBody>
      </p:sp>
      <p:sp>
        <p:nvSpPr>
          <p:cNvPr id="118" name="Shape 116"/>
          <p:cNvSpPr/>
          <p:nvPr/>
        </p:nvSpPr>
        <p:spPr>
          <a:xfrm>
            <a:off x="9939528" y="5184648"/>
            <a:ext cx="54864" cy="274320"/>
          </a:xfrm>
          <a:prstGeom prst="rect">
            <a:avLst/>
          </a:prstGeom>
          <a:solidFill>
            <a:srgbClr val="9D2706"/>
          </a:solidFill>
          <a:ln/>
        </p:spPr>
      </p:sp>
      <p:sp>
        <p:nvSpPr>
          <p:cNvPr id="119" name="Text 117"/>
          <p:cNvSpPr/>
          <p:nvPr/>
        </p:nvSpPr>
        <p:spPr>
          <a:xfrm>
            <a:off x="10058400" y="5212080"/>
            <a:ext cx="1920240" cy="0"/>
          </a:xfrm>
          <a:prstGeom prst="rect">
            <a:avLst/>
          </a:prstGeom>
          <a:noFill/>
          <a:ln/>
        </p:spPr>
        <p:txBody>
          <a:bodyPr wrap="square" rtlCol="0" anchor="ctr"/>
          <a:lstStyle/>
          <a:p>
            <a:pPr indent="0" marL="0">
              <a:buNone/>
            </a:pPr>
            <a:r>
              <a:rPr lang="en-US" sz="950" dirty="0">
                <a:solidFill>
                  <a:srgbClr val="2C3E50"/>
                </a:solidFill>
              </a:rPr>
              <a:t>Stripe billing subscription</a:t>
            </a:r>
            <a:endParaRPr lang="en-US" sz="950" dirty="0"/>
          </a:p>
        </p:txBody>
      </p:sp>
      <p:sp>
        <p:nvSpPr>
          <p:cNvPr id="120" name="Shape 118"/>
          <p:cNvSpPr/>
          <p:nvPr/>
        </p:nvSpPr>
        <p:spPr>
          <a:xfrm>
            <a:off x="9939528" y="5623560"/>
            <a:ext cx="54864" cy="274320"/>
          </a:xfrm>
          <a:prstGeom prst="rect">
            <a:avLst/>
          </a:prstGeom>
          <a:solidFill>
            <a:srgbClr val="9D2706"/>
          </a:solidFill>
          <a:ln/>
        </p:spPr>
      </p:sp>
      <p:sp>
        <p:nvSpPr>
          <p:cNvPr id="121" name="Text 119"/>
          <p:cNvSpPr/>
          <p:nvPr/>
        </p:nvSpPr>
        <p:spPr>
          <a:xfrm>
            <a:off x="10058400" y="5650992"/>
            <a:ext cx="1920240" cy="0"/>
          </a:xfrm>
          <a:prstGeom prst="rect">
            <a:avLst/>
          </a:prstGeom>
          <a:noFill/>
          <a:ln/>
        </p:spPr>
        <p:txBody>
          <a:bodyPr wrap="square" rtlCol="0" anchor="ctr"/>
          <a:lstStyle/>
          <a:p>
            <a:pPr indent="0" marL="0">
              <a:buNone/>
            </a:pPr>
            <a:r>
              <a:rPr lang="en-US" sz="950" dirty="0">
                <a:solidFill>
                  <a:srgbClr val="2C3E50"/>
                </a:solidFill>
              </a:rPr>
              <a:t>Developer public API release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3D Asset Creation Pipeline</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End-to-end digitisation service — from design files to live web modules.</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594360" y="2267712"/>
            <a:ext cx="11155680" cy="36576"/>
          </a:xfrm>
          <a:prstGeom prst="rect">
            <a:avLst/>
          </a:prstGeom>
          <a:solidFill>
            <a:srgbClr val="E2E8F0"/>
          </a:solidFill>
          <a:ln/>
        </p:spPr>
      </p:sp>
      <p:sp>
        <p:nvSpPr>
          <p:cNvPr id="12" name="Shape 10"/>
          <p:cNvSpPr/>
          <p:nvPr/>
        </p:nvSpPr>
        <p:spPr>
          <a:xfrm>
            <a:off x="886968" y="2029968"/>
            <a:ext cx="475488" cy="475488"/>
          </a:xfrm>
          <a:prstGeom prst="ellipse">
            <a:avLst/>
          </a:prstGeom>
          <a:solidFill>
            <a:srgbClr val="FFFFFF"/>
          </a:solidFill>
          <a:ln w="12700">
            <a:solidFill>
              <a:srgbClr val="9D2706"/>
            </a:solidFill>
            <a:prstDash val="solid"/>
          </a:ln>
        </p:spPr>
      </p:sp>
      <p:sp>
        <p:nvSpPr>
          <p:cNvPr id="13" name="Text 11"/>
          <p:cNvSpPr/>
          <p:nvPr/>
        </p:nvSpPr>
        <p:spPr>
          <a:xfrm>
            <a:off x="886968" y="2103120"/>
            <a:ext cx="475488" cy="0"/>
          </a:xfrm>
          <a:prstGeom prst="rect">
            <a:avLst/>
          </a:prstGeom>
          <a:noFill/>
          <a:ln/>
        </p:spPr>
        <p:txBody>
          <a:bodyPr wrap="square" rtlCol="0" anchor="ctr"/>
          <a:lstStyle/>
          <a:p>
            <a:pPr algn="ctr" indent="0" marL="0">
              <a:buNone/>
            </a:pPr>
            <a:r>
              <a:rPr lang="en-US" sz="1400" b="1" dirty="0">
                <a:solidFill>
                  <a:srgbClr val="9D2706"/>
                </a:solidFill>
              </a:rPr>
              <a:t>1</a:t>
            </a:r>
            <a:endParaRPr lang="en-US" sz="1400" dirty="0"/>
          </a:p>
        </p:txBody>
      </p:sp>
      <p:sp>
        <p:nvSpPr>
          <p:cNvPr id="14" name="Shape 12"/>
          <p:cNvSpPr/>
          <p:nvPr/>
        </p:nvSpPr>
        <p:spPr>
          <a:xfrm>
            <a:off x="320040" y="2697480"/>
            <a:ext cx="1847088" cy="3566160"/>
          </a:xfrm>
          <a:prstGeom prst="rect">
            <a:avLst/>
          </a:prstGeom>
          <a:solidFill>
            <a:srgbClr val="FFFFFF"/>
          </a:solidFill>
          <a:ln w="12700">
            <a:solidFill>
              <a:srgbClr val="E2E8F0"/>
            </a:solidFill>
            <a:prstDash val="solid"/>
          </a:ln>
        </p:spPr>
      </p:sp>
      <p:sp>
        <p:nvSpPr>
          <p:cNvPr id="15" name="Shape 13"/>
          <p:cNvSpPr/>
          <p:nvPr/>
        </p:nvSpPr>
        <p:spPr>
          <a:xfrm>
            <a:off x="320040" y="2697480"/>
            <a:ext cx="1847088" cy="594360"/>
          </a:xfrm>
          <a:prstGeom prst="rect">
            <a:avLst/>
          </a:prstGeom>
          <a:solidFill>
            <a:srgbClr val="EDF2F7"/>
          </a:solidFill>
          <a:ln/>
        </p:spPr>
      </p:sp>
      <p:sp>
        <p:nvSpPr>
          <p:cNvPr id="16" name="Shape 14"/>
          <p:cNvSpPr/>
          <p:nvPr/>
        </p:nvSpPr>
        <p:spPr>
          <a:xfrm>
            <a:off x="320040" y="2697480"/>
            <a:ext cx="64008" cy="594360"/>
          </a:xfrm>
          <a:prstGeom prst="rect">
            <a:avLst/>
          </a:prstGeom>
          <a:solidFill>
            <a:srgbClr val="9D2706"/>
          </a:solidFill>
          <a:ln/>
        </p:spPr>
      </p:sp>
      <p:sp>
        <p:nvSpPr>
          <p:cNvPr id="17" name="Text 15"/>
          <p:cNvSpPr/>
          <p:nvPr/>
        </p:nvSpPr>
        <p:spPr>
          <a:xfrm>
            <a:off x="429768" y="2743200"/>
            <a:ext cx="1664208" cy="502920"/>
          </a:xfrm>
          <a:prstGeom prst="rect">
            <a:avLst/>
          </a:prstGeom>
          <a:noFill/>
          <a:ln/>
        </p:spPr>
        <p:txBody>
          <a:bodyPr wrap="square" rtlCol="0" anchor="ctr"/>
          <a:lstStyle/>
          <a:p>
            <a:pPr indent="0" marL="0">
              <a:buNone/>
            </a:pPr>
            <a:r>
              <a:rPr lang="en-US" sz="1150" b="1" dirty="0">
                <a:solidFill>
                  <a:srgbClr val="2C3E50"/>
                </a:solidFill>
              </a:rPr>
              <a:t>Client Briefing</a:t>
            </a:r>
            <a:endParaRPr lang="en-US" sz="1150" dirty="0"/>
          </a:p>
        </p:txBody>
      </p:sp>
      <p:sp>
        <p:nvSpPr>
          <p:cNvPr id="18" name="Shape 16"/>
          <p:cNvSpPr/>
          <p:nvPr/>
        </p:nvSpPr>
        <p:spPr>
          <a:xfrm>
            <a:off x="411480" y="3291840"/>
            <a:ext cx="1664208" cy="27432"/>
          </a:xfrm>
          <a:prstGeom prst="rect">
            <a:avLst/>
          </a:prstGeom>
          <a:solidFill>
            <a:srgbClr val="9D2706"/>
          </a:solidFill>
          <a:ln/>
        </p:spPr>
      </p:sp>
      <p:sp>
        <p:nvSpPr>
          <p:cNvPr id="19" name="Text 17"/>
          <p:cNvSpPr/>
          <p:nvPr/>
        </p:nvSpPr>
        <p:spPr>
          <a:xfrm>
            <a:off x="411480" y="3383280"/>
            <a:ext cx="1664208" cy="2697480"/>
          </a:xfrm>
          <a:prstGeom prst="rect">
            <a:avLst/>
          </a:prstGeom>
          <a:noFill/>
          <a:ln/>
        </p:spPr>
        <p:txBody>
          <a:bodyPr wrap="square" rtlCol="0" anchor="ctr"/>
          <a:lstStyle/>
          <a:p>
            <a:pPr indent="0" marL="0">
              <a:lnSpc>
                <a:spcPct val="140000"/>
              </a:lnSpc>
              <a:buNone/>
            </a:pPr>
            <a:r>
              <a:rPr lang="en-US" sz="1050" dirty="0">
                <a:solidFill>
                  <a:srgbClr val="5A6B7C"/>
                </a:solidFill>
              </a:rPr>
              <a:t>Merchant provides flat product photos, material fabric swatches, measurements, and style guides.</a:t>
            </a:r>
            <a:endParaRPr lang="en-US" sz="1050" dirty="0"/>
          </a:p>
        </p:txBody>
      </p:sp>
      <p:sp>
        <p:nvSpPr>
          <p:cNvPr id="20" name="Shape 18"/>
          <p:cNvSpPr/>
          <p:nvPr/>
        </p:nvSpPr>
        <p:spPr>
          <a:xfrm>
            <a:off x="2880360" y="2029968"/>
            <a:ext cx="475488" cy="475488"/>
          </a:xfrm>
          <a:prstGeom prst="ellipse">
            <a:avLst/>
          </a:prstGeom>
          <a:solidFill>
            <a:srgbClr val="FFFFFF"/>
          </a:solidFill>
          <a:ln w="12700">
            <a:solidFill>
              <a:srgbClr val="9D2706"/>
            </a:solidFill>
            <a:prstDash val="solid"/>
          </a:ln>
        </p:spPr>
      </p:sp>
      <p:sp>
        <p:nvSpPr>
          <p:cNvPr id="21" name="Text 19"/>
          <p:cNvSpPr/>
          <p:nvPr/>
        </p:nvSpPr>
        <p:spPr>
          <a:xfrm>
            <a:off x="2880360" y="2103120"/>
            <a:ext cx="475488" cy="0"/>
          </a:xfrm>
          <a:prstGeom prst="rect">
            <a:avLst/>
          </a:prstGeom>
          <a:noFill/>
          <a:ln/>
        </p:spPr>
        <p:txBody>
          <a:bodyPr wrap="square" rtlCol="0" anchor="ctr"/>
          <a:lstStyle/>
          <a:p>
            <a:pPr algn="ctr" indent="0" marL="0">
              <a:buNone/>
            </a:pPr>
            <a:r>
              <a:rPr lang="en-US" sz="1400" b="1" dirty="0">
                <a:solidFill>
                  <a:srgbClr val="9D2706"/>
                </a:solidFill>
              </a:rPr>
              <a:t>2</a:t>
            </a:r>
            <a:endParaRPr lang="en-US" sz="1400" dirty="0"/>
          </a:p>
        </p:txBody>
      </p:sp>
      <p:sp>
        <p:nvSpPr>
          <p:cNvPr id="22" name="Shape 20"/>
          <p:cNvSpPr/>
          <p:nvPr/>
        </p:nvSpPr>
        <p:spPr>
          <a:xfrm>
            <a:off x="2313432" y="2697480"/>
            <a:ext cx="1847088" cy="3566160"/>
          </a:xfrm>
          <a:prstGeom prst="rect">
            <a:avLst/>
          </a:prstGeom>
          <a:solidFill>
            <a:srgbClr val="FFFFFF"/>
          </a:solidFill>
          <a:ln w="12700">
            <a:solidFill>
              <a:srgbClr val="E2E8F0"/>
            </a:solidFill>
            <a:prstDash val="solid"/>
          </a:ln>
        </p:spPr>
      </p:sp>
      <p:sp>
        <p:nvSpPr>
          <p:cNvPr id="23" name="Shape 21"/>
          <p:cNvSpPr/>
          <p:nvPr/>
        </p:nvSpPr>
        <p:spPr>
          <a:xfrm>
            <a:off x="2313432" y="2697480"/>
            <a:ext cx="1847088" cy="594360"/>
          </a:xfrm>
          <a:prstGeom prst="rect">
            <a:avLst/>
          </a:prstGeom>
          <a:solidFill>
            <a:srgbClr val="EDF2F7"/>
          </a:solidFill>
          <a:ln/>
        </p:spPr>
      </p:sp>
      <p:sp>
        <p:nvSpPr>
          <p:cNvPr id="24" name="Shape 22"/>
          <p:cNvSpPr/>
          <p:nvPr/>
        </p:nvSpPr>
        <p:spPr>
          <a:xfrm>
            <a:off x="2313432" y="2697480"/>
            <a:ext cx="64008" cy="594360"/>
          </a:xfrm>
          <a:prstGeom prst="rect">
            <a:avLst/>
          </a:prstGeom>
          <a:solidFill>
            <a:srgbClr val="9D2706"/>
          </a:solidFill>
          <a:ln/>
        </p:spPr>
      </p:sp>
      <p:sp>
        <p:nvSpPr>
          <p:cNvPr id="25" name="Text 23"/>
          <p:cNvSpPr/>
          <p:nvPr/>
        </p:nvSpPr>
        <p:spPr>
          <a:xfrm>
            <a:off x="2423160" y="2743200"/>
            <a:ext cx="1664208" cy="502920"/>
          </a:xfrm>
          <a:prstGeom prst="rect">
            <a:avLst/>
          </a:prstGeom>
          <a:noFill/>
          <a:ln/>
        </p:spPr>
        <p:txBody>
          <a:bodyPr wrap="square" rtlCol="0" anchor="ctr"/>
          <a:lstStyle/>
          <a:p>
            <a:pPr indent="0" marL="0">
              <a:buNone/>
            </a:pPr>
            <a:r>
              <a:rPr lang="en-US" sz="1150" b="1" dirty="0">
                <a:solidFill>
                  <a:srgbClr val="2C3E50"/>
                </a:solidFill>
              </a:rPr>
              <a:t>3D Modelling</a:t>
            </a:r>
            <a:endParaRPr lang="en-US" sz="1150" dirty="0"/>
          </a:p>
        </p:txBody>
      </p:sp>
      <p:sp>
        <p:nvSpPr>
          <p:cNvPr id="26" name="Shape 24"/>
          <p:cNvSpPr/>
          <p:nvPr/>
        </p:nvSpPr>
        <p:spPr>
          <a:xfrm>
            <a:off x="2404872" y="3291840"/>
            <a:ext cx="1664208" cy="27432"/>
          </a:xfrm>
          <a:prstGeom prst="rect">
            <a:avLst/>
          </a:prstGeom>
          <a:solidFill>
            <a:srgbClr val="9D2706"/>
          </a:solidFill>
          <a:ln/>
        </p:spPr>
      </p:sp>
      <p:sp>
        <p:nvSpPr>
          <p:cNvPr id="27" name="Text 25"/>
          <p:cNvSpPr/>
          <p:nvPr/>
        </p:nvSpPr>
        <p:spPr>
          <a:xfrm>
            <a:off x="2404872" y="3383280"/>
            <a:ext cx="1664208" cy="2697480"/>
          </a:xfrm>
          <a:prstGeom prst="rect">
            <a:avLst/>
          </a:prstGeom>
          <a:noFill/>
          <a:ln/>
        </p:spPr>
        <p:txBody>
          <a:bodyPr wrap="square" rtlCol="0" anchor="ctr"/>
          <a:lstStyle/>
          <a:p>
            <a:pPr indent="0" marL="0">
              <a:lnSpc>
                <a:spcPct val="140000"/>
              </a:lnSpc>
              <a:buNone/>
            </a:pPr>
            <a:r>
              <a:rPr lang="en-US" sz="1050" dirty="0">
                <a:solidFill>
                  <a:srgbClr val="5A6B7C"/>
                </a:solidFill>
              </a:rPr>
              <a:t>Partner artists construct high-accuracy polygon models in Blender/Maya using real measurements.</a:t>
            </a:r>
            <a:endParaRPr lang="en-US" sz="1050" dirty="0"/>
          </a:p>
        </p:txBody>
      </p:sp>
      <p:sp>
        <p:nvSpPr>
          <p:cNvPr id="28" name="Shape 26"/>
          <p:cNvSpPr/>
          <p:nvPr/>
        </p:nvSpPr>
        <p:spPr>
          <a:xfrm>
            <a:off x="4873752" y="2029968"/>
            <a:ext cx="475488" cy="475488"/>
          </a:xfrm>
          <a:prstGeom prst="ellipse">
            <a:avLst/>
          </a:prstGeom>
          <a:solidFill>
            <a:srgbClr val="FFFFFF"/>
          </a:solidFill>
          <a:ln w="12700">
            <a:solidFill>
              <a:srgbClr val="9D2706"/>
            </a:solidFill>
            <a:prstDash val="solid"/>
          </a:ln>
        </p:spPr>
      </p:sp>
      <p:sp>
        <p:nvSpPr>
          <p:cNvPr id="29" name="Text 27"/>
          <p:cNvSpPr/>
          <p:nvPr/>
        </p:nvSpPr>
        <p:spPr>
          <a:xfrm>
            <a:off x="4873752" y="2103120"/>
            <a:ext cx="475488" cy="0"/>
          </a:xfrm>
          <a:prstGeom prst="rect">
            <a:avLst/>
          </a:prstGeom>
          <a:noFill/>
          <a:ln/>
        </p:spPr>
        <p:txBody>
          <a:bodyPr wrap="square" rtlCol="0" anchor="ctr"/>
          <a:lstStyle/>
          <a:p>
            <a:pPr algn="ctr" indent="0" marL="0">
              <a:buNone/>
            </a:pPr>
            <a:r>
              <a:rPr lang="en-US" sz="1400" b="1" dirty="0">
                <a:solidFill>
                  <a:srgbClr val="9D2706"/>
                </a:solidFill>
              </a:rPr>
              <a:t>3</a:t>
            </a:r>
            <a:endParaRPr lang="en-US" sz="1400" dirty="0"/>
          </a:p>
        </p:txBody>
      </p:sp>
      <p:sp>
        <p:nvSpPr>
          <p:cNvPr id="30" name="Shape 28"/>
          <p:cNvSpPr/>
          <p:nvPr/>
        </p:nvSpPr>
        <p:spPr>
          <a:xfrm>
            <a:off x="4306824" y="2697480"/>
            <a:ext cx="1847088" cy="3566160"/>
          </a:xfrm>
          <a:prstGeom prst="rect">
            <a:avLst/>
          </a:prstGeom>
          <a:solidFill>
            <a:srgbClr val="FFFFFF"/>
          </a:solidFill>
          <a:ln w="12700">
            <a:solidFill>
              <a:srgbClr val="E2E8F0"/>
            </a:solidFill>
            <a:prstDash val="solid"/>
          </a:ln>
        </p:spPr>
      </p:sp>
      <p:sp>
        <p:nvSpPr>
          <p:cNvPr id="31" name="Shape 29"/>
          <p:cNvSpPr/>
          <p:nvPr/>
        </p:nvSpPr>
        <p:spPr>
          <a:xfrm>
            <a:off x="4306824" y="2697480"/>
            <a:ext cx="1847088" cy="594360"/>
          </a:xfrm>
          <a:prstGeom prst="rect">
            <a:avLst/>
          </a:prstGeom>
          <a:solidFill>
            <a:srgbClr val="EDF2F7"/>
          </a:solidFill>
          <a:ln/>
        </p:spPr>
      </p:sp>
      <p:sp>
        <p:nvSpPr>
          <p:cNvPr id="32" name="Shape 30"/>
          <p:cNvSpPr/>
          <p:nvPr/>
        </p:nvSpPr>
        <p:spPr>
          <a:xfrm>
            <a:off x="4306824" y="2697480"/>
            <a:ext cx="64008" cy="594360"/>
          </a:xfrm>
          <a:prstGeom prst="rect">
            <a:avLst/>
          </a:prstGeom>
          <a:solidFill>
            <a:srgbClr val="9D2706"/>
          </a:solidFill>
          <a:ln/>
        </p:spPr>
      </p:sp>
      <p:sp>
        <p:nvSpPr>
          <p:cNvPr id="33" name="Text 31"/>
          <p:cNvSpPr/>
          <p:nvPr/>
        </p:nvSpPr>
        <p:spPr>
          <a:xfrm>
            <a:off x="4416552" y="2743200"/>
            <a:ext cx="1664208" cy="502920"/>
          </a:xfrm>
          <a:prstGeom prst="rect">
            <a:avLst/>
          </a:prstGeom>
          <a:noFill/>
          <a:ln/>
        </p:spPr>
        <p:txBody>
          <a:bodyPr wrap="square" rtlCol="0" anchor="ctr"/>
          <a:lstStyle/>
          <a:p>
            <a:pPr indent="0" marL="0">
              <a:buNone/>
            </a:pPr>
            <a:r>
              <a:rPr lang="en-US" sz="1150" b="1" dirty="0">
                <a:solidFill>
                  <a:srgbClr val="2C3E50"/>
                </a:solidFill>
              </a:rPr>
              <a:t>Rigging &amp; Materials</a:t>
            </a:r>
            <a:endParaRPr lang="en-US" sz="1150" dirty="0"/>
          </a:p>
        </p:txBody>
      </p:sp>
      <p:sp>
        <p:nvSpPr>
          <p:cNvPr id="34" name="Shape 32"/>
          <p:cNvSpPr/>
          <p:nvPr/>
        </p:nvSpPr>
        <p:spPr>
          <a:xfrm>
            <a:off x="4398264" y="3291840"/>
            <a:ext cx="1664208" cy="27432"/>
          </a:xfrm>
          <a:prstGeom prst="rect">
            <a:avLst/>
          </a:prstGeom>
          <a:solidFill>
            <a:srgbClr val="9D2706"/>
          </a:solidFill>
          <a:ln/>
        </p:spPr>
      </p:sp>
      <p:sp>
        <p:nvSpPr>
          <p:cNvPr id="35" name="Text 33"/>
          <p:cNvSpPr/>
          <p:nvPr/>
        </p:nvSpPr>
        <p:spPr>
          <a:xfrm>
            <a:off x="4398264" y="3383280"/>
            <a:ext cx="1664208" cy="2697480"/>
          </a:xfrm>
          <a:prstGeom prst="rect">
            <a:avLst/>
          </a:prstGeom>
          <a:noFill/>
          <a:ln/>
        </p:spPr>
        <p:txBody>
          <a:bodyPr wrap="square" rtlCol="0" anchor="ctr"/>
          <a:lstStyle/>
          <a:p>
            <a:pPr indent="0" marL="0">
              <a:lnSpc>
                <a:spcPct val="140000"/>
              </a:lnSpc>
              <a:buNone/>
            </a:pPr>
            <a:r>
              <a:rPr lang="en-US" sz="1050" dirty="0">
                <a:solidFill>
                  <a:srgbClr val="5A6B7C"/>
                </a:solidFill>
              </a:rPr>
              <a:t>Models compile with PBR textures. Components rig as separate nodes for modular swaps.</a:t>
            </a:r>
            <a:endParaRPr lang="en-US" sz="1050" dirty="0"/>
          </a:p>
        </p:txBody>
      </p:sp>
      <p:sp>
        <p:nvSpPr>
          <p:cNvPr id="36" name="Shape 34"/>
          <p:cNvSpPr/>
          <p:nvPr/>
        </p:nvSpPr>
        <p:spPr>
          <a:xfrm>
            <a:off x="6867144" y="2029968"/>
            <a:ext cx="475488" cy="475488"/>
          </a:xfrm>
          <a:prstGeom prst="ellipse">
            <a:avLst/>
          </a:prstGeom>
          <a:solidFill>
            <a:srgbClr val="FFFFFF"/>
          </a:solidFill>
          <a:ln w="12700">
            <a:solidFill>
              <a:srgbClr val="9D2706"/>
            </a:solidFill>
            <a:prstDash val="solid"/>
          </a:ln>
        </p:spPr>
      </p:sp>
      <p:sp>
        <p:nvSpPr>
          <p:cNvPr id="37" name="Text 35"/>
          <p:cNvSpPr/>
          <p:nvPr/>
        </p:nvSpPr>
        <p:spPr>
          <a:xfrm>
            <a:off x="6867144" y="2103120"/>
            <a:ext cx="475488" cy="0"/>
          </a:xfrm>
          <a:prstGeom prst="rect">
            <a:avLst/>
          </a:prstGeom>
          <a:noFill/>
          <a:ln/>
        </p:spPr>
        <p:txBody>
          <a:bodyPr wrap="square" rtlCol="0" anchor="ctr"/>
          <a:lstStyle/>
          <a:p>
            <a:pPr algn="ctr" indent="0" marL="0">
              <a:buNone/>
            </a:pPr>
            <a:r>
              <a:rPr lang="en-US" sz="1400" b="1" dirty="0">
                <a:solidFill>
                  <a:srgbClr val="9D2706"/>
                </a:solidFill>
              </a:rPr>
              <a:t>4</a:t>
            </a:r>
            <a:endParaRPr lang="en-US" sz="1400" dirty="0"/>
          </a:p>
        </p:txBody>
      </p:sp>
      <p:sp>
        <p:nvSpPr>
          <p:cNvPr id="38" name="Shape 36"/>
          <p:cNvSpPr/>
          <p:nvPr/>
        </p:nvSpPr>
        <p:spPr>
          <a:xfrm>
            <a:off x="6300216" y="2697480"/>
            <a:ext cx="1847088" cy="3566160"/>
          </a:xfrm>
          <a:prstGeom prst="rect">
            <a:avLst/>
          </a:prstGeom>
          <a:solidFill>
            <a:srgbClr val="FFFFFF"/>
          </a:solidFill>
          <a:ln w="12700">
            <a:solidFill>
              <a:srgbClr val="E2E8F0"/>
            </a:solidFill>
            <a:prstDash val="solid"/>
          </a:ln>
        </p:spPr>
      </p:sp>
      <p:sp>
        <p:nvSpPr>
          <p:cNvPr id="39" name="Shape 37"/>
          <p:cNvSpPr/>
          <p:nvPr/>
        </p:nvSpPr>
        <p:spPr>
          <a:xfrm>
            <a:off x="6300216" y="2697480"/>
            <a:ext cx="1847088" cy="594360"/>
          </a:xfrm>
          <a:prstGeom prst="rect">
            <a:avLst/>
          </a:prstGeom>
          <a:solidFill>
            <a:srgbClr val="EDF2F7"/>
          </a:solidFill>
          <a:ln/>
        </p:spPr>
      </p:sp>
      <p:sp>
        <p:nvSpPr>
          <p:cNvPr id="40" name="Shape 38"/>
          <p:cNvSpPr/>
          <p:nvPr/>
        </p:nvSpPr>
        <p:spPr>
          <a:xfrm>
            <a:off x="6300216" y="2697480"/>
            <a:ext cx="64008" cy="594360"/>
          </a:xfrm>
          <a:prstGeom prst="rect">
            <a:avLst/>
          </a:prstGeom>
          <a:solidFill>
            <a:srgbClr val="9D2706"/>
          </a:solidFill>
          <a:ln/>
        </p:spPr>
      </p:sp>
      <p:sp>
        <p:nvSpPr>
          <p:cNvPr id="41" name="Text 39"/>
          <p:cNvSpPr/>
          <p:nvPr/>
        </p:nvSpPr>
        <p:spPr>
          <a:xfrm>
            <a:off x="6409944" y="2743200"/>
            <a:ext cx="1664208" cy="502920"/>
          </a:xfrm>
          <a:prstGeom prst="rect">
            <a:avLst/>
          </a:prstGeom>
          <a:noFill/>
          <a:ln/>
        </p:spPr>
        <p:txBody>
          <a:bodyPr wrap="square" rtlCol="0" anchor="ctr"/>
          <a:lstStyle/>
          <a:p>
            <a:pPr indent="0" marL="0">
              <a:buNone/>
            </a:pPr>
            <a:r>
              <a:rPr lang="en-US" sz="1150" b="1" dirty="0">
                <a:solidFill>
                  <a:srgbClr val="2C3E50"/>
                </a:solidFill>
              </a:rPr>
              <a:t>Mesh Optimization</a:t>
            </a:r>
            <a:endParaRPr lang="en-US" sz="1150" dirty="0"/>
          </a:p>
        </p:txBody>
      </p:sp>
      <p:sp>
        <p:nvSpPr>
          <p:cNvPr id="42" name="Shape 40"/>
          <p:cNvSpPr/>
          <p:nvPr/>
        </p:nvSpPr>
        <p:spPr>
          <a:xfrm>
            <a:off x="6391656" y="3291840"/>
            <a:ext cx="1664208" cy="27432"/>
          </a:xfrm>
          <a:prstGeom prst="rect">
            <a:avLst/>
          </a:prstGeom>
          <a:solidFill>
            <a:srgbClr val="9D2706"/>
          </a:solidFill>
          <a:ln/>
        </p:spPr>
      </p:sp>
      <p:sp>
        <p:nvSpPr>
          <p:cNvPr id="43" name="Text 41"/>
          <p:cNvSpPr/>
          <p:nvPr/>
        </p:nvSpPr>
        <p:spPr>
          <a:xfrm>
            <a:off x="6391656" y="3383280"/>
            <a:ext cx="1664208" cy="2697480"/>
          </a:xfrm>
          <a:prstGeom prst="rect">
            <a:avLst/>
          </a:prstGeom>
          <a:noFill/>
          <a:ln/>
        </p:spPr>
        <p:txBody>
          <a:bodyPr wrap="square" rtlCol="0" anchor="ctr"/>
          <a:lstStyle/>
          <a:p>
            <a:pPr indent="0" marL="0">
              <a:lnSpc>
                <a:spcPct val="140000"/>
              </a:lnSpc>
              <a:buNone/>
            </a:pPr>
            <a:r>
              <a:rPr lang="en-US" sz="1050" dirty="0">
                <a:solidFill>
                  <a:srgbClr val="5A6B7C"/>
                </a:solidFill>
              </a:rPr>
              <a:t>Draco algorithms compress geometry, targeting files under 5MB for fast loading on phones.</a:t>
            </a:r>
            <a:endParaRPr lang="en-US" sz="1050" dirty="0"/>
          </a:p>
        </p:txBody>
      </p:sp>
      <p:sp>
        <p:nvSpPr>
          <p:cNvPr id="44" name="Shape 42"/>
          <p:cNvSpPr/>
          <p:nvPr/>
        </p:nvSpPr>
        <p:spPr>
          <a:xfrm>
            <a:off x="8860536" y="2029968"/>
            <a:ext cx="475488" cy="475488"/>
          </a:xfrm>
          <a:prstGeom prst="ellipse">
            <a:avLst/>
          </a:prstGeom>
          <a:solidFill>
            <a:srgbClr val="FFFFFF"/>
          </a:solidFill>
          <a:ln w="12700">
            <a:solidFill>
              <a:srgbClr val="9D2706"/>
            </a:solidFill>
            <a:prstDash val="solid"/>
          </a:ln>
        </p:spPr>
      </p:sp>
      <p:sp>
        <p:nvSpPr>
          <p:cNvPr id="45" name="Text 43"/>
          <p:cNvSpPr/>
          <p:nvPr/>
        </p:nvSpPr>
        <p:spPr>
          <a:xfrm>
            <a:off x="8860536" y="2103120"/>
            <a:ext cx="475488" cy="0"/>
          </a:xfrm>
          <a:prstGeom prst="rect">
            <a:avLst/>
          </a:prstGeom>
          <a:noFill/>
          <a:ln/>
        </p:spPr>
        <p:txBody>
          <a:bodyPr wrap="square" rtlCol="0" anchor="ctr"/>
          <a:lstStyle/>
          <a:p>
            <a:pPr algn="ctr" indent="0" marL="0">
              <a:buNone/>
            </a:pPr>
            <a:r>
              <a:rPr lang="en-US" sz="1400" b="1" dirty="0">
                <a:solidFill>
                  <a:srgbClr val="9D2706"/>
                </a:solidFill>
              </a:rPr>
              <a:t>5</a:t>
            </a:r>
            <a:endParaRPr lang="en-US" sz="1400" dirty="0"/>
          </a:p>
        </p:txBody>
      </p:sp>
      <p:sp>
        <p:nvSpPr>
          <p:cNvPr id="46" name="Shape 44"/>
          <p:cNvSpPr/>
          <p:nvPr/>
        </p:nvSpPr>
        <p:spPr>
          <a:xfrm>
            <a:off x="8293608" y="2697480"/>
            <a:ext cx="1847088" cy="3566160"/>
          </a:xfrm>
          <a:prstGeom prst="rect">
            <a:avLst/>
          </a:prstGeom>
          <a:solidFill>
            <a:srgbClr val="FFFFFF"/>
          </a:solidFill>
          <a:ln w="12700">
            <a:solidFill>
              <a:srgbClr val="E2E8F0"/>
            </a:solidFill>
            <a:prstDash val="solid"/>
          </a:ln>
        </p:spPr>
      </p:sp>
      <p:sp>
        <p:nvSpPr>
          <p:cNvPr id="47" name="Shape 45"/>
          <p:cNvSpPr/>
          <p:nvPr/>
        </p:nvSpPr>
        <p:spPr>
          <a:xfrm>
            <a:off x="8293608" y="2697480"/>
            <a:ext cx="1847088" cy="594360"/>
          </a:xfrm>
          <a:prstGeom prst="rect">
            <a:avLst/>
          </a:prstGeom>
          <a:solidFill>
            <a:srgbClr val="EDF2F7"/>
          </a:solidFill>
          <a:ln/>
        </p:spPr>
      </p:sp>
      <p:sp>
        <p:nvSpPr>
          <p:cNvPr id="48" name="Shape 46"/>
          <p:cNvSpPr/>
          <p:nvPr/>
        </p:nvSpPr>
        <p:spPr>
          <a:xfrm>
            <a:off x="8293608" y="2697480"/>
            <a:ext cx="64008" cy="594360"/>
          </a:xfrm>
          <a:prstGeom prst="rect">
            <a:avLst/>
          </a:prstGeom>
          <a:solidFill>
            <a:srgbClr val="9D2706"/>
          </a:solidFill>
          <a:ln/>
        </p:spPr>
      </p:sp>
      <p:sp>
        <p:nvSpPr>
          <p:cNvPr id="49" name="Text 47"/>
          <p:cNvSpPr/>
          <p:nvPr/>
        </p:nvSpPr>
        <p:spPr>
          <a:xfrm>
            <a:off x="8403336" y="2743200"/>
            <a:ext cx="1664208" cy="502920"/>
          </a:xfrm>
          <a:prstGeom prst="rect">
            <a:avLst/>
          </a:prstGeom>
          <a:noFill/>
          <a:ln/>
        </p:spPr>
        <p:txBody>
          <a:bodyPr wrap="square" rtlCol="0" anchor="ctr"/>
          <a:lstStyle/>
          <a:p>
            <a:pPr indent="0" marL="0">
              <a:buNone/>
            </a:pPr>
            <a:r>
              <a:rPr lang="en-US" sz="1150" b="1" dirty="0">
                <a:solidFill>
                  <a:srgbClr val="2C3E50"/>
                </a:solidFill>
              </a:rPr>
              <a:t>Upload &amp; Rules</a:t>
            </a:r>
            <a:endParaRPr lang="en-US" sz="1150" dirty="0"/>
          </a:p>
        </p:txBody>
      </p:sp>
      <p:sp>
        <p:nvSpPr>
          <p:cNvPr id="50" name="Shape 48"/>
          <p:cNvSpPr/>
          <p:nvPr/>
        </p:nvSpPr>
        <p:spPr>
          <a:xfrm>
            <a:off x="8385048" y="3291840"/>
            <a:ext cx="1664208" cy="27432"/>
          </a:xfrm>
          <a:prstGeom prst="rect">
            <a:avLst/>
          </a:prstGeom>
          <a:solidFill>
            <a:srgbClr val="9D2706"/>
          </a:solidFill>
          <a:ln/>
        </p:spPr>
      </p:sp>
      <p:sp>
        <p:nvSpPr>
          <p:cNvPr id="51" name="Text 49"/>
          <p:cNvSpPr/>
          <p:nvPr/>
        </p:nvSpPr>
        <p:spPr>
          <a:xfrm>
            <a:off x="8385048" y="3383280"/>
            <a:ext cx="1664208" cy="2697480"/>
          </a:xfrm>
          <a:prstGeom prst="rect">
            <a:avLst/>
          </a:prstGeom>
          <a:noFill/>
          <a:ln/>
        </p:spPr>
        <p:txBody>
          <a:bodyPr wrap="square" rtlCol="0" anchor="ctr"/>
          <a:lstStyle/>
          <a:p>
            <a:pPr indent="0" marL="0">
              <a:lnSpc>
                <a:spcPct val="140000"/>
              </a:lnSpc>
              <a:buNone/>
            </a:pPr>
            <a:r>
              <a:rPr lang="en-US" sz="1050" dirty="0">
                <a:solidFill>
                  <a:srgbClr val="5A6B7C"/>
                </a:solidFill>
              </a:rPr>
              <a:t>Merchant publishes assets to the dashboard, setting material constraints and price add-ons.</a:t>
            </a:r>
            <a:endParaRPr lang="en-US" sz="1050" dirty="0"/>
          </a:p>
        </p:txBody>
      </p:sp>
      <p:sp>
        <p:nvSpPr>
          <p:cNvPr id="52" name="Shape 50"/>
          <p:cNvSpPr/>
          <p:nvPr/>
        </p:nvSpPr>
        <p:spPr>
          <a:xfrm>
            <a:off x="10853928" y="2029968"/>
            <a:ext cx="475488" cy="475488"/>
          </a:xfrm>
          <a:prstGeom prst="ellipse">
            <a:avLst/>
          </a:prstGeom>
          <a:solidFill>
            <a:srgbClr val="FFFFFF"/>
          </a:solidFill>
          <a:ln w="12700">
            <a:solidFill>
              <a:srgbClr val="9D2706"/>
            </a:solidFill>
            <a:prstDash val="solid"/>
          </a:ln>
        </p:spPr>
      </p:sp>
      <p:sp>
        <p:nvSpPr>
          <p:cNvPr id="53" name="Text 51"/>
          <p:cNvSpPr/>
          <p:nvPr/>
        </p:nvSpPr>
        <p:spPr>
          <a:xfrm>
            <a:off x="10853928" y="2103120"/>
            <a:ext cx="475488" cy="0"/>
          </a:xfrm>
          <a:prstGeom prst="rect">
            <a:avLst/>
          </a:prstGeom>
          <a:noFill/>
          <a:ln/>
        </p:spPr>
        <p:txBody>
          <a:bodyPr wrap="square" rtlCol="0" anchor="ctr"/>
          <a:lstStyle/>
          <a:p>
            <a:pPr algn="ctr" indent="0" marL="0">
              <a:buNone/>
            </a:pPr>
            <a:r>
              <a:rPr lang="en-US" sz="1400" b="1" dirty="0">
                <a:solidFill>
                  <a:srgbClr val="9D2706"/>
                </a:solidFill>
              </a:rPr>
              <a:t>6</a:t>
            </a:r>
            <a:endParaRPr lang="en-US" sz="1400" dirty="0"/>
          </a:p>
        </p:txBody>
      </p:sp>
      <p:sp>
        <p:nvSpPr>
          <p:cNvPr id="54" name="Shape 52"/>
          <p:cNvSpPr/>
          <p:nvPr/>
        </p:nvSpPr>
        <p:spPr>
          <a:xfrm>
            <a:off x="10287000" y="2697480"/>
            <a:ext cx="1847088" cy="3566160"/>
          </a:xfrm>
          <a:prstGeom prst="rect">
            <a:avLst/>
          </a:prstGeom>
          <a:solidFill>
            <a:srgbClr val="FFFFFF"/>
          </a:solidFill>
          <a:ln w="12700">
            <a:solidFill>
              <a:srgbClr val="E2E8F0"/>
            </a:solidFill>
            <a:prstDash val="solid"/>
          </a:ln>
        </p:spPr>
      </p:sp>
      <p:sp>
        <p:nvSpPr>
          <p:cNvPr id="55" name="Shape 53"/>
          <p:cNvSpPr/>
          <p:nvPr/>
        </p:nvSpPr>
        <p:spPr>
          <a:xfrm>
            <a:off x="10287000" y="2697480"/>
            <a:ext cx="1847088" cy="594360"/>
          </a:xfrm>
          <a:prstGeom prst="rect">
            <a:avLst/>
          </a:prstGeom>
          <a:solidFill>
            <a:srgbClr val="EDF2F7"/>
          </a:solidFill>
          <a:ln/>
        </p:spPr>
      </p:sp>
      <p:sp>
        <p:nvSpPr>
          <p:cNvPr id="56" name="Shape 54"/>
          <p:cNvSpPr/>
          <p:nvPr/>
        </p:nvSpPr>
        <p:spPr>
          <a:xfrm>
            <a:off x="10287000" y="2697480"/>
            <a:ext cx="64008" cy="594360"/>
          </a:xfrm>
          <a:prstGeom prst="rect">
            <a:avLst/>
          </a:prstGeom>
          <a:solidFill>
            <a:srgbClr val="9D2706"/>
          </a:solidFill>
          <a:ln/>
        </p:spPr>
      </p:sp>
      <p:sp>
        <p:nvSpPr>
          <p:cNvPr id="57" name="Text 55"/>
          <p:cNvSpPr/>
          <p:nvPr/>
        </p:nvSpPr>
        <p:spPr>
          <a:xfrm>
            <a:off x="10396728" y="2743200"/>
            <a:ext cx="1664208" cy="502920"/>
          </a:xfrm>
          <a:prstGeom prst="rect">
            <a:avLst/>
          </a:prstGeom>
          <a:noFill/>
          <a:ln/>
        </p:spPr>
        <p:txBody>
          <a:bodyPr wrap="square" rtlCol="0" anchor="ctr"/>
          <a:lstStyle/>
          <a:p>
            <a:pPr indent="0" marL="0">
              <a:buNone/>
            </a:pPr>
            <a:r>
              <a:rPr lang="en-US" sz="1150" b="1" dirty="0">
                <a:solidFill>
                  <a:srgbClr val="2C3E50"/>
                </a:solidFill>
              </a:rPr>
              <a:t>Widget Go Live</a:t>
            </a:r>
            <a:endParaRPr lang="en-US" sz="1150" dirty="0"/>
          </a:p>
        </p:txBody>
      </p:sp>
      <p:sp>
        <p:nvSpPr>
          <p:cNvPr id="58" name="Shape 56"/>
          <p:cNvSpPr/>
          <p:nvPr/>
        </p:nvSpPr>
        <p:spPr>
          <a:xfrm>
            <a:off x="10378440" y="3291840"/>
            <a:ext cx="1664208" cy="27432"/>
          </a:xfrm>
          <a:prstGeom prst="rect">
            <a:avLst/>
          </a:prstGeom>
          <a:solidFill>
            <a:srgbClr val="9D2706"/>
          </a:solidFill>
          <a:ln/>
        </p:spPr>
      </p:sp>
      <p:sp>
        <p:nvSpPr>
          <p:cNvPr id="59" name="Text 57"/>
          <p:cNvSpPr/>
          <p:nvPr/>
        </p:nvSpPr>
        <p:spPr>
          <a:xfrm>
            <a:off x="10378440" y="3383280"/>
            <a:ext cx="1664208" cy="2697480"/>
          </a:xfrm>
          <a:prstGeom prst="rect">
            <a:avLst/>
          </a:prstGeom>
          <a:noFill/>
          <a:ln/>
        </p:spPr>
        <p:txBody>
          <a:bodyPr wrap="square" rtlCol="0" anchor="ctr"/>
          <a:lstStyle/>
          <a:p>
            <a:pPr indent="0" marL="0">
              <a:lnSpc>
                <a:spcPct val="140000"/>
              </a:lnSpc>
              <a:buNone/>
            </a:pPr>
            <a:r>
              <a:rPr lang="en-US" sz="1050" dirty="0">
                <a:solidFill>
                  <a:srgbClr val="5A6B7C"/>
                </a:solidFill>
              </a:rPr>
              <a:t>Configurator widget embeds into Shopify page, loading instantly on product variants.</a:t>
            </a:r>
            <a:endParaRPr lang="en-US" sz="1050" dirty="0"/>
          </a:p>
        </p:txBody>
      </p:sp>
      <p:sp>
        <p:nvSpPr>
          <p:cNvPr id="60" name="Shape 58"/>
          <p:cNvSpPr/>
          <p:nvPr/>
        </p:nvSpPr>
        <p:spPr>
          <a:xfrm>
            <a:off x="320040" y="6080760"/>
            <a:ext cx="11612880" cy="384048"/>
          </a:xfrm>
          <a:prstGeom prst="rect">
            <a:avLst/>
          </a:prstGeom>
          <a:solidFill>
            <a:srgbClr val="EDF2F7"/>
          </a:solidFill>
          <a:ln w="12700">
            <a:solidFill>
              <a:srgbClr val="E2E8F0"/>
            </a:solidFill>
            <a:prstDash val="solid"/>
          </a:ln>
        </p:spPr>
      </p:sp>
      <p:sp>
        <p:nvSpPr>
          <p:cNvPr id="61" name="Shape 59"/>
          <p:cNvSpPr/>
          <p:nvPr/>
        </p:nvSpPr>
        <p:spPr>
          <a:xfrm>
            <a:off x="320040" y="6080760"/>
            <a:ext cx="320040" cy="384048"/>
          </a:xfrm>
          <a:prstGeom prst="rect">
            <a:avLst/>
          </a:prstGeom>
          <a:solidFill>
            <a:srgbClr val="9D2706"/>
          </a:solidFill>
          <a:ln/>
        </p:spPr>
      </p:sp>
      <p:sp>
        <p:nvSpPr>
          <p:cNvPr id="62" name="Text 60"/>
          <p:cNvSpPr/>
          <p:nvPr/>
        </p:nvSpPr>
        <p:spPr>
          <a:xfrm>
            <a:off x="731520" y="6126480"/>
            <a:ext cx="11155680" cy="0"/>
          </a:xfrm>
          <a:prstGeom prst="rect">
            <a:avLst/>
          </a:prstGeom>
          <a:noFill/>
          <a:ln/>
        </p:spPr>
        <p:txBody>
          <a:bodyPr wrap="square" rtlCol="0" anchor="ctr"/>
          <a:lstStyle/>
          <a:p>
            <a:pPr indent="0" marL="0">
              <a:buNone/>
            </a:pPr>
            <a:r>
              <a:rPr lang="en-US" sz="1100" b="1" dirty="0">
                <a:solidFill>
                  <a:srgbClr val="2C3E50"/>
                </a:solidFill>
              </a:rPr>
              <a:t>Asset Studio Fees:  $150 (simple models)  |  $250–$400 (modular variables)  |  $400–$600 (complex rigs)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Competitor Analysis</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How Cognaq compares with market options.</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960120"/>
            <a:ext cx="11612880" cy="548640"/>
          </a:xfrm>
          <a:prstGeom prst="rect">
            <a:avLst/>
          </a:prstGeom>
          <a:solidFill>
            <a:srgbClr val="2C3E50"/>
          </a:solidFill>
          <a:ln/>
        </p:spPr>
      </p:sp>
      <p:sp>
        <p:nvSpPr>
          <p:cNvPr id="12" name="Shape 10"/>
          <p:cNvSpPr/>
          <p:nvPr/>
        </p:nvSpPr>
        <p:spPr>
          <a:xfrm>
            <a:off x="320040" y="960120"/>
            <a:ext cx="73152" cy="548640"/>
          </a:xfrm>
          <a:prstGeom prst="rect">
            <a:avLst/>
          </a:prstGeom>
          <a:solidFill>
            <a:srgbClr val="9D2706"/>
          </a:solidFill>
          <a:ln/>
        </p:spPr>
      </p:sp>
      <p:sp>
        <p:nvSpPr>
          <p:cNvPr id="13" name="Text 11"/>
          <p:cNvSpPr/>
          <p:nvPr/>
        </p:nvSpPr>
        <p:spPr>
          <a:xfrm>
            <a:off x="374904" y="1024128"/>
            <a:ext cx="1737360" cy="0"/>
          </a:xfrm>
          <a:prstGeom prst="rect">
            <a:avLst/>
          </a:prstGeom>
          <a:noFill/>
          <a:ln/>
        </p:spPr>
        <p:txBody>
          <a:bodyPr wrap="square" rtlCol="0" anchor="ctr"/>
          <a:lstStyle/>
          <a:p>
            <a:pPr algn="ctr" indent="0" marL="0">
              <a:buNone/>
            </a:pPr>
            <a:r>
              <a:rPr lang="en-US" sz="1050" b="1" dirty="0">
                <a:solidFill>
                  <a:srgbClr val="FFFFFF"/>
                </a:solidFill>
              </a:rPr>
              <a:t>Platform</a:t>
            </a:r>
            <a:endParaRPr lang="en-US" sz="1050" dirty="0"/>
          </a:p>
        </p:txBody>
      </p:sp>
      <p:sp>
        <p:nvSpPr>
          <p:cNvPr id="14" name="Text 12"/>
          <p:cNvSpPr/>
          <p:nvPr/>
        </p:nvSpPr>
        <p:spPr>
          <a:xfrm>
            <a:off x="2203704" y="1024128"/>
            <a:ext cx="1463040" cy="0"/>
          </a:xfrm>
          <a:prstGeom prst="rect">
            <a:avLst/>
          </a:prstGeom>
          <a:noFill/>
          <a:ln/>
        </p:spPr>
        <p:txBody>
          <a:bodyPr wrap="square" rtlCol="0" anchor="ctr"/>
          <a:lstStyle/>
          <a:p>
            <a:pPr algn="ctr" indent="0" marL="0">
              <a:buNone/>
            </a:pPr>
            <a:r>
              <a:rPr lang="en-US" sz="1050" b="1" dirty="0">
                <a:solidFill>
                  <a:srgbClr val="FFFFFF"/>
                </a:solidFill>
              </a:rPr>
              <a:t>Price / Month</a:t>
            </a:r>
            <a:endParaRPr lang="en-US" sz="1050" dirty="0"/>
          </a:p>
        </p:txBody>
      </p:sp>
      <p:sp>
        <p:nvSpPr>
          <p:cNvPr id="15" name="Text 13"/>
          <p:cNvSpPr/>
          <p:nvPr/>
        </p:nvSpPr>
        <p:spPr>
          <a:xfrm>
            <a:off x="3758184" y="1024128"/>
            <a:ext cx="1188720" cy="0"/>
          </a:xfrm>
          <a:prstGeom prst="rect">
            <a:avLst/>
          </a:prstGeom>
          <a:noFill/>
          <a:ln/>
        </p:spPr>
        <p:txBody>
          <a:bodyPr wrap="square" rtlCol="0" anchor="ctr"/>
          <a:lstStyle/>
          <a:p>
            <a:pPr algn="ctr" indent="0" marL="0">
              <a:buNone/>
            </a:pPr>
            <a:r>
              <a:rPr lang="en-US" sz="1050" b="1" dirty="0">
                <a:solidFill>
                  <a:srgbClr val="FFFFFF"/>
                </a:solidFill>
              </a:rPr>
              <a:t>Shopify App</a:t>
            </a:r>
            <a:endParaRPr lang="en-US" sz="1050" dirty="0"/>
          </a:p>
        </p:txBody>
      </p:sp>
      <p:sp>
        <p:nvSpPr>
          <p:cNvPr id="16" name="Text 14"/>
          <p:cNvSpPr/>
          <p:nvPr/>
        </p:nvSpPr>
        <p:spPr>
          <a:xfrm>
            <a:off x="5038344" y="1024128"/>
            <a:ext cx="1005840" cy="0"/>
          </a:xfrm>
          <a:prstGeom prst="rect">
            <a:avLst/>
          </a:prstGeom>
          <a:noFill/>
          <a:ln/>
        </p:spPr>
        <p:txBody>
          <a:bodyPr wrap="square" rtlCol="0" anchor="ctr"/>
          <a:lstStyle/>
          <a:p>
            <a:pPr algn="ctr" indent="0" marL="0">
              <a:buNone/>
            </a:pPr>
            <a:r>
              <a:rPr lang="en-US" sz="1050" b="1" dirty="0">
                <a:solidFill>
                  <a:srgbClr val="FFFFFF"/>
                </a:solidFill>
              </a:rPr>
              <a:t>Room AR</a:t>
            </a:r>
            <a:endParaRPr lang="en-US" sz="1050" dirty="0"/>
          </a:p>
        </p:txBody>
      </p:sp>
      <p:sp>
        <p:nvSpPr>
          <p:cNvPr id="17" name="Text 15"/>
          <p:cNvSpPr/>
          <p:nvPr/>
        </p:nvSpPr>
        <p:spPr>
          <a:xfrm>
            <a:off x="6135624" y="1024128"/>
            <a:ext cx="1371600" cy="0"/>
          </a:xfrm>
          <a:prstGeom prst="rect">
            <a:avLst/>
          </a:prstGeom>
          <a:noFill/>
          <a:ln/>
        </p:spPr>
        <p:txBody>
          <a:bodyPr wrap="square" rtlCol="0" anchor="ctr"/>
          <a:lstStyle/>
          <a:p>
            <a:pPr algn="ctr" indent="0" marL="0">
              <a:buNone/>
            </a:pPr>
            <a:r>
              <a:rPr lang="en-US" sz="1050" b="1" dirty="0">
                <a:solidFill>
                  <a:srgbClr val="FFFFFF"/>
                </a:solidFill>
              </a:rPr>
              <a:t>Virtual Try-On</a:t>
            </a:r>
            <a:endParaRPr lang="en-US" sz="1050" dirty="0"/>
          </a:p>
        </p:txBody>
      </p:sp>
      <p:sp>
        <p:nvSpPr>
          <p:cNvPr id="18" name="Text 16"/>
          <p:cNvSpPr/>
          <p:nvPr/>
        </p:nvSpPr>
        <p:spPr>
          <a:xfrm>
            <a:off x="7598664" y="1024128"/>
            <a:ext cx="1280160" cy="0"/>
          </a:xfrm>
          <a:prstGeom prst="rect">
            <a:avLst/>
          </a:prstGeom>
          <a:noFill/>
          <a:ln/>
        </p:spPr>
        <p:txBody>
          <a:bodyPr wrap="square" rtlCol="0" anchor="ctr"/>
          <a:lstStyle/>
          <a:p>
            <a:pPr algn="ctr" indent="0" marL="0">
              <a:buNone/>
            </a:pPr>
            <a:r>
              <a:rPr lang="en-US" sz="1050" b="1" dirty="0">
                <a:solidFill>
                  <a:srgbClr val="FFFFFF"/>
                </a:solidFill>
              </a:rPr>
              <a:t>Asset Service</a:t>
            </a:r>
            <a:endParaRPr lang="en-US" sz="1050" dirty="0"/>
          </a:p>
        </p:txBody>
      </p:sp>
      <p:sp>
        <p:nvSpPr>
          <p:cNvPr id="19" name="Text 17"/>
          <p:cNvSpPr/>
          <p:nvPr/>
        </p:nvSpPr>
        <p:spPr>
          <a:xfrm>
            <a:off x="8970264" y="1024128"/>
            <a:ext cx="2103120" cy="0"/>
          </a:xfrm>
          <a:prstGeom prst="rect">
            <a:avLst/>
          </a:prstGeom>
          <a:noFill/>
          <a:ln/>
        </p:spPr>
        <p:txBody>
          <a:bodyPr wrap="square" rtlCol="0" anchor="ctr"/>
          <a:lstStyle/>
          <a:p>
            <a:pPr algn="ctr" indent="0" marL="0">
              <a:buNone/>
            </a:pPr>
            <a:r>
              <a:rPr lang="en-US" sz="1050" b="1" dirty="0">
                <a:solidFill>
                  <a:srgbClr val="FFFFFF"/>
                </a:solidFill>
              </a:rPr>
              <a:t>Target Segment</a:t>
            </a:r>
            <a:endParaRPr lang="en-US" sz="1050" dirty="0"/>
          </a:p>
        </p:txBody>
      </p:sp>
      <p:sp>
        <p:nvSpPr>
          <p:cNvPr id="20" name="Shape 18"/>
          <p:cNvSpPr/>
          <p:nvPr/>
        </p:nvSpPr>
        <p:spPr>
          <a:xfrm>
            <a:off x="320040" y="1536192"/>
            <a:ext cx="1828800" cy="640080"/>
          </a:xfrm>
          <a:prstGeom prst="rect">
            <a:avLst/>
          </a:prstGeom>
          <a:solidFill>
            <a:srgbClr val="FFFFFF"/>
          </a:solidFill>
          <a:ln w="12700">
            <a:solidFill>
              <a:srgbClr val="E2E8F0"/>
            </a:solidFill>
            <a:prstDash val="solid"/>
          </a:ln>
        </p:spPr>
      </p:sp>
      <p:sp>
        <p:nvSpPr>
          <p:cNvPr id="21" name="Text 19"/>
          <p:cNvSpPr/>
          <p:nvPr/>
        </p:nvSpPr>
        <p:spPr>
          <a:xfrm>
            <a:off x="374904" y="1700784"/>
            <a:ext cx="1737360" cy="0"/>
          </a:xfrm>
          <a:prstGeom prst="rect">
            <a:avLst/>
          </a:prstGeom>
          <a:noFill/>
          <a:ln/>
        </p:spPr>
        <p:txBody>
          <a:bodyPr wrap="square" rtlCol="0" anchor="ctr"/>
          <a:lstStyle/>
          <a:p>
            <a:pPr algn="ctr" indent="0" marL="0">
              <a:buNone/>
            </a:pPr>
            <a:r>
              <a:rPr lang="en-US" sz="1050" dirty="0">
                <a:solidFill>
                  <a:srgbClr val="5A6B7C"/>
                </a:solidFill>
              </a:rPr>
              <a:t>Threekit</a:t>
            </a:r>
            <a:endParaRPr lang="en-US" sz="1050" dirty="0"/>
          </a:p>
        </p:txBody>
      </p:sp>
      <p:sp>
        <p:nvSpPr>
          <p:cNvPr id="22" name="Shape 20"/>
          <p:cNvSpPr/>
          <p:nvPr/>
        </p:nvSpPr>
        <p:spPr>
          <a:xfrm>
            <a:off x="2148840" y="1536192"/>
            <a:ext cx="1554480" cy="640080"/>
          </a:xfrm>
          <a:prstGeom prst="rect">
            <a:avLst/>
          </a:prstGeom>
          <a:solidFill>
            <a:srgbClr val="FFFFFF"/>
          </a:solidFill>
          <a:ln w="12700">
            <a:solidFill>
              <a:srgbClr val="E2E8F0"/>
            </a:solidFill>
            <a:prstDash val="solid"/>
          </a:ln>
        </p:spPr>
      </p:sp>
      <p:sp>
        <p:nvSpPr>
          <p:cNvPr id="23" name="Text 21"/>
          <p:cNvSpPr/>
          <p:nvPr/>
        </p:nvSpPr>
        <p:spPr>
          <a:xfrm>
            <a:off x="2203704" y="1700784"/>
            <a:ext cx="1463040" cy="0"/>
          </a:xfrm>
          <a:prstGeom prst="rect">
            <a:avLst/>
          </a:prstGeom>
          <a:noFill/>
          <a:ln/>
        </p:spPr>
        <p:txBody>
          <a:bodyPr wrap="square" rtlCol="0" anchor="ctr"/>
          <a:lstStyle/>
          <a:p>
            <a:pPr algn="ctr" indent="0" marL="0">
              <a:buNone/>
            </a:pPr>
            <a:r>
              <a:rPr lang="en-US" sz="1050" dirty="0">
                <a:solidFill>
                  <a:srgbClr val="5A6B7C"/>
                </a:solidFill>
              </a:rPr>
              <a:t>$2,000 – $10k</a:t>
            </a:r>
            <a:endParaRPr lang="en-US" sz="1050" dirty="0"/>
          </a:p>
        </p:txBody>
      </p:sp>
      <p:sp>
        <p:nvSpPr>
          <p:cNvPr id="24" name="Shape 22"/>
          <p:cNvSpPr/>
          <p:nvPr/>
        </p:nvSpPr>
        <p:spPr>
          <a:xfrm>
            <a:off x="3703320" y="1536192"/>
            <a:ext cx="1280160" cy="640080"/>
          </a:xfrm>
          <a:prstGeom prst="rect">
            <a:avLst/>
          </a:prstGeom>
          <a:solidFill>
            <a:srgbClr val="FFFFFF"/>
          </a:solidFill>
          <a:ln w="12700">
            <a:solidFill>
              <a:srgbClr val="E2E8F0"/>
            </a:solidFill>
            <a:prstDash val="solid"/>
          </a:ln>
        </p:spPr>
      </p:sp>
      <p:sp>
        <p:nvSpPr>
          <p:cNvPr id="25" name="Text 23"/>
          <p:cNvSpPr/>
          <p:nvPr/>
        </p:nvSpPr>
        <p:spPr>
          <a:xfrm>
            <a:off x="3758184" y="1700784"/>
            <a:ext cx="1188720" cy="0"/>
          </a:xfrm>
          <a:prstGeom prst="rect">
            <a:avLst/>
          </a:prstGeom>
          <a:noFill/>
          <a:ln/>
        </p:spPr>
        <p:txBody>
          <a:bodyPr wrap="square" rtlCol="0" anchor="ctr"/>
          <a:lstStyle/>
          <a:p>
            <a:pPr algn="ctr" indent="0" marL="0">
              <a:buNone/>
            </a:pPr>
            <a:r>
              <a:rPr lang="en-US" sz="1050" dirty="0">
                <a:solidFill>
                  <a:srgbClr val="5A6B7C"/>
                </a:solidFill>
              </a:rPr>
              <a:t>Via API</a:t>
            </a:r>
            <a:endParaRPr lang="en-US" sz="1050" dirty="0"/>
          </a:p>
        </p:txBody>
      </p:sp>
      <p:sp>
        <p:nvSpPr>
          <p:cNvPr id="26" name="Shape 24"/>
          <p:cNvSpPr/>
          <p:nvPr/>
        </p:nvSpPr>
        <p:spPr>
          <a:xfrm>
            <a:off x="4983480" y="1536192"/>
            <a:ext cx="1097280" cy="640080"/>
          </a:xfrm>
          <a:prstGeom prst="rect">
            <a:avLst/>
          </a:prstGeom>
          <a:solidFill>
            <a:srgbClr val="FFFFFF"/>
          </a:solidFill>
          <a:ln w="12700">
            <a:solidFill>
              <a:srgbClr val="E2E8F0"/>
            </a:solidFill>
            <a:prstDash val="solid"/>
          </a:ln>
        </p:spPr>
      </p:sp>
      <p:sp>
        <p:nvSpPr>
          <p:cNvPr id="27" name="Text 25"/>
          <p:cNvSpPr/>
          <p:nvPr/>
        </p:nvSpPr>
        <p:spPr>
          <a:xfrm>
            <a:off x="5038344" y="1700784"/>
            <a:ext cx="1005840" cy="0"/>
          </a:xfrm>
          <a:prstGeom prst="rect">
            <a:avLst/>
          </a:prstGeom>
          <a:noFill/>
          <a:ln/>
        </p:spPr>
        <p:txBody>
          <a:bodyPr wrap="square" rtlCol="0" anchor="ctr"/>
          <a:lstStyle/>
          <a:p>
            <a:pPr algn="ctr" indent="0" marL="0">
              <a:buNone/>
            </a:pPr>
            <a:r>
              <a:rPr lang="en-US" sz="1050" dirty="0">
                <a:solidFill>
                  <a:srgbClr val="5A6B7C"/>
                </a:solidFill>
              </a:rPr>
              <a:t>Partial</a:t>
            </a:r>
            <a:endParaRPr lang="en-US" sz="1050" dirty="0"/>
          </a:p>
        </p:txBody>
      </p:sp>
      <p:sp>
        <p:nvSpPr>
          <p:cNvPr id="28" name="Shape 26"/>
          <p:cNvSpPr/>
          <p:nvPr/>
        </p:nvSpPr>
        <p:spPr>
          <a:xfrm>
            <a:off x="6080760" y="1536192"/>
            <a:ext cx="1463040" cy="640080"/>
          </a:xfrm>
          <a:prstGeom prst="rect">
            <a:avLst/>
          </a:prstGeom>
          <a:solidFill>
            <a:srgbClr val="FFFFFF"/>
          </a:solidFill>
          <a:ln w="12700">
            <a:solidFill>
              <a:srgbClr val="E2E8F0"/>
            </a:solidFill>
            <a:prstDash val="solid"/>
          </a:ln>
        </p:spPr>
      </p:sp>
      <p:sp>
        <p:nvSpPr>
          <p:cNvPr id="29" name="Text 27"/>
          <p:cNvSpPr/>
          <p:nvPr/>
        </p:nvSpPr>
        <p:spPr>
          <a:xfrm>
            <a:off x="6135624" y="1700784"/>
            <a:ext cx="137160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30" name="Shape 28"/>
          <p:cNvSpPr/>
          <p:nvPr/>
        </p:nvSpPr>
        <p:spPr>
          <a:xfrm>
            <a:off x="7543800" y="1536192"/>
            <a:ext cx="1371600" cy="640080"/>
          </a:xfrm>
          <a:prstGeom prst="rect">
            <a:avLst/>
          </a:prstGeom>
          <a:solidFill>
            <a:srgbClr val="FFFFFF"/>
          </a:solidFill>
          <a:ln w="12700">
            <a:solidFill>
              <a:srgbClr val="E2E8F0"/>
            </a:solidFill>
            <a:prstDash val="solid"/>
          </a:ln>
        </p:spPr>
      </p:sp>
      <p:sp>
        <p:nvSpPr>
          <p:cNvPr id="31" name="Text 29"/>
          <p:cNvSpPr/>
          <p:nvPr/>
        </p:nvSpPr>
        <p:spPr>
          <a:xfrm>
            <a:off x="7598664" y="1700784"/>
            <a:ext cx="128016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32" name="Shape 30"/>
          <p:cNvSpPr/>
          <p:nvPr/>
        </p:nvSpPr>
        <p:spPr>
          <a:xfrm>
            <a:off x="8915400" y="1536192"/>
            <a:ext cx="2194560" cy="640080"/>
          </a:xfrm>
          <a:prstGeom prst="rect">
            <a:avLst/>
          </a:prstGeom>
          <a:solidFill>
            <a:srgbClr val="FFFFFF"/>
          </a:solidFill>
          <a:ln w="12700">
            <a:solidFill>
              <a:srgbClr val="E2E8F0"/>
            </a:solidFill>
            <a:prstDash val="solid"/>
          </a:ln>
        </p:spPr>
      </p:sp>
      <p:sp>
        <p:nvSpPr>
          <p:cNvPr id="33" name="Text 31"/>
          <p:cNvSpPr/>
          <p:nvPr/>
        </p:nvSpPr>
        <p:spPr>
          <a:xfrm>
            <a:off x="8970264" y="1700784"/>
            <a:ext cx="2103120" cy="0"/>
          </a:xfrm>
          <a:prstGeom prst="rect">
            <a:avLst/>
          </a:prstGeom>
          <a:noFill/>
          <a:ln/>
        </p:spPr>
        <p:txBody>
          <a:bodyPr wrap="square" rtlCol="0" anchor="ctr"/>
          <a:lstStyle/>
          <a:p>
            <a:pPr algn="ctr" indent="0" marL="0">
              <a:buNone/>
            </a:pPr>
            <a:r>
              <a:rPr lang="en-US" sz="1050" dirty="0">
                <a:solidFill>
                  <a:srgbClr val="5A6B7C"/>
                </a:solidFill>
              </a:rPr>
              <a:t>Large Enterprises</a:t>
            </a:r>
            <a:endParaRPr lang="en-US" sz="1050" dirty="0"/>
          </a:p>
        </p:txBody>
      </p:sp>
      <p:sp>
        <p:nvSpPr>
          <p:cNvPr id="34" name="Shape 32"/>
          <p:cNvSpPr/>
          <p:nvPr/>
        </p:nvSpPr>
        <p:spPr>
          <a:xfrm>
            <a:off x="320040" y="2194560"/>
            <a:ext cx="1828800" cy="640080"/>
          </a:xfrm>
          <a:prstGeom prst="rect">
            <a:avLst/>
          </a:prstGeom>
          <a:solidFill>
            <a:srgbClr val="F5F5F7"/>
          </a:solidFill>
          <a:ln w="12700">
            <a:solidFill>
              <a:srgbClr val="E2E8F0"/>
            </a:solidFill>
            <a:prstDash val="solid"/>
          </a:ln>
        </p:spPr>
      </p:sp>
      <p:sp>
        <p:nvSpPr>
          <p:cNvPr id="35" name="Text 33"/>
          <p:cNvSpPr/>
          <p:nvPr/>
        </p:nvSpPr>
        <p:spPr>
          <a:xfrm>
            <a:off x="374904" y="2359152"/>
            <a:ext cx="1737360" cy="0"/>
          </a:xfrm>
          <a:prstGeom prst="rect">
            <a:avLst/>
          </a:prstGeom>
          <a:noFill/>
          <a:ln/>
        </p:spPr>
        <p:txBody>
          <a:bodyPr wrap="square" rtlCol="0" anchor="ctr"/>
          <a:lstStyle/>
          <a:p>
            <a:pPr algn="ctr" indent="0" marL="0">
              <a:buNone/>
            </a:pPr>
            <a:r>
              <a:rPr lang="en-US" sz="1050" dirty="0">
                <a:solidFill>
                  <a:srgbClr val="5A6B7C"/>
                </a:solidFill>
              </a:rPr>
              <a:t>Zakeke</a:t>
            </a:r>
            <a:endParaRPr lang="en-US" sz="1050" dirty="0"/>
          </a:p>
        </p:txBody>
      </p:sp>
      <p:sp>
        <p:nvSpPr>
          <p:cNvPr id="36" name="Shape 34"/>
          <p:cNvSpPr/>
          <p:nvPr/>
        </p:nvSpPr>
        <p:spPr>
          <a:xfrm>
            <a:off x="2148840" y="2194560"/>
            <a:ext cx="1554480" cy="640080"/>
          </a:xfrm>
          <a:prstGeom prst="rect">
            <a:avLst/>
          </a:prstGeom>
          <a:solidFill>
            <a:srgbClr val="F5F5F7"/>
          </a:solidFill>
          <a:ln w="12700">
            <a:solidFill>
              <a:srgbClr val="E2E8F0"/>
            </a:solidFill>
            <a:prstDash val="solid"/>
          </a:ln>
        </p:spPr>
      </p:sp>
      <p:sp>
        <p:nvSpPr>
          <p:cNvPr id="37" name="Text 35"/>
          <p:cNvSpPr/>
          <p:nvPr/>
        </p:nvSpPr>
        <p:spPr>
          <a:xfrm>
            <a:off x="2203704" y="2359152"/>
            <a:ext cx="1463040" cy="0"/>
          </a:xfrm>
          <a:prstGeom prst="rect">
            <a:avLst/>
          </a:prstGeom>
          <a:noFill/>
          <a:ln/>
        </p:spPr>
        <p:txBody>
          <a:bodyPr wrap="square" rtlCol="0" anchor="ctr"/>
          <a:lstStyle/>
          <a:p>
            <a:pPr algn="ctr" indent="0" marL="0">
              <a:buNone/>
            </a:pPr>
            <a:r>
              <a:rPr lang="en-US" sz="1050" dirty="0">
                <a:solidFill>
                  <a:srgbClr val="5A6B7C"/>
                </a:solidFill>
              </a:rPr>
              <a:t>$99 – $599</a:t>
            </a:r>
            <a:endParaRPr lang="en-US" sz="1050" dirty="0"/>
          </a:p>
        </p:txBody>
      </p:sp>
      <p:sp>
        <p:nvSpPr>
          <p:cNvPr id="38" name="Shape 36"/>
          <p:cNvSpPr/>
          <p:nvPr/>
        </p:nvSpPr>
        <p:spPr>
          <a:xfrm>
            <a:off x="3703320" y="2194560"/>
            <a:ext cx="1280160" cy="640080"/>
          </a:xfrm>
          <a:prstGeom prst="rect">
            <a:avLst/>
          </a:prstGeom>
          <a:solidFill>
            <a:srgbClr val="F5F5F7"/>
          </a:solidFill>
          <a:ln w="12700">
            <a:solidFill>
              <a:srgbClr val="E2E8F0"/>
            </a:solidFill>
            <a:prstDash val="solid"/>
          </a:ln>
        </p:spPr>
      </p:sp>
      <p:sp>
        <p:nvSpPr>
          <p:cNvPr id="39" name="Text 37"/>
          <p:cNvSpPr/>
          <p:nvPr/>
        </p:nvSpPr>
        <p:spPr>
          <a:xfrm>
            <a:off x="3758184" y="2359152"/>
            <a:ext cx="1188720" cy="0"/>
          </a:xfrm>
          <a:prstGeom prst="rect">
            <a:avLst/>
          </a:prstGeom>
          <a:noFill/>
          <a:ln/>
        </p:spPr>
        <p:txBody>
          <a:bodyPr wrap="square" rtlCol="0" anchor="ctr"/>
          <a:lstStyle/>
          <a:p>
            <a:pPr algn="ctr" indent="0" marL="0">
              <a:buNone/>
            </a:pPr>
            <a:r>
              <a:rPr lang="en-US" sz="1050" dirty="0">
                <a:solidFill>
                  <a:srgbClr val="5A6B7C"/>
                </a:solidFill>
              </a:rPr>
              <a:t>Native</a:t>
            </a:r>
            <a:endParaRPr lang="en-US" sz="1050" dirty="0"/>
          </a:p>
        </p:txBody>
      </p:sp>
      <p:sp>
        <p:nvSpPr>
          <p:cNvPr id="40" name="Shape 38"/>
          <p:cNvSpPr/>
          <p:nvPr/>
        </p:nvSpPr>
        <p:spPr>
          <a:xfrm>
            <a:off x="4983480" y="2194560"/>
            <a:ext cx="1097280" cy="640080"/>
          </a:xfrm>
          <a:prstGeom prst="rect">
            <a:avLst/>
          </a:prstGeom>
          <a:solidFill>
            <a:srgbClr val="F5F5F7"/>
          </a:solidFill>
          <a:ln w="12700">
            <a:solidFill>
              <a:srgbClr val="E2E8F0"/>
            </a:solidFill>
            <a:prstDash val="solid"/>
          </a:ln>
        </p:spPr>
      </p:sp>
      <p:sp>
        <p:nvSpPr>
          <p:cNvPr id="41" name="Text 39"/>
          <p:cNvSpPr/>
          <p:nvPr/>
        </p:nvSpPr>
        <p:spPr>
          <a:xfrm>
            <a:off x="5038344" y="2359152"/>
            <a:ext cx="1005840" cy="0"/>
          </a:xfrm>
          <a:prstGeom prst="rect">
            <a:avLst/>
          </a:prstGeom>
          <a:noFill/>
          <a:ln/>
        </p:spPr>
        <p:txBody>
          <a:bodyPr wrap="square" rtlCol="0" anchor="ctr"/>
          <a:lstStyle/>
          <a:p>
            <a:pPr algn="ctr" indent="0" marL="0">
              <a:buNone/>
            </a:pPr>
            <a:r>
              <a:rPr lang="en-US" sz="1050" dirty="0">
                <a:solidFill>
                  <a:srgbClr val="5A6B7C"/>
                </a:solidFill>
              </a:rPr>
              <a:t>Partial</a:t>
            </a:r>
            <a:endParaRPr lang="en-US" sz="1050" dirty="0"/>
          </a:p>
        </p:txBody>
      </p:sp>
      <p:sp>
        <p:nvSpPr>
          <p:cNvPr id="42" name="Shape 40"/>
          <p:cNvSpPr/>
          <p:nvPr/>
        </p:nvSpPr>
        <p:spPr>
          <a:xfrm>
            <a:off x="6080760" y="2194560"/>
            <a:ext cx="1463040" cy="640080"/>
          </a:xfrm>
          <a:prstGeom prst="rect">
            <a:avLst/>
          </a:prstGeom>
          <a:solidFill>
            <a:srgbClr val="F5F5F7"/>
          </a:solidFill>
          <a:ln w="12700">
            <a:solidFill>
              <a:srgbClr val="E2E8F0"/>
            </a:solidFill>
            <a:prstDash val="solid"/>
          </a:ln>
        </p:spPr>
      </p:sp>
      <p:sp>
        <p:nvSpPr>
          <p:cNvPr id="43" name="Text 41"/>
          <p:cNvSpPr/>
          <p:nvPr/>
        </p:nvSpPr>
        <p:spPr>
          <a:xfrm>
            <a:off x="6135624" y="2359152"/>
            <a:ext cx="1371600" cy="0"/>
          </a:xfrm>
          <a:prstGeom prst="rect">
            <a:avLst/>
          </a:prstGeom>
          <a:noFill/>
          <a:ln/>
        </p:spPr>
        <p:txBody>
          <a:bodyPr wrap="square" rtlCol="0" anchor="ctr"/>
          <a:lstStyle/>
          <a:p>
            <a:pPr algn="ctr" indent="0" marL="0">
              <a:buNone/>
            </a:pPr>
            <a:r>
              <a:rPr lang="en-US" sz="1050" dirty="0">
                <a:solidFill>
                  <a:srgbClr val="5A6B7C"/>
                </a:solidFill>
              </a:rPr>
              <a:t>Basic</a:t>
            </a:r>
            <a:endParaRPr lang="en-US" sz="1050" dirty="0"/>
          </a:p>
        </p:txBody>
      </p:sp>
      <p:sp>
        <p:nvSpPr>
          <p:cNvPr id="44" name="Shape 42"/>
          <p:cNvSpPr/>
          <p:nvPr/>
        </p:nvSpPr>
        <p:spPr>
          <a:xfrm>
            <a:off x="7543800" y="2194560"/>
            <a:ext cx="1371600" cy="640080"/>
          </a:xfrm>
          <a:prstGeom prst="rect">
            <a:avLst/>
          </a:prstGeom>
          <a:solidFill>
            <a:srgbClr val="F5F5F7"/>
          </a:solidFill>
          <a:ln w="12700">
            <a:solidFill>
              <a:srgbClr val="E2E8F0"/>
            </a:solidFill>
            <a:prstDash val="solid"/>
          </a:ln>
        </p:spPr>
      </p:sp>
      <p:sp>
        <p:nvSpPr>
          <p:cNvPr id="45" name="Text 43"/>
          <p:cNvSpPr/>
          <p:nvPr/>
        </p:nvSpPr>
        <p:spPr>
          <a:xfrm>
            <a:off x="7598664" y="2359152"/>
            <a:ext cx="128016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46" name="Shape 44"/>
          <p:cNvSpPr/>
          <p:nvPr/>
        </p:nvSpPr>
        <p:spPr>
          <a:xfrm>
            <a:off x="8915400" y="2194560"/>
            <a:ext cx="2194560" cy="640080"/>
          </a:xfrm>
          <a:prstGeom prst="rect">
            <a:avLst/>
          </a:prstGeom>
          <a:solidFill>
            <a:srgbClr val="F5F5F7"/>
          </a:solidFill>
          <a:ln w="12700">
            <a:solidFill>
              <a:srgbClr val="E2E8F0"/>
            </a:solidFill>
            <a:prstDash val="solid"/>
          </a:ln>
        </p:spPr>
      </p:sp>
      <p:sp>
        <p:nvSpPr>
          <p:cNvPr id="47" name="Text 45"/>
          <p:cNvSpPr/>
          <p:nvPr/>
        </p:nvSpPr>
        <p:spPr>
          <a:xfrm>
            <a:off x="8970264" y="2359152"/>
            <a:ext cx="2103120" cy="0"/>
          </a:xfrm>
          <a:prstGeom prst="rect">
            <a:avLst/>
          </a:prstGeom>
          <a:noFill/>
          <a:ln/>
        </p:spPr>
        <p:txBody>
          <a:bodyPr wrap="square" rtlCol="0" anchor="ctr"/>
          <a:lstStyle/>
          <a:p>
            <a:pPr algn="ctr" indent="0" marL="0">
              <a:buNone/>
            </a:pPr>
            <a:r>
              <a:rPr lang="en-US" sz="1050" dirty="0">
                <a:solidFill>
                  <a:srgbClr val="5A6B7C"/>
                </a:solidFill>
              </a:rPr>
              <a:t>SMB Merchants</a:t>
            </a:r>
            <a:endParaRPr lang="en-US" sz="1050" dirty="0"/>
          </a:p>
        </p:txBody>
      </p:sp>
      <p:sp>
        <p:nvSpPr>
          <p:cNvPr id="48" name="Shape 46"/>
          <p:cNvSpPr/>
          <p:nvPr/>
        </p:nvSpPr>
        <p:spPr>
          <a:xfrm>
            <a:off x="320040" y="2852928"/>
            <a:ext cx="1828800" cy="640080"/>
          </a:xfrm>
          <a:prstGeom prst="rect">
            <a:avLst/>
          </a:prstGeom>
          <a:solidFill>
            <a:srgbClr val="FFFFFF"/>
          </a:solidFill>
          <a:ln w="12700">
            <a:solidFill>
              <a:srgbClr val="E2E8F0"/>
            </a:solidFill>
            <a:prstDash val="solid"/>
          </a:ln>
        </p:spPr>
      </p:sp>
      <p:sp>
        <p:nvSpPr>
          <p:cNvPr id="49" name="Text 47"/>
          <p:cNvSpPr/>
          <p:nvPr/>
        </p:nvSpPr>
        <p:spPr>
          <a:xfrm>
            <a:off x="374904" y="3017520"/>
            <a:ext cx="1737360" cy="0"/>
          </a:xfrm>
          <a:prstGeom prst="rect">
            <a:avLst/>
          </a:prstGeom>
          <a:noFill/>
          <a:ln/>
        </p:spPr>
        <p:txBody>
          <a:bodyPr wrap="square" rtlCol="0" anchor="ctr"/>
          <a:lstStyle/>
          <a:p>
            <a:pPr algn="ctr" indent="0" marL="0">
              <a:buNone/>
            </a:pPr>
            <a:r>
              <a:rPr lang="en-US" sz="1050" dirty="0">
                <a:solidFill>
                  <a:srgbClr val="5A6B7C"/>
                </a:solidFill>
              </a:rPr>
              <a:t>Angle 3D</a:t>
            </a:r>
            <a:endParaRPr lang="en-US" sz="1050" dirty="0"/>
          </a:p>
        </p:txBody>
      </p:sp>
      <p:sp>
        <p:nvSpPr>
          <p:cNvPr id="50" name="Shape 48"/>
          <p:cNvSpPr/>
          <p:nvPr/>
        </p:nvSpPr>
        <p:spPr>
          <a:xfrm>
            <a:off x="2148840" y="2852928"/>
            <a:ext cx="1554480" cy="640080"/>
          </a:xfrm>
          <a:prstGeom prst="rect">
            <a:avLst/>
          </a:prstGeom>
          <a:solidFill>
            <a:srgbClr val="FFFFFF"/>
          </a:solidFill>
          <a:ln w="12700">
            <a:solidFill>
              <a:srgbClr val="E2E8F0"/>
            </a:solidFill>
            <a:prstDash val="solid"/>
          </a:ln>
        </p:spPr>
      </p:sp>
      <p:sp>
        <p:nvSpPr>
          <p:cNvPr id="51" name="Text 49"/>
          <p:cNvSpPr/>
          <p:nvPr/>
        </p:nvSpPr>
        <p:spPr>
          <a:xfrm>
            <a:off x="2203704" y="3017520"/>
            <a:ext cx="1463040" cy="0"/>
          </a:xfrm>
          <a:prstGeom prst="rect">
            <a:avLst/>
          </a:prstGeom>
          <a:noFill/>
          <a:ln/>
        </p:spPr>
        <p:txBody>
          <a:bodyPr wrap="square" rtlCol="0" anchor="ctr"/>
          <a:lstStyle/>
          <a:p>
            <a:pPr algn="ctr" indent="0" marL="0">
              <a:buNone/>
            </a:pPr>
            <a:r>
              <a:rPr lang="en-US" sz="1050" dirty="0">
                <a:solidFill>
                  <a:srgbClr val="5A6B7C"/>
                </a:solidFill>
              </a:rPr>
              <a:t>$29 – $199</a:t>
            </a:r>
            <a:endParaRPr lang="en-US" sz="1050" dirty="0"/>
          </a:p>
        </p:txBody>
      </p:sp>
      <p:sp>
        <p:nvSpPr>
          <p:cNvPr id="52" name="Shape 50"/>
          <p:cNvSpPr/>
          <p:nvPr/>
        </p:nvSpPr>
        <p:spPr>
          <a:xfrm>
            <a:off x="3703320" y="2852928"/>
            <a:ext cx="1280160" cy="640080"/>
          </a:xfrm>
          <a:prstGeom prst="rect">
            <a:avLst/>
          </a:prstGeom>
          <a:solidFill>
            <a:srgbClr val="FFFFFF"/>
          </a:solidFill>
          <a:ln w="12700">
            <a:solidFill>
              <a:srgbClr val="E2E8F0"/>
            </a:solidFill>
            <a:prstDash val="solid"/>
          </a:ln>
        </p:spPr>
      </p:sp>
      <p:sp>
        <p:nvSpPr>
          <p:cNvPr id="53" name="Text 51"/>
          <p:cNvSpPr/>
          <p:nvPr/>
        </p:nvSpPr>
        <p:spPr>
          <a:xfrm>
            <a:off x="3758184" y="3017520"/>
            <a:ext cx="1188720" cy="0"/>
          </a:xfrm>
          <a:prstGeom prst="rect">
            <a:avLst/>
          </a:prstGeom>
          <a:noFill/>
          <a:ln/>
        </p:spPr>
        <p:txBody>
          <a:bodyPr wrap="square" rtlCol="0" anchor="ctr"/>
          <a:lstStyle/>
          <a:p>
            <a:pPr algn="ctr" indent="0" marL="0">
              <a:buNone/>
            </a:pPr>
            <a:r>
              <a:rPr lang="en-US" sz="1050" dirty="0">
                <a:solidFill>
                  <a:srgbClr val="5A6B7C"/>
                </a:solidFill>
              </a:rPr>
              <a:t>Native</a:t>
            </a:r>
            <a:endParaRPr lang="en-US" sz="1050" dirty="0"/>
          </a:p>
        </p:txBody>
      </p:sp>
      <p:sp>
        <p:nvSpPr>
          <p:cNvPr id="54" name="Shape 52"/>
          <p:cNvSpPr/>
          <p:nvPr/>
        </p:nvSpPr>
        <p:spPr>
          <a:xfrm>
            <a:off x="4983480" y="2852928"/>
            <a:ext cx="1097280" cy="640080"/>
          </a:xfrm>
          <a:prstGeom prst="rect">
            <a:avLst/>
          </a:prstGeom>
          <a:solidFill>
            <a:srgbClr val="FFFFFF"/>
          </a:solidFill>
          <a:ln w="12700">
            <a:solidFill>
              <a:srgbClr val="E2E8F0"/>
            </a:solidFill>
            <a:prstDash val="solid"/>
          </a:ln>
        </p:spPr>
      </p:sp>
      <p:sp>
        <p:nvSpPr>
          <p:cNvPr id="55" name="Text 53"/>
          <p:cNvSpPr/>
          <p:nvPr/>
        </p:nvSpPr>
        <p:spPr>
          <a:xfrm>
            <a:off x="5038344" y="3017520"/>
            <a:ext cx="1005840" cy="0"/>
          </a:xfrm>
          <a:prstGeom prst="rect">
            <a:avLst/>
          </a:prstGeom>
          <a:noFill/>
          <a:ln/>
        </p:spPr>
        <p:txBody>
          <a:bodyPr wrap="square" rtlCol="0" anchor="ctr"/>
          <a:lstStyle/>
          <a:p>
            <a:pPr algn="ctr" indent="0" marL="0">
              <a:buNone/>
            </a:pPr>
            <a:r>
              <a:rPr lang="en-US" sz="1050" dirty="0">
                <a:solidFill>
                  <a:srgbClr val="5A6B7C"/>
                </a:solidFill>
              </a:rPr>
              <a:t>Yes</a:t>
            </a:r>
            <a:endParaRPr lang="en-US" sz="1050" dirty="0"/>
          </a:p>
        </p:txBody>
      </p:sp>
      <p:sp>
        <p:nvSpPr>
          <p:cNvPr id="56" name="Shape 54"/>
          <p:cNvSpPr/>
          <p:nvPr/>
        </p:nvSpPr>
        <p:spPr>
          <a:xfrm>
            <a:off x="6080760" y="2852928"/>
            <a:ext cx="1463040" cy="640080"/>
          </a:xfrm>
          <a:prstGeom prst="rect">
            <a:avLst/>
          </a:prstGeom>
          <a:solidFill>
            <a:srgbClr val="FFFFFF"/>
          </a:solidFill>
          <a:ln w="12700">
            <a:solidFill>
              <a:srgbClr val="E2E8F0"/>
            </a:solidFill>
            <a:prstDash val="solid"/>
          </a:ln>
        </p:spPr>
      </p:sp>
      <p:sp>
        <p:nvSpPr>
          <p:cNvPr id="57" name="Text 55"/>
          <p:cNvSpPr/>
          <p:nvPr/>
        </p:nvSpPr>
        <p:spPr>
          <a:xfrm>
            <a:off x="6135624" y="3017520"/>
            <a:ext cx="137160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58" name="Shape 56"/>
          <p:cNvSpPr/>
          <p:nvPr/>
        </p:nvSpPr>
        <p:spPr>
          <a:xfrm>
            <a:off x="7543800" y="2852928"/>
            <a:ext cx="1371600" cy="640080"/>
          </a:xfrm>
          <a:prstGeom prst="rect">
            <a:avLst/>
          </a:prstGeom>
          <a:solidFill>
            <a:srgbClr val="FFFFFF"/>
          </a:solidFill>
          <a:ln w="12700">
            <a:solidFill>
              <a:srgbClr val="E2E8F0"/>
            </a:solidFill>
            <a:prstDash val="solid"/>
          </a:ln>
        </p:spPr>
      </p:sp>
      <p:sp>
        <p:nvSpPr>
          <p:cNvPr id="59" name="Text 57"/>
          <p:cNvSpPr/>
          <p:nvPr/>
        </p:nvSpPr>
        <p:spPr>
          <a:xfrm>
            <a:off x="7598664" y="3017520"/>
            <a:ext cx="128016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60" name="Shape 58"/>
          <p:cNvSpPr/>
          <p:nvPr/>
        </p:nvSpPr>
        <p:spPr>
          <a:xfrm>
            <a:off x="8915400" y="2852928"/>
            <a:ext cx="2194560" cy="640080"/>
          </a:xfrm>
          <a:prstGeom prst="rect">
            <a:avLst/>
          </a:prstGeom>
          <a:solidFill>
            <a:srgbClr val="FFFFFF"/>
          </a:solidFill>
          <a:ln w="12700">
            <a:solidFill>
              <a:srgbClr val="E2E8F0"/>
            </a:solidFill>
            <a:prstDash val="solid"/>
          </a:ln>
        </p:spPr>
      </p:sp>
      <p:sp>
        <p:nvSpPr>
          <p:cNvPr id="61" name="Text 59"/>
          <p:cNvSpPr/>
          <p:nvPr/>
        </p:nvSpPr>
        <p:spPr>
          <a:xfrm>
            <a:off x="8970264" y="3017520"/>
            <a:ext cx="2103120" cy="0"/>
          </a:xfrm>
          <a:prstGeom prst="rect">
            <a:avLst/>
          </a:prstGeom>
          <a:noFill/>
          <a:ln/>
        </p:spPr>
        <p:txBody>
          <a:bodyPr wrap="square" rtlCol="0" anchor="ctr"/>
          <a:lstStyle/>
          <a:p>
            <a:pPr algn="ctr" indent="0" marL="0">
              <a:buNone/>
            </a:pPr>
            <a:r>
              <a:rPr lang="en-US" sz="1050" dirty="0">
                <a:solidFill>
                  <a:srgbClr val="5A6B7C"/>
                </a:solidFill>
              </a:rPr>
              <a:t>Small Boutiques</a:t>
            </a:r>
            <a:endParaRPr lang="en-US" sz="1050" dirty="0"/>
          </a:p>
        </p:txBody>
      </p:sp>
      <p:sp>
        <p:nvSpPr>
          <p:cNvPr id="62" name="Shape 60"/>
          <p:cNvSpPr/>
          <p:nvPr/>
        </p:nvSpPr>
        <p:spPr>
          <a:xfrm>
            <a:off x="320040" y="3511296"/>
            <a:ext cx="1828800" cy="640080"/>
          </a:xfrm>
          <a:prstGeom prst="rect">
            <a:avLst/>
          </a:prstGeom>
          <a:solidFill>
            <a:srgbClr val="F5F5F7"/>
          </a:solidFill>
          <a:ln w="12700">
            <a:solidFill>
              <a:srgbClr val="E2E8F0"/>
            </a:solidFill>
            <a:prstDash val="solid"/>
          </a:ln>
        </p:spPr>
      </p:sp>
      <p:sp>
        <p:nvSpPr>
          <p:cNvPr id="63" name="Text 61"/>
          <p:cNvSpPr/>
          <p:nvPr/>
        </p:nvSpPr>
        <p:spPr>
          <a:xfrm>
            <a:off x="374904" y="3675888"/>
            <a:ext cx="1737360" cy="0"/>
          </a:xfrm>
          <a:prstGeom prst="rect">
            <a:avLst/>
          </a:prstGeom>
          <a:noFill/>
          <a:ln/>
        </p:spPr>
        <p:txBody>
          <a:bodyPr wrap="square" rtlCol="0" anchor="ctr"/>
          <a:lstStyle/>
          <a:p>
            <a:pPr algn="ctr" indent="0" marL="0">
              <a:buNone/>
            </a:pPr>
            <a:r>
              <a:rPr lang="en-US" sz="1050" dirty="0">
                <a:solidFill>
                  <a:srgbClr val="5A6B7C"/>
                </a:solidFill>
              </a:rPr>
              <a:t>Mimeeq</a:t>
            </a:r>
            <a:endParaRPr lang="en-US" sz="1050" dirty="0"/>
          </a:p>
        </p:txBody>
      </p:sp>
      <p:sp>
        <p:nvSpPr>
          <p:cNvPr id="64" name="Shape 62"/>
          <p:cNvSpPr/>
          <p:nvPr/>
        </p:nvSpPr>
        <p:spPr>
          <a:xfrm>
            <a:off x="2148840" y="3511296"/>
            <a:ext cx="1554480" cy="640080"/>
          </a:xfrm>
          <a:prstGeom prst="rect">
            <a:avLst/>
          </a:prstGeom>
          <a:solidFill>
            <a:srgbClr val="F5F5F7"/>
          </a:solidFill>
          <a:ln w="12700">
            <a:solidFill>
              <a:srgbClr val="E2E8F0"/>
            </a:solidFill>
            <a:prstDash val="solid"/>
          </a:ln>
        </p:spPr>
      </p:sp>
      <p:sp>
        <p:nvSpPr>
          <p:cNvPr id="65" name="Text 63"/>
          <p:cNvSpPr/>
          <p:nvPr/>
        </p:nvSpPr>
        <p:spPr>
          <a:xfrm>
            <a:off x="2203704" y="3675888"/>
            <a:ext cx="1463040" cy="0"/>
          </a:xfrm>
          <a:prstGeom prst="rect">
            <a:avLst/>
          </a:prstGeom>
          <a:noFill/>
          <a:ln/>
        </p:spPr>
        <p:txBody>
          <a:bodyPr wrap="square" rtlCol="0" anchor="ctr"/>
          <a:lstStyle/>
          <a:p>
            <a:pPr algn="ctr" indent="0" marL="0">
              <a:buNone/>
            </a:pPr>
            <a:r>
              <a:rPr lang="en-US" sz="1050" dirty="0">
                <a:solidFill>
                  <a:srgbClr val="5A6B7C"/>
                </a:solidFill>
              </a:rPr>
              <a:t>$499+</a:t>
            </a:r>
            <a:endParaRPr lang="en-US" sz="1050" dirty="0"/>
          </a:p>
        </p:txBody>
      </p:sp>
      <p:sp>
        <p:nvSpPr>
          <p:cNvPr id="66" name="Shape 64"/>
          <p:cNvSpPr/>
          <p:nvPr/>
        </p:nvSpPr>
        <p:spPr>
          <a:xfrm>
            <a:off x="3703320" y="3511296"/>
            <a:ext cx="1280160" cy="640080"/>
          </a:xfrm>
          <a:prstGeom prst="rect">
            <a:avLst/>
          </a:prstGeom>
          <a:solidFill>
            <a:srgbClr val="F5F5F7"/>
          </a:solidFill>
          <a:ln w="12700">
            <a:solidFill>
              <a:srgbClr val="E2E8F0"/>
            </a:solidFill>
            <a:prstDash val="solid"/>
          </a:ln>
        </p:spPr>
      </p:sp>
      <p:sp>
        <p:nvSpPr>
          <p:cNvPr id="67" name="Text 65"/>
          <p:cNvSpPr/>
          <p:nvPr/>
        </p:nvSpPr>
        <p:spPr>
          <a:xfrm>
            <a:off x="3758184" y="3675888"/>
            <a:ext cx="1188720" cy="0"/>
          </a:xfrm>
          <a:prstGeom prst="rect">
            <a:avLst/>
          </a:prstGeom>
          <a:noFill/>
          <a:ln/>
        </p:spPr>
        <p:txBody>
          <a:bodyPr wrap="square" rtlCol="0" anchor="ctr"/>
          <a:lstStyle/>
          <a:p>
            <a:pPr algn="ctr" indent="0" marL="0">
              <a:buNone/>
            </a:pPr>
            <a:r>
              <a:rPr lang="en-US" sz="1050" dirty="0">
                <a:solidFill>
                  <a:srgbClr val="5A6B7C"/>
                </a:solidFill>
              </a:rPr>
              <a:t>Native</a:t>
            </a:r>
            <a:endParaRPr lang="en-US" sz="1050" dirty="0"/>
          </a:p>
        </p:txBody>
      </p:sp>
      <p:sp>
        <p:nvSpPr>
          <p:cNvPr id="68" name="Shape 66"/>
          <p:cNvSpPr/>
          <p:nvPr/>
        </p:nvSpPr>
        <p:spPr>
          <a:xfrm>
            <a:off x="4983480" y="3511296"/>
            <a:ext cx="1097280" cy="640080"/>
          </a:xfrm>
          <a:prstGeom prst="rect">
            <a:avLst/>
          </a:prstGeom>
          <a:solidFill>
            <a:srgbClr val="F5F5F7"/>
          </a:solidFill>
          <a:ln w="12700">
            <a:solidFill>
              <a:srgbClr val="E2E8F0"/>
            </a:solidFill>
            <a:prstDash val="solid"/>
          </a:ln>
        </p:spPr>
      </p:sp>
      <p:sp>
        <p:nvSpPr>
          <p:cNvPr id="69" name="Text 67"/>
          <p:cNvSpPr/>
          <p:nvPr/>
        </p:nvSpPr>
        <p:spPr>
          <a:xfrm>
            <a:off x="5038344" y="3675888"/>
            <a:ext cx="1005840" cy="0"/>
          </a:xfrm>
          <a:prstGeom prst="rect">
            <a:avLst/>
          </a:prstGeom>
          <a:noFill/>
          <a:ln/>
        </p:spPr>
        <p:txBody>
          <a:bodyPr wrap="square" rtlCol="0" anchor="ctr"/>
          <a:lstStyle/>
          <a:p>
            <a:pPr algn="ctr" indent="0" marL="0">
              <a:buNone/>
            </a:pPr>
            <a:r>
              <a:rPr lang="en-US" sz="1050" dirty="0">
                <a:solidFill>
                  <a:srgbClr val="5A6B7C"/>
                </a:solidFill>
              </a:rPr>
              <a:t>Limited</a:t>
            </a:r>
            <a:endParaRPr lang="en-US" sz="1050" dirty="0"/>
          </a:p>
        </p:txBody>
      </p:sp>
      <p:sp>
        <p:nvSpPr>
          <p:cNvPr id="70" name="Shape 68"/>
          <p:cNvSpPr/>
          <p:nvPr/>
        </p:nvSpPr>
        <p:spPr>
          <a:xfrm>
            <a:off x="6080760" y="3511296"/>
            <a:ext cx="1463040" cy="640080"/>
          </a:xfrm>
          <a:prstGeom prst="rect">
            <a:avLst/>
          </a:prstGeom>
          <a:solidFill>
            <a:srgbClr val="F5F5F7"/>
          </a:solidFill>
          <a:ln w="12700">
            <a:solidFill>
              <a:srgbClr val="E2E8F0"/>
            </a:solidFill>
            <a:prstDash val="solid"/>
          </a:ln>
        </p:spPr>
      </p:sp>
      <p:sp>
        <p:nvSpPr>
          <p:cNvPr id="71" name="Text 69"/>
          <p:cNvSpPr/>
          <p:nvPr/>
        </p:nvSpPr>
        <p:spPr>
          <a:xfrm>
            <a:off x="6135624" y="3675888"/>
            <a:ext cx="137160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72" name="Shape 70"/>
          <p:cNvSpPr/>
          <p:nvPr/>
        </p:nvSpPr>
        <p:spPr>
          <a:xfrm>
            <a:off x="7543800" y="3511296"/>
            <a:ext cx="1371600" cy="640080"/>
          </a:xfrm>
          <a:prstGeom prst="rect">
            <a:avLst/>
          </a:prstGeom>
          <a:solidFill>
            <a:srgbClr val="F5F5F7"/>
          </a:solidFill>
          <a:ln w="12700">
            <a:solidFill>
              <a:srgbClr val="E2E8F0"/>
            </a:solidFill>
            <a:prstDash val="solid"/>
          </a:ln>
        </p:spPr>
      </p:sp>
      <p:sp>
        <p:nvSpPr>
          <p:cNvPr id="73" name="Text 71"/>
          <p:cNvSpPr/>
          <p:nvPr/>
        </p:nvSpPr>
        <p:spPr>
          <a:xfrm>
            <a:off x="7598664" y="3675888"/>
            <a:ext cx="128016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74" name="Shape 72"/>
          <p:cNvSpPr/>
          <p:nvPr/>
        </p:nvSpPr>
        <p:spPr>
          <a:xfrm>
            <a:off x="8915400" y="3511296"/>
            <a:ext cx="2194560" cy="640080"/>
          </a:xfrm>
          <a:prstGeom prst="rect">
            <a:avLst/>
          </a:prstGeom>
          <a:solidFill>
            <a:srgbClr val="F5F5F7"/>
          </a:solidFill>
          <a:ln w="12700">
            <a:solidFill>
              <a:srgbClr val="E2E8F0"/>
            </a:solidFill>
            <a:prstDash val="solid"/>
          </a:ln>
        </p:spPr>
      </p:sp>
      <p:sp>
        <p:nvSpPr>
          <p:cNvPr id="75" name="Text 73"/>
          <p:cNvSpPr/>
          <p:nvPr/>
        </p:nvSpPr>
        <p:spPr>
          <a:xfrm>
            <a:off x="8970264" y="3675888"/>
            <a:ext cx="2103120" cy="0"/>
          </a:xfrm>
          <a:prstGeom prst="rect">
            <a:avLst/>
          </a:prstGeom>
          <a:noFill/>
          <a:ln/>
        </p:spPr>
        <p:txBody>
          <a:bodyPr wrap="square" rtlCol="0" anchor="ctr"/>
          <a:lstStyle/>
          <a:p>
            <a:pPr algn="ctr" indent="0" marL="0">
              <a:buNone/>
            </a:pPr>
            <a:r>
              <a:rPr lang="en-US" sz="1050" dirty="0">
                <a:solidFill>
                  <a:srgbClr val="5A6B7C"/>
                </a:solidFill>
              </a:rPr>
              <a:t>Furniture Brands</a:t>
            </a:r>
            <a:endParaRPr lang="en-US" sz="1050" dirty="0"/>
          </a:p>
        </p:txBody>
      </p:sp>
      <p:sp>
        <p:nvSpPr>
          <p:cNvPr id="76" name="Shape 74"/>
          <p:cNvSpPr/>
          <p:nvPr/>
        </p:nvSpPr>
        <p:spPr>
          <a:xfrm>
            <a:off x="320040" y="4169664"/>
            <a:ext cx="1828800" cy="640080"/>
          </a:xfrm>
          <a:prstGeom prst="rect">
            <a:avLst/>
          </a:prstGeom>
          <a:solidFill>
            <a:srgbClr val="FFFFFF"/>
          </a:solidFill>
          <a:ln w="12700">
            <a:solidFill>
              <a:srgbClr val="E2E8F0"/>
            </a:solidFill>
            <a:prstDash val="solid"/>
          </a:ln>
        </p:spPr>
      </p:sp>
      <p:sp>
        <p:nvSpPr>
          <p:cNvPr id="77" name="Text 75"/>
          <p:cNvSpPr/>
          <p:nvPr/>
        </p:nvSpPr>
        <p:spPr>
          <a:xfrm>
            <a:off x="374904" y="4334256"/>
            <a:ext cx="1737360" cy="0"/>
          </a:xfrm>
          <a:prstGeom prst="rect">
            <a:avLst/>
          </a:prstGeom>
          <a:noFill/>
          <a:ln/>
        </p:spPr>
        <p:txBody>
          <a:bodyPr wrap="square" rtlCol="0" anchor="ctr"/>
          <a:lstStyle/>
          <a:p>
            <a:pPr algn="ctr" indent="0" marL="0">
              <a:buNone/>
            </a:pPr>
            <a:r>
              <a:rPr lang="en-US" sz="1050" dirty="0">
                <a:solidFill>
                  <a:srgbClr val="5A6B7C"/>
                </a:solidFill>
              </a:rPr>
              <a:t>Sketchfab</a:t>
            </a:r>
            <a:endParaRPr lang="en-US" sz="1050" dirty="0"/>
          </a:p>
        </p:txBody>
      </p:sp>
      <p:sp>
        <p:nvSpPr>
          <p:cNvPr id="78" name="Shape 76"/>
          <p:cNvSpPr/>
          <p:nvPr/>
        </p:nvSpPr>
        <p:spPr>
          <a:xfrm>
            <a:off x="2148840" y="4169664"/>
            <a:ext cx="1554480" cy="640080"/>
          </a:xfrm>
          <a:prstGeom prst="rect">
            <a:avLst/>
          </a:prstGeom>
          <a:solidFill>
            <a:srgbClr val="FFFFFF"/>
          </a:solidFill>
          <a:ln w="12700">
            <a:solidFill>
              <a:srgbClr val="E2E8F0"/>
            </a:solidFill>
            <a:prstDash val="solid"/>
          </a:ln>
        </p:spPr>
      </p:sp>
      <p:sp>
        <p:nvSpPr>
          <p:cNvPr id="79" name="Text 77"/>
          <p:cNvSpPr/>
          <p:nvPr/>
        </p:nvSpPr>
        <p:spPr>
          <a:xfrm>
            <a:off x="2203704" y="4334256"/>
            <a:ext cx="1463040" cy="0"/>
          </a:xfrm>
          <a:prstGeom prst="rect">
            <a:avLst/>
          </a:prstGeom>
          <a:noFill/>
          <a:ln/>
        </p:spPr>
        <p:txBody>
          <a:bodyPr wrap="square" rtlCol="0" anchor="ctr"/>
          <a:lstStyle/>
          <a:p>
            <a:pPr algn="ctr" indent="0" marL="0">
              <a:buNone/>
            </a:pPr>
            <a:r>
              <a:rPr lang="en-US" sz="1050" dirty="0">
                <a:solidFill>
                  <a:srgbClr val="5A6B7C"/>
                </a:solidFill>
              </a:rPr>
              <a:t>$80 – $900</a:t>
            </a:r>
            <a:endParaRPr lang="en-US" sz="1050" dirty="0"/>
          </a:p>
        </p:txBody>
      </p:sp>
      <p:sp>
        <p:nvSpPr>
          <p:cNvPr id="80" name="Shape 78"/>
          <p:cNvSpPr/>
          <p:nvPr/>
        </p:nvSpPr>
        <p:spPr>
          <a:xfrm>
            <a:off x="3703320" y="4169664"/>
            <a:ext cx="1280160" cy="640080"/>
          </a:xfrm>
          <a:prstGeom prst="rect">
            <a:avLst/>
          </a:prstGeom>
          <a:solidFill>
            <a:srgbClr val="FFFFFF"/>
          </a:solidFill>
          <a:ln w="12700">
            <a:solidFill>
              <a:srgbClr val="E2E8F0"/>
            </a:solidFill>
            <a:prstDash val="solid"/>
          </a:ln>
        </p:spPr>
      </p:sp>
      <p:sp>
        <p:nvSpPr>
          <p:cNvPr id="81" name="Text 79"/>
          <p:cNvSpPr/>
          <p:nvPr/>
        </p:nvSpPr>
        <p:spPr>
          <a:xfrm>
            <a:off x="3758184" y="4334256"/>
            <a:ext cx="118872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82" name="Shape 80"/>
          <p:cNvSpPr/>
          <p:nvPr/>
        </p:nvSpPr>
        <p:spPr>
          <a:xfrm>
            <a:off x="4983480" y="4169664"/>
            <a:ext cx="1097280" cy="640080"/>
          </a:xfrm>
          <a:prstGeom prst="rect">
            <a:avLst/>
          </a:prstGeom>
          <a:solidFill>
            <a:srgbClr val="FFFFFF"/>
          </a:solidFill>
          <a:ln w="12700">
            <a:solidFill>
              <a:srgbClr val="E2E8F0"/>
            </a:solidFill>
            <a:prstDash val="solid"/>
          </a:ln>
        </p:spPr>
      </p:sp>
      <p:sp>
        <p:nvSpPr>
          <p:cNvPr id="83" name="Text 81"/>
          <p:cNvSpPr/>
          <p:nvPr/>
        </p:nvSpPr>
        <p:spPr>
          <a:xfrm>
            <a:off x="5038344" y="4334256"/>
            <a:ext cx="1005840" cy="0"/>
          </a:xfrm>
          <a:prstGeom prst="rect">
            <a:avLst/>
          </a:prstGeom>
          <a:noFill/>
          <a:ln/>
        </p:spPr>
        <p:txBody>
          <a:bodyPr wrap="square" rtlCol="0" anchor="ctr"/>
          <a:lstStyle/>
          <a:p>
            <a:pPr algn="ctr" indent="0" marL="0">
              <a:buNone/>
            </a:pPr>
            <a:r>
              <a:rPr lang="en-US" sz="1050" dirty="0">
                <a:solidFill>
                  <a:srgbClr val="5A6B7C"/>
                </a:solidFill>
              </a:rPr>
              <a:t>Yes</a:t>
            </a:r>
            <a:endParaRPr lang="en-US" sz="1050" dirty="0"/>
          </a:p>
        </p:txBody>
      </p:sp>
      <p:sp>
        <p:nvSpPr>
          <p:cNvPr id="84" name="Shape 82"/>
          <p:cNvSpPr/>
          <p:nvPr/>
        </p:nvSpPr>
        <p:spPr>
          <a:xfrm>
            <a:off x="6080760" y="4169664"/>
            <a:ext cx="1463040" cy="640080"/>
          </a:xfrm>
          <a:prstGeom prst="rect">
            <a:avLst/>
          </a:prstGeom>
          <a:solidFill>
            <a:srgbClr val="FFFFFF"/>
          </a:solidFill>
          <a:ln w="12700">
            <a:solidFill>
              <a:srgbClr val="E2E8F0"/>
            </a:solidFill>
            <a:prstDash val="solid"/>
          </a:ln>
        </p:spPr>
      </p:sp>
      <p:sp>
        <p:nvSpPr>
          <p:cNvPr id="85" name="Text 83"/>
          <p:cNvSpPr/>
          <p:nvPr/>
        </p:nvSpPr>
        <p:spPr>
          <a:xfrm>
            <a:off x="6135624" y="4334256"/>
            <a:ext cx="137160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86" name="Shape 84"/>
          <p:cNvSpPr/>
          <p:nvPr/>
        </p:nvSpPr>
        <p:spPr>
          <a:xfrm>
            <a:off x="7543800" y="4169664"/>
            <a:ext cx="1371600" cy="640080"/>
          </a:xfrm>
          <a:prstGeom prst="rect">
            <a:avLst/>
          </a:prstGeom>
          <a:solidFill>
            <a:srgbClr val="FFFFFF"/>
          </a:solidFill>
          <a:ln w="12700">
            <a:solidFill>
              <a:srgbClr val="E2E8F0"/>
            </a:solidFill>
            <a:prstDash val="solid"/>
          </a:ln>
        </p:spPr>
      </p:sp>
      <p:sp>
        <p:nvSpPr>
          <p:cNvPr id="87" name="Text 85"/>
          <p:cNvSpPr/>
          <p:nvPr/>
        </p:nvSpPr>
        <p:spPr>
          <a:xfrm>
            <a:off x="7598664" y="4334256"/>
            <a:ext cx="1280160" cy="0"/>
          </a:xfrm>
          <a:prstGeom prst="rect">
            <a:avLst/>
          </a:prstGeom>
          <a:noFill/>
          <a:ln/>
        </p:spPr>
        <p:txBody>
          <a:bodyPr wrap="square" rtlCol="0" anchor="ctr"/>
          <a:lstStyle/>
          <a:p>
            <a:pPr algn="ctr" indent="0" marL="0">
              <a:buNone/>
            </a:pPr>
            <a:r>
              <a:rPr lang="en-US" sz="1050" dirty="0">
                <a:solidFill>
                  <a:srgbClr val="5A6B7C"/>
                </a:solidFill>
              </a:rPr>
              <a:t>None</a:t>
            </a:r>
            <a:endParaRPr lang="en-US" sz="1050" dirty="0"/>
          </a:p>
        </p:txBody>
      </p:sp>
      <p:sp>
        <p:nvSpPr>
          <p:cNvPr id="88" name="Shape 86"/>
          <p:cNvSpPr/>
          <p:nvPr/>
        </p:nvSpPr>
        <p:spPr>
          <a:xfrm>
            <a:off x="8915400" y="4169664"/>
            <a:ext cx="2194560" cy="640080"/>
          </a:xfrm>
          <a:prstGeom prst="rect">
            <a:avLst/>
          </a:prstGeom>
          <a:solidFill>
            <a:srgbClr val="FFFFFF"/>
          </a:solidFill>
          <a:ln w="12700">
            <a:solidFill>
              <a:srgbClr val="E2E8F0"/>
            </a:solidFill>
            <a:prstDash val="solid"/>
          </a:ln>
        </p:spPr>
      </p:sp>
      <p:sp>
        <p:nvSpPr>
          <p:cNvPr id="89" name="Text 87"/>
          <p:cNvSpPr/>
          <p:nvPr/>
        </p:nvSpPr>
        <p:spPr>
          <a:xfrm>
            <a:off x="8970264" y="4334256"/>
            <a:ext cx="2103120" cy="0"/>
          </a:xfrm>
          <a:prstGeom prst="rect">
            <a:avLst/>
          </a:prstGeom>
          <a:noFill/>
          <a:ln/>
        </p:spPr>
        <p:txBody>
          <a:bodyPr wrap="square" rtlCol="0" anchor="ctr"/>
          <a:lstStyle/>
          <a:p>
            <a:pPr algn="ctr" indent="0" marL="0">
              <a:buNone/>
            </a:pPr>
            <a:r>
              <a:rPr lang="en-US" sz="1050" dirty="0">
                <a:solidFill>
                  <a:srgbClr val="5A6B7C"/>
                </a:solidFill>
              </a:rPr>
              <a:t>3D Asset Showcase</a:t>
            </a:r>
            <a:endParaRPr lang="en-US" sz="1050" dirty="0"/>
          </a:p>
        </p:txBody>
      </p:sp>
      <p:sp>
        <p:nvSpPr>
          <p:cNvPr id="90" name="Shape 88"/>
          <p:cNvSpPr/>
          <p:nvPr/>
        </p:nvSpPr>
        <p:spPr>
          <a:xfrm>
            <a:off x="320040" y="4828032"/>
            <a:ext cx="1828800" cy="640080"/>
          </a:xfrm>
          <a:prstGeom prst="rect">
            <a:avLst/>
          </a:prstGeom>
          <a:solidFill>
            <a:srgbClr val="EDF2F7"/>
          </a:solidFill>
          <a:ln w="12700">
            <a:solidFill>
              <a:srgbClr val="9D2706"/>
            </a:solidFill>
            <a:prstDash val="solid"/>
          </a:ln>
        </p:spPr>
      </p:sp>
      <p:sp>
        <p:nvSpPr>
          <p:cNvPr id="91" name="Text 89"/>
          <p:cNvSpPr/>
          <p:nvPr/>
        </p:nvSpPr>
        <p:spPr>
          <a:xfrm>
            <a:off x="374904" y="4992624"/>
            <a:ext cx="1737360" cy="0"/>
          </a:xfrm>
          <a:prstGeom prst="rect">
            <a:avLst/>
          </a:prstGeom>
          <a:noFill/>
          <a:ln/>
        </p:spPr>
        <p:txBody>
          <a:bodyPr wrap="square" rtlCol="0" anchor="ctr"/>
          <a:lstStyle/>
          <a:p>
            <a:pPr algn="ctr" indent="0" marL="0">
              <a:buNone/>
            </a:pPr>
            <a:r>
              <a:rPr lang="en-US" sz="1100" b="1" dirty="0">
                <a:solidFill>
                  <a:srgbClr val="9D2706"/>
                </a:solidFill>
              </a:rPr>
              <a:t>COGNAQ</a:t>
            </a:r>
            <a:endParaRPr lang="en-US" sz="1100" dirty="0"/>
          </a:p>
        </p:txBody>
      </p:sp>
      <p:sp>
        <p:nvSpPr>
          <p:cNvPr id="92" name="Shape 90"/>
          <p:cNvSpPr/>
          <p:nvPr/>
        </p:nvSpPr>
        <p:spPr>
          <a:xfrm>
            <a:off x="2148840" y="4828032"/>
            <a:ext cx="1554480" cy="640080"/>
          </a:xfrm>
          <a:prstGeom prst="rect">
            <a:avLst/>
          </a:prstGeom>
          <a:solidFill>
            <a:srgbClr val="EDF2F7"/>
          </a:solidFill>
          <a:ln w="12700">
            <a:solidFill>
              <a:srgbClr val="9D2706"/>
            </a:solidFill>
            <a:prstDash val="solid"/>
          </a:ln>
        </p:spPr>
      </p:sp>
      <p:sp>
        <p:nvSpPr>
          <p:cNvPr id="93" name="Text 91"/>
          <p:cNvSpPr/>
          <p:nvPr/>
        </p:nvSpPr>
        <p:spPr>
          <a:xfrm>
            <a:off x="2203704" y="4992624"/>
            <a:ext cx="1463040" cy="0"/>
          </a:xfrm>
          <a:prstGeom prst="rect">
            <a:avLst/>
          </a:prstGeom>
          <a:noFill/>
          <a:ln/>
        </p:spPr>
        <p:txBody>
          <a:bodyPr wrap="square" rtlCol="0" anchor="ctr"/>
          <a:lstStyle/>
          <a:p>
            <a:pPr algn="ctr" indent="0" marL="0">
              <a:buNone/>
            </a:pPr>
            <a:r>
              <a:rPr lang="en-US" sz="1100" b="1" dirty="0">
                <a:solidFill>
                  <a:srgbClr val="2C3E50"/>
                </a:solidFill>
              </a:rPr>
              <a:t>Affordable</a:t>
            </a:r>
            <a:endParaRPr lang="en-US" sz="1100" dirty="0"/>
          </a:p>
        </p:txBody>
      </p:sp>
      <p:sp>
        <p:nvSpPr>
          <p:cNvPr id="94" name="Shape 92"/>
          <p:cNvSpPr/>
          <p:nvPr/>
        </p:nvSpPr>
        <p:spPr>
          <a:xfrm>
            <a:off x="3703320" y="4828032"/>
            <a:ext cx="1280160" cy="640080"/>
          </a:xfrm>
          <a:prstGeom prst="rect">
            <a:avLst/>
          </a:prstGeom>
          <a:solidFill>
            <a:srgbClr val="EDF2F7"/>
          </a:solidFill>
          <a:ln w="12700">
            <a:solidFill>
              <a:srgbClr val="9D2706"/>
            </a:solidFill>
            <a:prstDash val="solid"/>
          </a:ln>
        </p:spPr>
      </p:sp>
      <p:sp>
        <p:nvSpPr>
          <p:cNvPr id="95" name="Text 93"/>
          <p:cNvSpPr/>
          <p:nvPr/>
        </p:nvSpPr>
        <p:spPr>
          <a:xfrm>
            <a:off x="3758184" y="4992624"/>
            <a:ext cx="1188720" cy="0"/>
          </a:xfrm>
          <a:prstGeom prst="rect">
            <a:avLst/>
          </a:prstGeom>
          <a:noFill/>
          <a:ln/>
        </p:spPr>
        <p:txBody>
          <a:bodyPr wrap="square" rtlCol="0" anchor="ctr"/>
          <a:lstStyle/>
          <a:p>
            <a:pPr algn="ctr" indent="0" marL="0">
              <a:buNone/>
            </a:pPr>
            <a:r>
              <a:rPr lang="en-US" sz="1100" b="1" dirty="0">
                <a:solidFill>
                  <a:srgbClr val="2C3E50"/>
                </a:solidFill>
              </a:rPr>
              <a:t>Native</a:t>
            </a:r>
            <a:endParaRPr lang="en-US" sz="1100" dirty="0"/>
          </a:p>
        </p:txBody>
      </p:sp>
      <p:sp>
        <p:nvSpPr>
          <p:cNvPr id="96" name="Shape 94"/>
          <p:cNvSpPr/>
          <p:nvPr/>
        </p:nvSpPr>
        <p:spPr>
          <a:xfrm>
            <a:off x="4983480" y="4828032"/>
            <a:ext cx="1097280" cy="640080"/>
          </a:xfrm>
          <a:prstGeom prst="rect">
            <a:avLst/>
          </a:prstGeom>
          <a:solidFill>
            <a:srgbClr val="EDF2F7"/>
          </a:solidFill>
          <a:ln w="12700">
            <a:solidFill>
              <a:srgbClr val="9D2706"/>
            </a:solidFill>
            <a:prstDash val="solid"/>
          </a:ln>
        </p:spPr>
      </p:sp>
      <p:sp>
        <p:nvSpPr>
          <p:cNvPr id="97" name="Text 95"/>
          <p:cNvSpPr/>
          <p:nvPr/>
        </p:nvSpPr>
        <p:spPr>
          <a:xfrm>
            <a:off x="5038344" y="4992624"/>
            <a:ext cx="1005840" cy="0"/>
          </a:xfrm>
          <a:prstGeom prst="rect">
            <a:avLst/>
          </a:prstGeom>
          <a:noFill/>
          <a:ln/>
        </p:spPr>
        <p:txBody>
          <a:bodyPr wrap="square" rtlCol="0" anchor="ctr"/>
          <a:lstStyle/>
          <a:p>
            <a:pPr algn="ctr" indent="0" marL="0">
              <a:buNone/>
            </a:pPr>
            <a:r>
              <a:rPr lang="en-US" sz="1100" b="1" dirty="0">
                <a:solidFill>
                  <a:srgbClr val="2C3E50"/>
                </a:solidFill>
              </a:rPr>
              <a:t>Full</a:t>
            </a:r>
            <a:endParaRPr lang="en-US" sz="1100" dirty="0"/>
          </a:p>
        </p:txBody>
      </p:sp>
      <p:sp>
        <p:nvSpPr>
          <p:cNvPr id="98" name="Shape 96"/>
          <p:cNvSpPr/>
          <p:nvPr/>
        </p:nvSpPr>
        <p:spPr>
          <a:xfrm>
            <a:off x="6080760" y="4828032"/>
            <a:ext cx="1463040" cy="640080"/>
          </a:xfrm>
          <a:prstGeom prst="rect">
            <a:avLst/>
          </a:prstGeom>
          <a:solidFill>
            <a:srgbClr val="EDF2F7"/>
          </a:solidFill>
          <a:ln w="12700">
            <a:solidFill>
              <a:srgbClr val="9D2706"/>
            </a:solidFill>
            <a:prstDash val="solid"/>
          </a:ln>
        </p:spPr>
      </p:sp>
      <p:sp>
        <p:nvSpPr>
          <p:cNvPr id="99" name="Text 97"/>
          <p:cNvSpPr/>
          <p:nvPr/>
        </p:nvSpPr>
        <p:spPr>
          <a:xfrm>
            <a:off x="6135624" y="4992624"/>
            <a:ext cx="1371600" cy="0"/>
          </a:xfrm>
          <a:prstGeom prst="rect">
            <a:avLst/>
          </a:prstGeom>
          <a:noFill/>
          <a:ln/>
        </p:spPr>
        <p:txBody>
          <a:bodyPr wrap="square" rtlCol="0" anchor="ctr"/>
          <a:lstStyle/>
          <a:p>
            <a:pPr algn="ctr" indent="0" marL="0">
              <a:buNone/>
            </a:pPr>
            <a:r>
              <a:rPr lang="en-US" sz="1100" b="1" dirty="0">
                <a:solidFill>
                  <a:srgbClr val="2C3E50"/>
                </a:solidFill>
              </a:rPr>
              <a:t>Full</a:t>
            </a:r>
            <a:endParaRPr lang="en-US" sz="1100" dirty="0"/>
          </a:p>
        </p:txBody>
      </p:sp>
      <p:sp>
        <p:nvSpPr>
          <p:cNvPr id="100" name="Shape 98"/>
          <p:cNvSpPr/>
          <p:nvPr/>
        </p:nvSpPr>
        <p:spPr>
          <a:xfrm>
            <a:off x="7543800" y="4828032"/>
            <a:ext cx="1371600" cy="640080"/>
          </a:xfrm>
          <a:prstGeom prst="rect">
            <a:avLst/>
          </a:prstGeom>
          <a:solidFill>
            <a:srgbClr val="EDF2F7"/>
          </a:solidFill>
          <a:ln w="12700">
            <a:solidFill>
              <a:srgbClr val="9D2706"/>
            </a:solidFill>
            <a:prstDash val="solid"/>
          </a:ln>
        </p:spPr>
      </p:sp>
      <p:sp>
        <p:nvSpPr>
          <p:cNvPr id="101" name="Text 99"/>
          <p:cNvSpPr/>
          <p:nvPr/>
        </p:nvSpPr>
        <p:spPr>
          <a:xfrm>
            <a:off x="7598664" y="4992624"/>
            <a:ext cx="1280160" cy="0"/>
          </a:xfrm>
          <a:prstGeom prst="rect">
            <a:avLst/>
          </a:prstGeom>
          <a:noFill/>
          <a:ln/>
        </p:spPr>
        <p:txBody>
          <a:bodyPr wrap="square" rtlCol="0" anchor="ctr"/>
          <a:lstStyle/>
          <a:p>
            <a:pPr algn="ctr" indent="0" marL="0">
              <a:buNone/>
            </a:pPr>
            <a:r>
              <a:rPr lang="en-US" sz="1100" b="1" dirty="0">
                <a:solidFill>
                  <a:srgbClr val="2C3E50"/>
                </a:solidFill>
              </a:rPr>
              <a:t>YES</a:t>
            </a:r>
            <a:endParaRPr lang="en-US" sz="1100" dirty="0"/>
          </a:p>
        </p:txBody>
      </p:sp>
      <p:sp>
        <p:nvSpPr>
          <p:cNvPr id="102" name="Shape 100"/>
          <p:cNvSpPr/>
          <p:nvPr/>
        </p:nvSpPr>
        <p:spPr>
          <a:xfrm>
            <a:off x="8915400" y="4828032"/>
            <a:ext cx="2194560" cy="640080"/>
          </a:xfrm>
          <a:prstGeom prst="rect">
            <a:avLst/>
          </a:prstGeom>
          <a:solidFill>
            <a:srgbClr val="EDF2F7"/>
          </a:solidFill>
          <a:ln w="12700">
            <a:solidFill>
              <a:srgbClr val="9D2706"/>
            </a:solidFill>
            <a:prstDash val="solid"/>
          </a:ln>
        </p:spPr>
      </p:sp>
      <p:sp>
        <p:nvSpPr>
          <p:cNvPr id="103" name="Text 101"/>
          <p:cNvSpPr/>
          <p:nvPr/>
        </p:nvSpPr>
        <p:spPr>
          <a:xfrm>
            <a:off x="8970264" y="4992624"/>
            <a:ext cx="2103120" cy="0"/>
          </a:xfrm>
          <a:prstGeom prst="rect">
            <a:avLst/>
          </a:prstGeom>
          <a:noFill/>
          <a:ln/>
        </p:spPr>
        <p:txBody>
          <a:bodyPr wrap="square" rtlCol="0" anchor="ctr"/>
          <a:lstStyle/>
          <a:p>
            <a:pPr algn="ctr" indent="0" marL="0">
              <a:buNone/>
            </a:pPr>
            <a:r>
              <a:rPr lang="en-US" sz="1100" b="1" dirty="0">
                <a:solidFill>
                  <a:srgbClr val="2C3E50"/>
                </a:solidFill>
              </a:rPr>
              <a:t>SMB to Mid-Market</a:t>
            </a:r>
            <a:endParaRPr lang="en-US" sz="1100" dirty="0"/>
          </a:p>
        </p:txBody>
      </p:sp>
      <p:sp>
        <p:nvSpPr>
          <p:cNvPr id="104" name="Shape 102"/>
          <p:cNvSpPr/>
          <p:nvPr/>
        </p:nvSpPr>
        <p:spPr>
          <a:xfrm>
            <a:off x="320040" y="6080760"/>
            <a:ext cx="11612880" cy="384048"/>
          </a:xfrm>
          <a:prstGeom prst="rect">
            <a:avLst/>
          </a:prstGeom>
          <a:solidFill>
            <a:srgbClr val="FFFFFF"/>
          </a:solidFill>
          <a:ln w="12700">
            <a:solidFill>
              <a:srgbClr val="9D2706"/>
            </a:solidFill>
            <a:prstDash val="solid"/>
          </a:ln>
        </p:spPr>
      </p:sp>
      <p:sp>
        <p:nvSpPr>
          <p:cNvPr id="105" name="Text 103"/>
          <p:cNvSpPr/>
          <p:nvPr/>
        </p:nvSpPr>
        <p:spPr>
          <a:xfrm>
            <a:off x="502920" y="6126480"/>
            <a:ext cx="11338560" cy="0"/>
          </a:xfrm>
          <a:prstGeom prst="rect">
            <a:avLst/>
          </a:prstGeom>
          <a:noFill/>
          <a:ln/>
        </p:spPr>
        <p:txBody>
          <a:bodyPr wrap="square" rtlCol="0" anchor="ctr"/>
          <a:lstStyle/>
          <a:p>
            <a:pPr indent="0" marL="0">
              <a:buNone/>
            </a:pPr>
            <a:r>
              <a:rPr lang="en-US" sz="1100" b="1" dirty="0">
                <a:solidFill>
                  <a:srgbClr val="9D2706"/>
                </a:solidFill>
              </a:rPr>
              <a:t>Cognaq differentiates by combining full software utility with hands-on 3D asset pipeline services.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Business Model &amp; Pricing Tiers</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SaaS subscription options and asset creation services.</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1005840"/>
            <a:ext cx="2743200" cy="5166360"/>
          </a:xfrm>
          <a:prstGeom prst="rect">
            <a:avLst/>
          </a:prstGeom>
          <a:solidFill>
            <a:srgbClr val="FFFFFF"/>
          </a:solidFill>
          <a:ln w="12700">
            <a:solidFill>
              <a:srgbClr val="E2E8F0"/>
            </a:solidFill>
            <a:prstDash val="solid"/>
          </a:ln>
        </p:spPr>
      </p:sp>
      <p:sp>
        <p:nvSpPr>
          <p:cNvPr id="12" name="Shape 10"/>
          <p:cNvSpPr/>
          <p:nvPr/>
        </p:nvSpPr>
        <p:spPr>
          <a:xfrm>
            <a:off x="320040" y="1005840"/>
            <a:ext cx="2743200" cy="914400"/>
          </a:xfrm>
          <a:prstGeom prst="rect">
            <a:avLst/>
          </a:prstGeom>
          <a:solidFill>
            <a:srgbClr val="EDF2F7"/>
          </a:solidFill>
          <a:ln/>
        </p:spPr>
      </p:sp>
      <p:sp>
        <p:nvSpPr>
          <p:cNvPr id="13" name="Text 11"/>
          <p:cNvSpPr/>
          <p:nvPr/>
        </p:nvSpPr>
        <p:spPr>
          <a:xfrm>
            <a:off x="429768" y="1143000"/>
            <a:ext cx="2514600" cy="0"/>
          </a:xfrm>
          <a:prstGeom prst="rect">
            <a:avLst/>
          </a:prstGeom>
          <a:noFill/>
          <a:ln/>
        </p:spPr>
        <p:txBody>
          <a:bodyPr wrap="square" rtlCol="0" anchor="ctr"/>
          <a:lstStyle/>
          <a:p>
            <a:pPr algn="ctr" indent="0" marL="0">
              <a:buNone/>
            </a:pPr>
            <a:r>
              <a:rPr lang="en-US" sz="1500" b="1" dirty="0">
                <a:solidFill>
                  <a:srgbClr val="2C3E50"/>
                </a:solidFill>
              </a:rPr>
              <a:t>Starter</a:t>
            </a:r>
            <a:endParaRPr lang="en-US" sz="1500" dirty="0"/>
          </a:p>
        </p:txBody>
      </p:sp>
      <p:sp>
        <p:nvSpPr>
          <p:cNvPr id="14" name="Text 12"/>
          <p:cNvSpPr/>
          <p:nvPr/>
        </p:nvSpPr>
        <p:spPr>
          <a:xfrm>
            <a:off x="429768" y="2103120"/>
            <a:ext cx="2514600" cy="0"/>
          </a:xfrm>
          <a:prstGeom prst="rect">
            <a:avLst/>
          </a:prstGeom>
          <a:noFill/>
          <a:ln/>
        </p:spPr>
        <p:txBody>
          <a:bodyPr wrap="square" rtlCol="0" anchor="ctr"/>
          <a:lstStyle/>
          <a:p>
            <a:pPr algn="ctr" indent="0" marL="0">
              <a:buNone/>
            </a:pPr>
            <a:r>
              <a:rPr lang="en-US" sz="2800" b="1" dirty="0">
                <a:solidFill>
                  <a:srgbClr val="9D2706"/>
                </a:solidFill>
              </a:rPr>
              <a:t>$49</a:t>
            </a:r>
            <a:endParaRPr lang="en-US" sz="2800" dirty="0"/>
          </a:p>
        </p:txBody>
      </p:sp>
      <p:sp>
        <p:nvSpPr>
          <p:cNvPr id="15" name="Text 13"/>
          <p:cNvSpPr/>
          <p:nvPr/>
        </p:nvSpPr>
        <p:spPr>
          <a:xfrm>
            <a:off x="429768" y="2743200"/>
            <a:ext cx="2514600" cy="0"/>
          </a:xfrm>
          <a:prstGeom prst="rect">
            <a:avLst/>
          </a:prstGeom>
          <a:noFill/>
          <a:ln/>
        </p:spPr>
        <p:txBody>
          <a:bodyPr wrap="square" rtlCol="0" anchor="ctr"/>
          <a:lstStyle/>
          <a:p>
            <a:pPr algn="ctr" indent="0" marL="0">
              <a:buNone/>
            </a:pPr>
            <a:r>
              <a:rPr lang="en-US" sz="1200" dirty="0">
                <a:solidFill>
                  <a:srgbClr val="5A6B7C"/>
                </a:solidFill>
              </a:rPr>
              <a:t>/mo</a:t>
            </a:r>
            <a:endParaRPr lang="en-US" sz="1200" dirty="0"/>
          </a:p>
        </p:txBody>
      </p:sp>
      <p:sp>
        <p:nvSpPr>
          <p:cNvPr id="16" name="Shape 14"/>
          <p:cNvSpPr/>
          <p:nvPr/>
        </p:nvSpPr>
        <p:spPr>
          <a:xfrm>
            <a:off x="868680" y="3108960"/>
            <a:ext cx="1645920" cy="36576"/>
          </a:xfrm>
          <a:prstGeom prst="rect">
            <a:avLst/>
          </a:prstGeom>
          <a:solidFill>
            <a:srgbClr val="9D2706"/>
          </a:solidFill>
          <a:ln/>
        </p:spPr>
      </p:sp>
      <p:sp>
        <p:nvSpPr>
          <p:cNvPr id="17" name="Text 15"/>
          <p:cNvSpPr/>
          <p:nvPr/>
        </p:nvSpPr>
        <p:spPr>
          <a:xfrm>
            <a:off x="457200" y="3291840"/>
            <a:ext cx="2468880" cy="0"/>
          </a:xfrm>
          <a:prstGeom prst="rect">
            <a:avLst/>
          </a:prstGeom>
          <a:noFill/>
          <a:ln/>
        </p:spPr>
        <p:txBody>
          <a:bodyPr wrap="square" rtlCol="0" anchor="ctr"/>
          <a:lstStyle/>
          <a:p>
            <a:pPr indent="0" marL="0">
              <a:buNone/>
            </a:pPr>
            <a:r>
              <a:rPr lang="en-US" sz="1100" dirty="0">
                <a:solidFill>
                  <a:srgbClr val="5A6B7C"/>
                </a:solidFill>
              </a:rPr>
              <a:t>•  5 active products</a:t>
            </a:r>
            <a:endParaRPr lang="en-US" sz="1100" dirty="0"/>
          </a:p>
        </p:txBody>
      </p:sp>
      <p:sp>
        <p:nvSpPr>
          <p:cNvPr id="18" name="Text 16"/>
          <p:cNvSpPr/>
          <p:nvPr/>
        </p:nvSpPr>
        <p:spPr>
          <a:xfrm>
            <a:off x="457200" y="3776472"/>
            <a:ext cx="2468880" cy="0"/>
          </a:xfrm>
          <a:prstGeom prst="rect">
            <a:avLst/>
          </a:prstGeom>
          <a:noFill/>
          <a:ln/>
        </p:spPr>
        <p:txBody>
          <a:bodyPr wrap="square" rtlCol="0" anchor="ctr"/>
          <a:lstStyle/>
          <a:p>
            <a:pPr indent="0" marL="0">
              <a:buNone/>
            </a:pPr>
            <a:r>
              <a:rPr lang="en-US" sz="1100" dirty="0">
                <a:solidFill>
                  <a:srgbClr val="5A6B7C"/>
                </a:solidFill>
              </a:rPr>
              <a:t>•  3D Configurator only</a:t>
            </a:r>
            <a:endParaRPr lang="en-US" sz="1100" dirty="0"/>
          </a:p>
        </p:txBody>
      </p:sp>
      <p:sp>
        <p:nvSpPr>
          <p:cNvPr id="19" name="Text 17"/>
          <p:cNvSpPr/>
          <p:nvPr/>
        </p:nvSpPr>
        <p:spPr>
          <a:xfrm>
            <a:off x="457200" y="4261104"/>
            <a:ext cx="2468880" cy="0"/>
          </a:xfrm>
          <a:prstGeom prst="rect">
            <a:avLst/>
          </a:prstGeom>
          <a:noFill/>
          <a:ln/>
        </p:spPr>
        <p:txBody>
          <a:bodyPr wrap="square" rtlCol="0" anchor="ctr"/>
          <a:lstStyle/>
          <a:p>
            <a:pPr indent="0" marL="0">
              <a:buNone/>
            </a:pPr>
            <a:r>
              <a:rPr lang="en-US" sz="1100" dirty="0">
                <a:solidFill>
                  <a:srgbClr val="5A6B7C"/>
                </a:solidFill>
              </a:rPr>
              <a:t>•  Native Shopify integration</a:t>
            </a:r>
            <a:endParaRPr lang="en-US" sz="1100" dirty="0"/>
          </a:p>
        </p:txBody>
      </p:sp>
      <p:sp>
        <p:nvSpPr>
          <p:cNvPr id="20" name="Text 18"/>
          <p:cNvSpPr/>
          <p:nvPr/>
        </p:nvSpPr>
        <p:spPr>
          <a:xfrm>
            <a:off x="457200" y="4745736"/>
            <a:ext cx="2468880" cy="0"/>
          </a:xfrm>
          <a:prstGeom prst="rect">
            <a:avLst/>
          </a:prstGeom>
          <a:noFill/>
          <a:ln/>
        </p:spPr>
        <p:txBody>
          <a:bodyPr wrap="square" rtlCol="0" anchor="ctr"/>
          <a:lstStyle/>
          <a:p>
            <a:pPr indent="0" marL="0">
              <a:buNone/>
            </a:pPr>
            <a:r>
              <a:rPr lang="en-US" sz="1100" dirty="0">
                <a:solidFill>
                  <a:srgbClr val="5A6B7C"/>
                </a:solidFill>
              </a:rPr>
              <a:t>•  1,000 viewer sessions/mo</a:t>
            </a:r>
            <a:endParaRPr lang="en-US" sz="1100" dirty="0"/>
          </a:p>
        </p:txBody>
      </p:sp>
      <p:sp>
        <p:nvSpPr>
          <p:cNvPr id="21" name="Text 19"/>
          <p:cNvSpPr/>
          <p:nvPr/>
        </p:nvSpPr>
        <p:spPr>
          <a:xfrm>
            <a:off x="457200" y="5230368"/>
            <a:ext cx="2468880" cy="0"/>
          </a:xfrm>
          <a:prstGeom prst="rect">
            <a:avLst/>
          </a:prstGeom>
          <a:noFill/>
          <a:ln/>
        </p:spPr>
        <p:txBody>
          <a:bodyPr wrap="square" rtlCol="0" anchor="ctr"/>
          <a:lstStyle/>
          <a:p>
            <a:pPr indent="0" marL="0">
              <a:buNone/>
            </a:pPr>
            <a:r>
              <a:rPr lang="en-US" sz="1100" dirty="0">
                <a:solidFill>
                  <a:srgbClr val="5A6B7C"/>
                </a:solidFill>
              </a:rPr>
              <a:t>•  Standard email support</a:t>
            </a:r>
            <a:endParaRPr lang="en-US" sz="1100" dirty="0"/>
          </a:p>
        </p:txBody>
      </p:sp>
      <p:sp>
        <p:nvSpPr>
          <p:cNvPr id="22" name="Shape 20"/>
          <p:cNvSpPr/>
          <p:nvPr/>
        </p:nvSpPr>
        <p:spPr>
          <a:xfrm>
            <a:off x="3291840" y="1005840"/>
            <a:ext cx="2743200" cy="5166360"/>
          </a:xfrm>
          <a:prstGeom prst="rect">
            <a:avLst/>
          </a:prstGeom>
          <a:solidFill>
            <a:srgbClr val="FFFFFF"/>
          </a:solidFill>
          <a:ln w="12700">
            <a:solidFill>
              <a:srgbClr val="E2E8F0"/>
            </a:solidFill>
            <a:prstDash val="solid"/>
          </a:ln>
        </p:spPr>
      </p:sp>
      <p:sp>
        <p:nvSpPr>
          <p:cNvPr id="23" name="Shape 21"/>
          <p:cNvSpPr/>
          <p:nvPr/>
        </p:nvSpPr>
        <p:spPr>
          <a:xfrm>
            <a:off x="3291840" y="1005840"/>
            <a:ext cx="2743200" cy="914400"/>
          </a:xfrm>
          <a:prstGeom prst="rect">
            <a:avLst/>
          </a:prstGeom>
          <a:solidFill>
            <a:srgbClr val="EDF2F7"/>
          </a:solidFill>
          <a:ln/>
        </p:spPr>
      </p:sp>
      <p:sp>
        <p:nvSpPr>
          <p:cNvPr id="24" name="Text 22"/>
          <p:cNvSpPr/>
          <p:nvPr/>
        </p:nvSpPr>
        <p:spPr>
          <a:xfrm>
            <a:off x="3401568" y="1143000"/>
            <a:ext cx="2514600" cy="0"/>
          </a:xfrm>
          <a:prstGeom prst="rect">
            <a:avLst/>
          </a:prstGeom>
          <a:noFill/>
          <a:ln/>
        </p:spPr>
        <p:txBody>
          <a:bodyPr wrap="square" rtlCol="0" anchor="ctr"/>
          <a:lstStyle/>
          <a:p>
            <a:pPr algn="ctr" indent="0" marL="0">
              <a:buNone/>
            </a:pPr>
            <a:r>
              <a:rPr lang="en-US" sz="1500" b="1" dirty="0">
                <a:solidFill>
                  <a:srgbClr val="2C3E50"/>
                </a:solidFill>
              </a:rPr>
              <a:t>Growth</a:t>
            </a:r>
            <a:endParaRPr lang="en-US" sz="1500" dirty="0"/>
          </a:p>
        </p:txBody>
      </p:sp>
      <p:sp>
        <p:nvSpPr>
          <p:cNvPr id="25" name="Text 23"/>
          <p:cNvSpPr/>
          <p:nvPr/>
        </p:nvSpPr>
        <p:spPr>
          <a:xfrm>
            <a:off x="3401568" y="2103120"/>
            <a:ext cx="2514600" cy="0"/>
          </a:xfrm>
          <a:prstGeom prst="rect">
            <a:avLst/>
          </a:prstGeom>
          <a:noFill/>
          <a:ln/>
        </p:spPr>
        <p:txBody>
          <a:bodyPr wrap="square" rtlCol="0" anchor="ctr"/>
          <a:lstStyle/>
          <a:p>
            <a:pPr algn="ctr" indent="0" marL="0">
              <a:buNone/>
            </a:pPr>
            <a:r>
              <a:rPr lang="en-US" sz="2800" b="1" dirty="0">
                <a:solidFill>
                  <a:srgbClr val="9D2706"/>
                </a:solidFill>
              </a:rPr>
              <a:t>$149</a:t>
            </a:r>
            <a:endParaRPr lang="en-US" sz="2800" dirty="0"/>
          </a:p>
        </p:txBody>
      </p:sp>
      <p:sp>
        <p:nvSpPr>
          <p:cNvPr id="26" name="Text 24"/>
          <p:cNvSpPr/>
          <p:nvPr/>
        </p:nvSpPr>
        <p:spPr>
          <a:xfrm>
            <a:off x="3401568" y="2743200"/>
            <a:ext cx="2514600" cy="0"/>
          </a:xfrm>
          <a:prstGeom prst="rect">
            <a:avLst/>
          </a:prstGeom>
          <a:noFill/>
          <a:ln/>
        </p:spPr>
        <p:txBody>
          <a:bodyPr wrap="square" rtlCol="0" anchor="ctr"/>
          <a:lstStyle/>
          <a:p>
            <a:pPr algn="ctr" indent="0" marL="0">
              <a:buNone/>
            </a:pPr>
            <a:r>
              <a:rPr lang="en-US" sz="1200" dirty="0">
                <a:solidFill>
                  <a:srgbClr val="5A6B7C"/>
                </a:solidFill>
              </a:rPr>
              <a:t>/mo</a:t>
            </a:r>
            <a:endParaRPr lang="en-US" sz="1200" dirty="0"/>
          </a:p>
        </p:txBody>
      </p:sp>
      <p:sp>
        <p:nvSpPr>
          <p:cNvPr id="27" name="Shape 25"/>
          <p:cNvSpPr/>
          <p:nvPr/>
        </p:nvSpPr>
        <p:spPr>
          <a:xfrm>
            <a:off x="3840480" y="3108960"/>
            <a:ext cx="1645920" cy="36576"/>
          </a:xfrm>
          <a:prstGeom prst="rect">
            <a:avLst/>
          </a:prstGeom>
          <a:solidFill>
            <a:srgbClr val="9D2706"/>
          </a:solidFill>
          <a:ln/>
        </p:spPr>
      </p:sp>
      <p:sp>
        <p:nvSpPr>
          <p:cNvPr id="28" name="Text 26"/>
          <p:cNvSpPr/>
          <p:nvPr/>
        </p:nvSpPr>
        <p:spPr>
          <a:xfrm>
            <a:off x="3429000" y="3291840"/>
            <a:ext cx="2468880" cy="0"/>
          </a:xfrm>
          <a:prstGeom prst="rect">
            <a:avLst/>
          </a:prstGeom>
          <a:noFill/>
          <a:ln/>
        </p:spPr>
        <p:txBody>
          <a:bodyPr wrap="square" rtlCol="0" anchor="ctr"/>
          <a:lstStyle/>
          <a:p>
            <a:pPr indent="0" marL="0">
              <a:buNone/>
            </a:pPr>
            <a:r>
              <a:rPr lang="en-US" sz="1100" dirty="0">
                <a:solidFill>
                  <a:srgbClr val="5A6B7C"/>
                </a:solidFill>
              </a:rPr>
              <a:t>•  25 active products</a:t>
            </a:r>
            <a:endParaRPr lang="en-US" sz="1100" dirty="0"/>
          </a:p>
        </p:txBody>
      </p:sp>
      <p:sp>
        <p:nvSpPr>
          <p:cNvPr id="29" name="Text 27"/>
          <p:cNvSpPr/>
          <p:nvPr/>
        </p:nvSpPr>
        <p:spPr>
          <a:xfrm>
            <a:off x="3429000" y="3776472"/>
            <a:ext cx="2468880" cy="0"/>
          </a:xfrm>
          <a:prstGeom prst="rect">
            <a:avLst/>
          </a:prstGeom>
          <a:noFill/>
          <a:ln/>
        </p:spPr>
        <p:txBody>
          <a:bodyPr wrap="square" rtlCol="0" anchor="ctr"/>
          <a:lstStyle/>
          <a:p>
            <a:pPr indent="0" marL="0">
              <a:buNone/>
            </a:pPr>
            <a:r>
              <a:rPr lang="en-US" sz="1100" dirty="0">
                <a:solidFill>
                  <a:srgbClr val="5A6B7C"/>
                </a:solidFill>
              </a:rPr>
              <a:t>•  3D Configurator + Room AR</a:t>
            </a:r>
            <a:endParaRPr lang="en-US" sz="1100" dirty="0"/>
          </a:p>
        </p:txBody>
      </p:sp>
      <p:sp>
        <p:nvSpPr>
          <p:cNvPr id="30" name="Text 28"/>
          <p:cNvSpPr/>
          <p:nvPr/>
        </p:nvSpPr>
        <p:spPr>
          <a:xfrm>
            <a:off x="3429000" y="4261104"/>
            <a:ext cx="2468880" cy="0"/>
          </a:xfrm>
          <a:prstGeom prst="rect">
            <a:avLst/>
          </a:prstGeom>
          <a:noFill/>
          <a:ln/>
        </p:spPr>
        <p:txBody>
          <a:bodyPr wrap="square" rtlCol="0" anchor="ctr"/>
          <a:lstStyle/>
          <a:p>
            <a:pPr indent="0" marL="0">
              <a:buNone/>
            </a:pPr>
            <a:r>
              <a:rPr lang="en-US" sz="1100" dirty="0">
                <a:solidFill>
                  <a:srgbClr val="5A6B7C"/>
                </a:solidFill>
              </a:rPr>
              <a:t>•  Dynamic pricing config</a:t>
            </a:r>
            <a:endParaRPr lang="en-US" sz="1100" dirty="0"/>
          </a:p>
        </p:txBody>
      </p:sp>
      <p:sp>
        <p:nvSpPr>
          <p:cNvPr id="31" name="Text 29"/>
          <p:cNvSpPr/>
          <p:nvPr/>
        </p:nvSpPr>
        <p:spPr>
          <a:xfrm>
            <a:off x="3429000" y="4745736"/>
            <a:ext cx="2468880" cy="0"/>
          </a:xfrm>
          <a:prstGeom prst="rect">
            <a:avLst/>
          </a:prstGeom>
          <a:noFill/>
          <a:ln/>
        </p:spPr>
        <p:txBody>
          <a:bodyPr wrap="square" rtlCol="0" anchor="ctr"/>
          <a:lstStyle/>
          <a:p>
            <a:pPr indent="0" marL="0">
              <a:buNone/>
            </a:pPr>
            <a:r>
              <a:rPr lang="en-US" sz="1100" dirty="0">
                <a:solidFill>
                  <a:srgbClr val="5A6B7C"/>
                </a:solidFill>
              </a:rPr>
              <a:t>•  Dashboard analytics UI</a:t>
            </a:r>
            <a:endParaRPr lang="en-US" sz="1100" dirty="0"/>
          </a:p>
        </p:txBody>
      </p:sp>
      <p:sp>
        <p:nvSpPr>
          <p:cNvPr id="32" name="Text 30"/>
          <p:cNvSpPr/>
          <p:nvPr/>
        </p:nvSpPr>
        <p:spPr>
          <a:xfrm>
            <a:off x="3429000" y="5230368"/>
            <a:ext cx="2468880" cy="0"/>
          </a:xfrm>
          <a:prstGeom prst="rect">
            <a:avLst/>
          </a:prstGeom>
          <a:noFill/>
          <a:ln/>
        </p:spPr>
        <p:txBody>
          <a:bodyPr wrap="square" rtlCol="0" anchor="ctr"/>
          <a:lstStyle/>
          <a:p>
            <a:pPr indent="0" marL="0">
              <a:buNone/>
            </a:pPr>
            <a:r>
              <a:rPr lang="en-US" sz="1100" dirty="0">
                <a:solidFill>
                  <a:srgbClr val="5A6B7C"/>
                </a:solidFill>
              </a:rPr>
              <a:t>•  24h priority support</a:t>
            </a:r>
            <a:endParaRPr lang="en-US" sz="1100" dirty="0"/>
          </a:p>
        </p:txBody>
      </p:sp>
      <p:sp>
        <p:nvSpPr>
          <p:cNvPr id="33" name="Shape 31"/>
          <p:cNvSpPr/>
          <p:nvPr/>
        </p:nvSpPr>
        <p:spPr>
          <a:xfrm>
            <a:off x="6190488" y="868680"/>
            <a:ext cx="2889504" cy="5394960"/>
          </a:xfrm>
          <a:prstGeom prst="rect">
            <a:avLst/>
          </a:prstGeom>
          <a:solidFill>
            <a:srgbClr val="9D2706"/>
          </a:solidFill>
          <a:ln/>
        </p:spPr>
      </p:sp>
      <p:sp>
        <p:nvSpPr>
          <p:cNvPr id="34" name="Shape 32"/>
          <p:cNvSpPr/>
          <p:nvPr/>
        </p:nvSpPr>
        <p:spPr>
          <a:xfrm>
            <a:off x="6537960" y="868680"/>
            <a:ext cx="2194560" cy="347472"/>
          </a:xfrm>
          <a:prstGeom prst="rect">
            <a:avLst/>
          </a:prstGeom>
          <a:solidFill>
            <a:srgbClr val="2C3E50"/>
          </a:solidFill>
          <a:ln/>
        </p:spPr>
      </p:sp>
      <p:sp>
        <p:nvSpPr>
          <p:cNvPr id="35" name="Text 33"/>
          <p:cNvSpPr/>
          <p:nvPr/>
        </p:nvSpPr>
        <p:spPr>
          <a:xfrm>
            <a:off x="6537960" y="914400"/>
            <a:ext cx="2194560" cy="274320"/>
          </a:xfrm>
          <a:prstGeom prst="rect">
            <a:avLst/>
          </a:prstGeom>
          <a:noFill/>
          <a:ln/>
        </p:spPr>
        <p:txBody>
          <a:bodyPr wrap="square" rtlCol="0" anchor="ctr"/>
          <a:lstStyle/>
          <a:p>
            <a:pPr algn="ctr" indent="0" marL="0">
              <a:buNone/>
            </a:pPr>
            <a:r>
              <a:rPr lang="en-US" sz="900" b="1" spc="100" kern="0" dirty="0">
                <a:solidFill>
                  <a:srgbClr val="FFFFFF"/>
                </a:solidFill>
              </a:rPr>
              <a:t>RECOMMENDED TIER</a:t>
            </a:r>
            <a:endParaRPr lang="en-US" sz="900" dirty="0"/>
          </a:p>
        </p:txBody>
      </p:sp>
      <p:sp>
        <p:nvSpPr>
          <p:cNvPr id="36" name="Shape 34"/>
          <p:cNvSpPr/>
          <p:nvPr/>
        </p:nvSpPr>
        <p:spPr>
          <a:xfrm>
            <a:off x="6263640" y="1234440"/>
            <a:ext cx="2743200" cy="4983480"/>
          </a:xfrm>
          <a:prstGeom prst="rect">
            <a:avLst/>
          </a:prstGeom>
          <a:solidFill>
            <a:srgbClr val="FFFFFF"/>
          </a:solidFill>
          <a:ln w="12700">
            <a:solidFill>
              <a:srgbClr val="9D2706"/>
            </a:solidFill>
            <a:prstDash val="solid"/>
          </a:ln>
        </p:spPr>
      </p:sp>
      <p:sp>
        <p:nvSpPr>
          <p:cNvPr id="37" name="Shape 35"/>
          <p:cNvSpPr/>
          <p:nvPr/>
        </p:nvSpPr>
        <p:spPr>
          <a:xfrm>
            <a:off x="6263640" y="1234440"/>
            <a:ext cx="2743200" cy="914400"/>
          </a:xfrm>
          <a:prstGeom prst="rect">
            <a:avLst/>
          </a:prstGeom>
          <a:solidFill>
            <a:srgbClr val="2C3E50"/>
          </a:solidFill>
          <a:ln/>
        </p:spPr>
      </p:sp>
      <p:sp>
        <p:nvSpPr>
          <p:cNvPr id="38" name="Text 36"/>
          <p:cNvSpPr/>
          <p:nvPr/>
        </p:nvSpPr>
        <p:spPr>
          <a:xfrm>
            <a:off x="6373368" y="1371600"/>
            <a:ext cx="2514600" cy="0"/>
          </a:xfrm>
          <a:prstGeom prst="rect">
            <a:avLst/>
          </a:prstGeom>
          <a:noFill/>
          <a:ln/>
        </p:spPr>
        <p:txBody>
          <a:bodyPr wrap="square" rtlCol="0" anchor="ctr"/>
          <a:lstStyle/>
          <a:p>
            <a:pPr algn="ctr" indent="0" marL="0">
              <a:buNone/>
            </a:pPr>
            <a:r>
              <a:rPr lang="en-US" sz="1500" b="1" dirty="0">
                <a:solidFill>
                  <a:srgbClr val="9D2706"/>
                </a:solidFill>
              </a:rPr>
              <a:t>Professional</a:t>
            </a:r>
            <a:endParaRPr lang="en-US" sz="1500" dirty="0"/>
          </a:p>
        </p:txBody>
      </p:sp>
      <p:sp>
        <p:nvSpPr>
          <p:cNvPr id="39" name="Text 37"/>
          <p:cNvSpPr/>
          <p:nvPr/>
        </p:nvSpPr>
        <p:spPr>
          <a:xfrm>
            <a:off x="6373368" y="2331720"/>
            <a:ext cx="2514600" cy="0"/>
          </a:xfrm>
          <a:prstGeom prst="rect">
            <a:avLst/>
          </a:prstGeom>
          <a:noFill/>
          <a:ln/>
        </p:spPr>
        <p:txBody>
          <a:bodyPr wrap="square" rtlCol="0" anchor="ctr"/>
          <a:lstStyle/>
          <a:p>
            <a:pPr algn="ctr" indent="0" marL="0">
              <a:buNone/>
            </a:pPr>
            <a:r>
              <a:rPr lang="en-US" sz="2800" b="1" dirty="0">
                <a:solidFill>
                  <a:srgbClr val="9D2706"/>
                </a:solidFill>
              </a:rPr>
              <a:t>$399</a:t>
            </a:r>
            <a:endParaRPr lang="en-US" sz="2800" dirty="0"/>
          </a:p>
        </p:txBody>
      </p:sp>
      <p:sp>
        <p:nvSpPr>
          <p:cNvPr id="40" name="Text 38"/>
          <p:cNvSpPr/>
          <p:nvPr/>
        </p:nvSpPr>
        <p:spPr>
          <a:xfrm>
            <a:off x="6373368" y="2971800"/>
            <a:ext cx="2514600" cy="0"/>
          </a:xfrm>
          <a:prstGeom prst="rect">
            <a:avLst/>
          </a:prstGeom>
          <a:noFill/>
          <a:ln/>
        </p:spPr>
        <p:txBody>
          <a:bodyPr wrap="square" rtlCol="0" anchor="ctr"/>
          <a:lstStyle/>
          <a:p>
            <a:pPr algn="ctr" indent="0" marL="0">
              <a:buNone/>
            </a:pPr>
            <a:r>
              <a:rPr lang="en-US" sz="1200" dirty="0">
                <a:solidFill>
                  <a:srgbClr val="5A6B7C"/>
                </a:solidFill>
              </a:rPr>
              <a:t>/mo</a:t>
            </a:r>
            <a:endParaRPr lang="en-US" sz="1200" dirty="0"/>
          </a:p>
        </p:txBody>
      </p:sp>
      <p:sp>
        <p:nvSpPr>
          <p:cNvPr id="41" name="Shape 39"/>
          <p:cNvSpPr/>
          <p:nvPr/>
        </p:nvSpPr>
        <p:spPr>
          <a:xfrm>
            <a:off x="6812280" y="3337560"/>
            <a:ext cx="1645920" cy="36576"/>
          </a:xfrm>
          <a:prstGeom prst="rect">
            <a:avLst/>
          </a:prstGeom>
          <a:solidFill>
            <a:srgbClr val="9D2706"/>
          </a:solidFill>
          <a:ln/>
        </p:spPr>
      </p:sp>
      <p:sp>
        <p:nvSpPr>
          <p:cNvPr id="42" name="Text 40"/>
          <p:cNvSpPr/>
          <p:nvPr/>
        </p:nvSpPr>
        <p:spPr>
          <a:xfrm>
            <a:off x="6400800" y="3520440"/>
            <a:ext cx="2468880" cy="0"/>
          </a:xfrm>
          <a:prstGeom prst="rect">
            <a:avLst/>
          </a:prstGeom>
          <a:noFill/>
          <a:ln/>
        </p:spPr>
        <p:txBody>
          <a:bodyPr wrap="square" rtlCol="0" anchor="ctr"/>
          <a:lstStyle/>
          <a:p>
            <a:pPr indent="0" marL="0">
              <a:buNone/>
            </a:pPr>
            <a:r>
              <a:rPr lang="en-US" sz="1100" dirty="0">
                <a:solidFill>
                  <a:srgbClr val="5A6B7C"/>
                </a:solidFill>
              </a:rPr>
              <a:t>•  Unlimited products</a:t>
            </a:r>
            <a:endParaRPr lang="en-US" sz="1100" dirty="0"/>
          </a:p>
        </p:txBody>
      </p:sp>
      <p:sp>
        <p:nvSpPr>
          <p:cNvPr id="43" name="Text 41"/>
          <p:cNvSpPr/>
          <p:nvPr/>
        </p:nvSpPr>
        <p:spPr>
          <a:xfrm>
            <a:off x="6400800" y="4005072"/>
            <a:ext cx="2468880" cy="0"/>
          </a:xfrm>
          <a:prstGeom prst="rect">
            <a:avLst/>
          </a:prstGeom>
          <a:noFill/>
          <a:ln/>
        </p:spPr>
        <p:txBody>
          <a:bodyPr wrap="square" rtlCol="0" anchor="ctr"/>
          <a:lstStyle/>
          <a:p>
            <a:pPr indent="0" marL="0">
              <a:buNone/>
            </a:pPr>
            <a:r>
              <a:rPr lang="en-US" sz="1100" dirty="0">
                <a:solidFill>
                  <a:srgbClr val="5A6B7C"/>
                </a:solidFill>
              </a:rPr>
              <a:t>•  3D Configurator + AR + VTO</a:t>
            </a:r>
            <a:endParaRPr lang="en-US" sz="1100" dirty="0"/>
          </a:p>
        </p:txBody>
      </p:sp>
      <p:sp>
        <p:nvSpPr>
          <p:cNvPr id="44" name="Text 42"/>
          <p:cNvSpPr/>
          <p:nvPr/>
        </p:nvSpPr>
        <p:spPr>
          <a:xfrm>
            <a:off x="6400800" y="4489704"/>
            <a:ext cx="2468880" cy="0"/>
          </a:xfrm>
          <a:prstGeom prst="rect">
            <a:avLst/>
          </a:prstGeom>
          <a:noFill/>
          <a:ln/>
        </p:spPr>
        <p:txBody>
          <a:bodyPr wrap="square" rtlCol="0" anchor="ctr"/>
          <a:lstStyle/>
          <a:p>
            <a:pPr indent="0" marL="0">
              <a:buNone/>
            </a:pPr>
            <a:r>
              <a:rPr lang="en-US" sz="1100" dirty="0">
                <a:solidFill>
                  <a:srgbClr val="5A6B7C"/>
                </a:solidFill>
              </a:rPr>
              <a:t>•  Custom branding white-label</a:t>
            </a:r>
            <a:endParaRPr lang="en-US" sz="1100" dirty="0"/>
          </a:p>
        </p:txBody>
      </p:sp>
      <p:sp>
        <p:nvSpPr>
          <p:cNvPr id="45" name="Text 43"/>
          <p:cNvSpPr/>
          <p:nvPr/>
        </p:nvSpPr>
        <p:spPr>
          <a:xfrm>
            <a:off x="6400800" y="4974336"/>
            <a:ext cx="2468880" cy="0"/>
          </a:xfrm>
          <a:prstGeom prst="rect">
            <a:avLst/>
          </a:prstGeom>
          <a:noFill/>
          <a:ln/>
        </p:spPr>
        <p:txBody>
          <a:bodyPr wrap="square" rtlCol="0" anchor="ctr"/>
          <a:lstStyle/>
          <a:p>
            <a:pPr indent="0" marL="0">
              <a:buNone/>
            </a:pPr>
            <a:r>
              <a:rPr lang="en-US" sz="1100" dirty="0">
                <a:solidFill>
                  <a:srgbClr val="5A6B7C"/>
                </a:solidFill>
              </a:rPr>
              <a:t>•  Custom API endpoint access</a:t>
            </a:r>
            <a:endParaRPr lang="en-US" sz="1100" dirty="0"/>
          </a:p>
        </p:txBody>
      </p:sp>
      <p:sp>
        <p:nvSpPr>
          <p:cNvPr id="46" name="Text 44"/>
          <p:cNvSpPr/>
          <p:nvPr/>
        </p:nvSpPr>
        <p:spPr>
          <a:xfrm>
            <a:off x="6400800" y="5458968"/>
            <a:ext cx="2468880" cy="0"/>
          </a:xfrm>
          <a:prstGeom prst="rect">
            <a:avLst/>
          </a:prstGeom>
          <a:noFill/>
          <a:ln/>
        </p:spPr>
        <p:txBody>
          <a:bodyPr wrap="square" rtlCol="0" anchor="ctr"/>
          <a:lstStyle/>
          <a:p>
            <a:pPr indent="0" marL="0">
              <a:buNone/>
            </a:pPr>
            <a:r>
              <a:rPr lang="en-US" sz="1100" dirty="0">
                <a:solidFill>
                  <a:srgbClr val="5A6B7C"/>
                </a:solidFill>
              </a:rPr>
              <a:t>•  Dedicated developer SLA</a:t>
            </a:r>
            <a:endParaRPr lang="en-US" sz="1100" dirty="0"/>
          </a:p>
        </p:txBody>
      </p:sp>
      <p:sp>
        <p:nvSpPr>
          <p:cNvPr id="47" name="Shape 45"/>
          <p:cNvSpPr/>
          <p:nvPr/>
        </p:nvSpPr>
        <p:spPr>
          <a:xfrm>
            <a:off x="9235440" y="1005840"/>
            <a:ext cx="2743200" cy="5166360"/>
          </a:xfrm>
          <a:prstGeom prst="rect">
            <a:avLst/>
          </a:prstGeom>
          <a:solidFill>
            <a:srgbClr val="FFFFFF"/>
          </a:solidFill>
          <a:ln w="12700">
            <a:solidFill>
              <a:srgbClr val="E2E8F0"/>
            </a:solidFill>
            <a:prstDash val="solid"/>
          </a:ln>
        </p:spPr>
      </p:sp>
      <p:sp>
        <p:nvSpPr>
          <p:cNvPr id="48" name="Shape 46"/>
          <p:cNvSpPr/>
          <p:nvPr/>
        </p:nvSpPr>
        <p:spPr>
          <a:xfrm>
            <a:off x="9235440" y="1005840"/>
            <a:ext cx="2743200" cy="914400"/>
          </a:xfrm>
          <a:prstGeom prst="rect">
            <a:avLst/>
          </a:prstGeom>
          <a:solidFill>
            <a:srgbClr val="EDF2F7"/>
          </a:solidFill>
          <a:ln/>
        </p:spPr>
      </p:sp>
      <p:sp>
        <p:nvSpPr>
          <p:cNvPr id="49" name="Text 47"/>
          <p:cNvSpPr/>
          <p:nvPr/>
        </p:nvSpPr>
        <p:spPr>
          <a:xfrm>
            <a:off x="9345168" y="1143000"/>
            <a:ext cx="2514600" cy="0"/>
          </a:xfrm>
          <a:prstGeom prst="rect">
            <a:avLst/>
          </a:prstGeom>
          <a:noFill/>
          <a:ln/>
        </p:spPr>
        <p:txBody>
          <a:bodyPr wrap="square" rtlCol="0" anchor="ctr"/>
          <a:lstStyle/>
          <a:p>
            <a:pPr algn="ctr" indent="0" marL="0">
              <a:buNone/>
            </a:pPr>
            <a:r>
              <a:rPr lang="en-US" sz="1500" b="1" dirty="0">
                <a:solidFill>
                  <a:srgbClr val="2C3E50"/>
                </a:solidFill>
              </a:rPr>
              <a:t>Enterprise</a:t>
            </a:r>
            <a:endParaRPr lang="en-US" sz="1500" dirty="0"/>
          </a:p>
        </p:txBody>
      </p:sp>
      <p:sp>
        <p:nvSpPr>
          <p:cNvPr id="50" name="Text 48"/>
          <p:cNvSpPr/>
          <p:nvPr/>
        </p:nvSpPr>
        <p:spPr>
          <a:xfrm>
            <a:off x="9345168" y="2103120"/>
            <a:ext cx="2514600" cy="0"/>
          </a:xfrm>
          <a:prstGeom prst="rect">
            <a:avLst/>
          </a:prstGeom>
          <a:noFill/>
          <a:ln/>
        </p:spPr>
        <p:txBody>
          <a:bodyPr wrap="square" rtlCol="0" anchor="ctr"/>
          <a:lstStyle/>
          <a:p>
            <a:pPr algn="ctr" indent="0" marL="0">
              <a:buNone/>
            </a:pPr>
            <a:r>
              <a:rPr lang="en-US" sz="2800" b="1" dirty="0">
                <a:solidFill>
                  <a:srgbClr val="9D2706"/>
                </a:solidFill>
              </a:rPr>
              <a:t>Custom</a:t>
            </a:r>
            <a:endParaRPr lang="en-US" sz="2800" dirty="0"/>
          </a:p>
        </p:txBody>
      </p:sp>
      <p:sp>
        <p:nvSpPr>
          <p:cNvPr id="51" name="Shape 49"/>
          <p:cNvSpPr/>
          <p:nvPr/>
        </p:nvSpPr>
        <p:spPr>
          <a:xfrm>
            <a:off x="9784080" y="3108960"/>
            <a:ext cx="1645920" cy="36576"/>
          </a:xfrm>
          <a:prstGeom prst="rect">
            <a:avLst/>
          </a:prstGeom>
          <a:solidFill>
            <a:srgbClr val="9D2706"/>
          </a:solidFill>
          <a:ln/>
        </p:spPr>
      </p:sp>
      <p:sp>
        <p:nvSpPr>
          <p:cNvPr id="52" name="Text 50"/>
          <p:cNvSpPr/>
          <p:nvPr/>
        </p:nvSpPr>
        <p:spPr>
          <a:xfrm>
            <a:off x="9372600" y="3291840"/>
            <a:ext cx="2468880" cy="0"/>
          </a:xfrm>
          <a:prstGeom prst="rect">
            <a:avLst/>
          </a:prstGeom>
          <a:noFill/>
          <a:ln/>
        </p:spPr>
        <p:txBody>
          <a:bodyPr wrap="square" rtlCol="0" anchor="ctr"/>
          <a:lstStyle/>
          <a:p>
            <a:pPr indent="0" marL="0">
              <a:buNone/>
            </a:pPr>
            <a:r>
              <a:rPr lang="en-US" sz="1100" dirty="0">
                <a:solidFill>
                  <a:srgbClr val="5A6B7C"/>
                </a:solidFill>
              </a:rPr>
              <a:t>•  Unlimited products</a:t>
            </a:r>
            <a:endParaRPr lang="en-US" sz="1100" dirty="0"/>
          </a:p>
        </p:txBody>
      </p:sp>
      <p:sp>
        <p:nvSpPr>
          <p:cNvPr id="53" name="Text 51"/>
          <p:cNvSpPr/>
          <p:nvPr/>
        </p:nvSpPr>
        <p:spPr>
          <a:xfrm>
            <a:off x="9372600" y="3776472"/>
            <a:ext cx="2468880" cy="0"/>
          </a:xfrm>
          <a:prstGeom prst="rect">
            <a:avLst/>
          </a:prstGeom>
          <a:noFill/>
          <a:ln/>
        </p:spPr>
        <p:txBody>
          <a:bodyPr wrap="square" rtlCol="0" anchor="ctr"/>
          <a:lstStyle/>
          <a:p>
            <a:pPr indent="0" marL="0">
              <a:buNone/>
            </a:pPr>
            <a:r>
              <a:rPr lang="en-US" sz="1100" dirty="0">
                <a:solidFill>
                  <a:srgbClr val="5A6B7C"/>
                </a:solidFill>
              </a:rPr>
              <a:t>•  On-premise infrastructure</a:t>
            </a:r>
            <a:endParaRPr lang="en-US" sz="1100" dirty="0"/>
          </a:p>
        </p:txBody>
      </p:sp>
      <p:sp>
        <p:nvSpPr>
          <p:cNvPr id="54" name="Text 52"/>
          <p:cNvSpPr/>
          <p:nvPr/>
        </p:nvSpPr>
        <p:spPr>
          <a:xfrm>
            <a:off x="9372600" y="4261104"/>
            <a:ext cx="2468880" cy="0"/>
          </a:xfrm>
          <a:prstGeom prst="rect">
            <a:avLst/>
          </a:prstGeom>
          <a:noFill/>
          <a:ln/>
        </p:spPr>
        <p:txBody>
          <a:bodyPr wrap="square" rtlCol="0" anchor="ctr"/>
          <a:lstStyle/>
          <a:p>
            <a:pPr indent="0" marL="0">
              <a:buNone/>
            </a:pPr>
            <a:r>
              <a:rPr lang="en-US" sz="1100" dirty="0">
                <a:solidFill>
                  <a:srgbClr val="5A6B7C"/>
                </a:solidFill>
              </a:rPr>
              <a:t>•  Uptime SLA guarantee</a:t>
            </a:r>
            <a:endParaRPr lang="en-US" sz="1100" dirty="0"/>
          </a:p>
        </p:txBody>
      </p:sp>
      <p:sp>
        <p:nvSpPr>
          <p:cNvPr id="55" name="Text 53"/>
          <p:cNvSpPr/>
          <p:nvPr/>
        </p:nvSpPr>
        <p:spPr>
          <a:xfrm>
            <a:off x="9372600" y="4745736"/>
            <a:ext cx="2468880" cy="0"/>
          </a:xfrm>
          <a:prstGeom prst="rect">
            <a:avLst/>
          </a:prstGeom>
          <a:noFill/>
          <a:ln/>
        </p:spPr>
        <p:txBody>
          <a:bodyPr wrap="square" rtlCol="0" anchor="ctr"/>
          <a:lstStyle/>
          <a:p>
            <a:pPr indent="0" marL="0">
              <a:buNone/>
            </a:pPr>
            <a:r>
              <a:rPr lang="en-US" sz="1100" dirty="0">
                <a:solidFill>
                  <a:srgbClr val="5A6B7C"/>
                </a:solidFill>
              </a:rPr>
              <a:t>•  Custom merchant integrations</a:t>
            </a:r>
            <a:endParaRPr lang="en-US" sz="1100" dirty="0"/>
          </a:p>
        </p:txBody>
      </p:sp>
      <p:sp>
        <p:nvSpPr>
          <p:cNvPr id="56" name="Text 54"/>
          <p:cNvSpPr/>
          <p:nvPr/>
        </p:nvSpPr>
        <p:spPr>
          <a:xfrm>
            <a:off x="9372600" y="5230368"/>
            <a:ext cx="2468880" cy="0"/>
          </a:xfrm>
          <a:prstGeom prst="rect">
            <a:avLst/>
          </a:prstGeom>
          <a:noFill/>
          <a:ln/>
        </p:spPr>
        <p:txBody>
          <a:bodyPr wrap="square" rtlCol="0" anchor="ctr"/>
          <a:lstStyle/>
          <a:p>
            <a:pPr indent="0" marL="0">
              <a:buNone/>
            </a:pPr>
            <a:r>
              <a:rPr lang="en-US" sz="1100" dirty="0">
                <a:solidFill>
                  <a:srgbClr val="5A6B7C"/>
                </a:solidFill>
              </a:rPr>
              <a:t>•  Dedicated accounts manager</a:t>
            </a:r>
            <a:endParaRPr lang="en-US" sz="1100" dirty="0"/>
          </a:p>
        </p:txBody>
      </p:sp>
      <p:sp>
        <p:nvSpPr>
          <p:cNvPr id="57" name="Shape 55"/>
          <p:cNvSpPr/>
          <p:nvPr/>
        </p:nvSpPr>
        <p:spPr>
          <a:xfrm>
            <a:off x="91440" y="6291072"/>
            <a:ext cx="12070080" cy="109728"/>
          </a:xfrm>
          <a:prstGeom prst="rect">
            <a:avLst/>
          </a:prstGeom>
          <a:solidFill>
            <a:srgbClr val="9D2706"/>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Technical &amp; Platform Requirements</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Engineering parameters for the Cognaq platform.</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1005840"/>
            <a:ext cx="3611880" cy="2377440"/>
          </a:xfrm>
          <a:prstGeom prst="rect">
            <a:avLst/>
          </a:prstGeom>
          <a:solidFill>
            <a:srgbClr val="FFFFFF"/>
          </a:solidFill>
          <a:ln w="12700">
            <a:solidFill>
              <a:srgbClr val="E2E8F0"/>
            </a:solidFill>
            <a:prstDash val="solid"/>
          </a:ln>
        </p:spPr>
      </p:sp>
      <p:sp>
        <p:nvSpPr>
          <p:cNvPr id="12" name="Shape 10"/>
          <p:cNvSpPr/>
          <p:nvPr/>
        </p:nvSpPr>
        <p:spPr>
          <a:xfrm>
            <a:off x="320040" y="1005840"/>
            <a:ext cx="3611880" cy="530352"/>
          </a:xfrm>
          <a:prstGeom prst="rect">
            <a:avLst/>
          </a:prstGeom>
          <a:solidFill>
            <a:srgbClr val="EDF2F7"/>
          </a:solidFill>
          <a:ln/>
        </p:spPr>
      </p:sp>
      <p:sp>
        <p:nvSpPr>
          <p:cNvPr id="13" name="Shape 11"/>
          <p:cNvSpPr/>
          <p:nvPr/>
        </p:nvSpPr>
        <p:spPr>
          <a:xfrm>
            <a:off x="320040" y="1005840"/>
            <a:ext cx="64008" cy="2377440"/>
          </a:xfrm>
          <a:prstGeom prst="rect">
            <a:avLst/>
          </a:prstGeom>
          <a:solidFill>
            <a:srgbClr val="9D2706"/>
          </a:solidFill>
          <a:ln/>
        </p:spPr>
      </p:sp>
      <p:sp>
        <p:nvSpPr>
          <p:cNvPr id="14" name="Text 12"/>
          <p:cNvSpPr/>
          <p:nvPr/>
        </p:nvSpPr>
        <p:spPr>
          <a:xfrm>
            <a:off x="484632" y="1115568"/>
            <a:ext cx="3337560" cy="0"/>
          </a:xfrm>
          <a:prstGeom prst="rect">
            <a:avLst/>
          </a:prstGeom>
          <a:noFill/>
          <a:ln/>
        </p:spPr>
        <p:txBody>
          <a:bodyPr wrap="square" rtlCol="0" anchor="ctr"/>
          <a:lstStyle/>
          <a:p>
            <a:pPr indent="0" marL="0">
              <a:buNone/>
            </a:pPr>
            <a:r>
              <a:rPr lang="en-US" sz="1300" b="1" dirty="0">
                <a:solidFill>
                  <a:srgbClr val="2C3E50"/>
                </a:solidFill>
              </a:rPr>
              <a:t>⚡  Performance</a:t>
            </a:r>
            <a:endParaRPr lang="en-US" sz="1300" dirty="0"/>
          </a:p>
        </p:txBody>
      </p:sp>
      <p:sp>
        <p:nvSpPr>
          <p:cNvPr id="15" name="Shape 13"/>
          <p:cNvSpPr/>
          <p:nvPr/>
        </p:nvSpPr>
        <p:spPr>
          <a:xfrm>
            <a:off x="484632" y="1691640"/>
            <a:ext cx="54864" cy="320040"/>
          </a:xfrm>
          <a:prstGeom prst="rect">
            <a:avLst/>
          </a:prstGeom>
          <a:solidFill>
            <a:srgbClr val="9D2706"/>
          </a:solidFill>
          <a:ln/>
        </p:spPr>
      </p:sp>
      <p:sp>
        <p:nvSpPr>
          <p:cNvPr id="16" name="Text 14"/>
          <p:cNvSpPr/>
          <p:nvPr/>
        </p:nvSpPr>
        <p:spPr>
          <a:xfrm>
            <a:off x="612648" y="1691640"/>
            <a:ext cx="3200400" cy="0"/>
          </a:xfrm>
          <a:prstGeom prst="rect">
            <a:avLst/>
          </a:prstGeom>
          <a:noFill/>
          <a:ln/>
        </p:spPr>
        <p:txBody>
          <a:bodyPr wrap="square" rtlCol="0" anchor="ctr"/>
          <a:lstStyle/>
          <a:p>
            <a:pPr indent="0" marL="0">
              <a:buNone/>
            </a:pPr>
            <a:r>
              <a:rPr lang="en-US" sz="1050" dirty="0">
                <a:solidFill>
                  <a:srgbClr val="5A6B7C"/>
                </a:solidFill>
              </a:rPr>
              <a:t>Viewer load times under 3s on standard cellular connections.</a:t>
            </a:r>
            <a:endParaRPr lang="en-US" sz="1050" dirty="0"/>
          </a:p>
        </p:txBody>
      </p:sp>
      <p:sp>
        <p:nvSpPr>
          <p:cNvPr id="17" name="Shape 15"/>
          <p:cNvSpPr/>
          <p:nvPr/>
        </p:nvSpPr>
        <p:spPr>
          <a:xfrm>
            <a:off x="484632" y="2240280"/>
            <a:ext cx="54864" cy="320040"/>
          </a:xfrm>
          <a:prstGeom prst="rect">
            <a:avLst/>
          </a:prstGeom>
          <a:solidFill>
            <a:srgbClr val="9D2706"/>
          </a:solidFill>
          <a:ln/>
        </p:spPr>
      </p:sp>
      <p:sp>
        <p:nvSpPr>
          <p:cNvPr id="18" name="Text 16"/>
          <p:cNvSpPr/>
          <p:nvPr/>
        </p:nvSpPr>
        <p:spPr>
          <a:xfrm>
            <a:off x="612648" y="2240280"/>
            <a:ext cx="3200400" cy="0"/>
          </a:xfrm>
          <a:prstGeom prst="rect">
            <a:avLst/>
          </a:prstGeom>
          <a:noFill/>
          <a:ln/>
        </p:spPr>
        <p:txBody>
          <a:bodyPr wrap="square" rtlCol="0" anchor="ctr"/>
          <a:lstStyle/>
          <a:p>
            <a:pPr indent="0" marL="0">
              <a:buNone/>
            </a:pPr>
            <a:r>
              <a:rPr lang="en-US" sz="1050" dirty="0">
                <a:solidFill>
                  <a:srgbClr val="5A6B7C"/>
                </a:solidFill>
              </a:rPr>
              <a:t>60 FPS canvas redraw speed on mid-range Android/iOS.</a:t>
            </a:r>
            <a:endParaRPr lang="en-US" sz="1050" dirty="0"/>
          </a:p>
        </p:txBody>
      </p:sp>
      <p:sp>
        <p:nvSpPr>
          <p:cNvPr id="19" name="Shape 17"/>
          <p:cNvSpPr/>
          <p:nvPr/>
        </p:nvSpPr>
        <p:spPr>
          <a:xfrm>
            <a:off x="484632" y="2788920"/>
            <a:ext cx="54864" cy="320040"/>
          </a:xfrm>
          <a:prstGeom prst="rect">
            <a:avLst/>
          </a:prstGeom>
          <a:solidFill>
            <a:srgbClr val="9D2706"/>
          </a:solidFill>
          <a:ln/>
        </p:spPr>
      </p:sp>
      <p:sp>
        <p:nvSpPr>
          <p:cNvPr id="20" name="Text 18"/>
          <p:cNvSpPr/>
          <p:nvPr/>
        </p:nvSpPr>
        <p:spPr>
          <a:xfrm>
            <a:off x="612648" y="2788920"/>
            <a:ext cx="3200400" cy="0"/>
          </a:xfrm>
          <a:prstGeom prst="rect">
            <a:avLst/>
          </a:prstGeom>
          <a:noFill/>
          <a:ln/>
        </p:spPr>
        <p:txBody>
          <a:bodyPr wrap="square" rtlCol="0" anchor="ctr"/>
          <a:lstStyle/>
          <a:p>
            <a:pPr indent="0" marL="0">
              <a:buNone/>
            </a:pPr>
            <a:r>
              <a:rPr lang="en-US" sz="1050" dirty="0">
                <a:solidFill>
                  <a:srgbClr val="5A6B7C"/>
                </a:solidFill>
              </a:rPr>
              <a:t>Edge CDN configurations to load model bundles quickly.</a:t>
            </a:r>
            <a:endParaRPr lang="en-US" sz="1050" dirty="0"/>
          </a:p>
        </p:txBody>
      </p:sp>
      <p:sp>
        <p:nvSpPr>
          <p:cNvPr id="21" name="Shape 19"/>
          <p:cNvSpPr/>
          <p:nvPr/>
        </p:nvSpPr>
        <p:spPr>
          <a:xfrm>
            <a:off x="4233672" y="1005840"/>
            <a:ext cx="3611880" cy="2377440"/>
          </a:xfrm>
          <a:prstGeom prst="rect">
            <a:avLst/>
          </a:prstGeom>
          <a:solidFill>
            <a:srgbClr val="FFFFFF"/>
          </a:solidFill>
          <a:ln w="12700">
            <a:solidFill>
              <a:srgbClr val="E2E8F0"/>
            </a:solidFill>
            <a:prstDash val="solid"/>
          </a:ln>
        </p:spPr>
      </p:sp>
      <p:sp>
        <p:nvSpPr>
          <p:cNvPr id="22" name="Shape 20"/>
          <p:cNvSpPr/>
          <p:nvPr/>
        </p:nvSpPr>
        <p:spPr>
          <a:xfrm>
            <a:off x="4233672" y="1005840"/>
            <a:ext cx="3611880" cy="530352"/>
          </a:xfrm>
          <a:prstGeom prst="rect">
            <a:avLst/>
          </a:prstGeom>
          <a:solidFill>
            <a:srgbClr val="EDF2F7"/>
          </a:solidFill>
          <a:ln/>
        </p:spPr>
      </p:sp>
      <p:sp>
        <p:nvSpPr>
          <p:cNvPr id="23" name="Shape 21"/>
          <p:cNvSpPr/>
          <p:nvPr/>
        </p:nvSpPr>
        <p:spPr>
          <a:xfrm>
            <a:off x="4233672" y="1005840"/>
            <a:ext cx="64008" cy="2377440"/>
          </a:xfrm>
          <a:prstGeom prst="rect">
            <a:avLst/>
          </a:prstGeom>
          <a:solidFill>
            <a:srgbClr val="9D2706"/>
          </a:solidFill>
          <a:ln/>
        </p:spPr>
      </p:sp>
      <p:sp>
        <p:nvSpPr>
          <p:cNvPr id="24" name="Text 22"/>
          <p:cNvSpPr/>
          <p:nvPr/>
        </p:nvSpPr>
        <p:spPr>
          <a:xfrm>
            <a:off x="4398264" y="1115568"/>
            <a:ext cx="3337560" cy="0"/>
          </a:xfrm>
          <a:prstGeom prst="rect">
            <a:avLst/>
          </a:prstGeom>
          <a:noFill/>
          <a:ln/>
        </p:spPr>
        <p:txBody>
          <a:bodyPr wrap="square" rtlCol="0" anchor="ctr"/>
          <a:lstStyle/>
          <a:p>
            <a:pPr indent="0" marL="0">
              <a:buNone/>
            </a:pPr>
            <a:r>
              <a:rPr lang="en-US" sz="1300" b="1" dirty="0">
                <a:solidFill>
                  <a:srgbClr val="2C3E50"/>
                </a:solidFill>
              </a:rPr>
              <a:t>🪄  AR Platform</a:t>
            </a:r>
            <a:endParaRPr lang="en-US" sz="1300" dirty="0"/>
          </a:p>
        </p:txBody>
      </p:sp>
      <p:sp>
        <p:nvSpPr>
          <p:cNvPr id="25" name="Shape 23"/>
          <p:cNvSpPr/>
          <p:nvPr/>
        </p:nvSpPr>
        <p:spPr>
          <a:xfrm>
            <a:off x="4398264" y="1691640"/>
            <a:ext cx="54864" cy="320040"/>
          </a:xfrm>
          <a:prstGeom prst="rect">
            <a:avLst/>
          </a:prstGeom>
          <a:solidFill>
            <a:srgbClr val="9D2706"/>
          </a:solidFill>
          <a:ln/>
        </p:spPr>
      </p:sp>
      <p:sp>
        <p:nvSpPr>
          <p:cNvPr id="26" name="Text 24"/>
          <p:cNvSpPr/>
          <p:nvPr/>
        </p:nvSpPr>
        <p:spPr>
          <a:xfrm>
            <a:off x="4526280" y="1691640"/>
            <a:ext cx="3200400" cy="0"/>
          </a:xfrm>
          <a:prstGeom prst="rect">
            <a:avLst/>
          </a:prstGeom>
          <a:noFill/>
          <a:ln/>
        </p:spPr>
        <p:txBody>
          <a:bodyPr wrap="square" rtlCol="0" anchor="ctr"/>
          <a:lstStyle/>
          <a:p>
            <a:pPr indent="0" marL="0">
              <a:buNone/>
            </a:pPr>
            <a:r>
              <a:rPr lang="en-US" sz="1050" dirty="0">
                <a:solidFill>
                  <a:srgbClr val="5A6B7C"/>
                </a:solidFill>
              </a:rPr>
              <a:t>WebXR device integration on Safari iOS 12+ and Chrome.</a:t>
            </a:r>
            <a:endParaRPr lang="en-US" sz="1050" dirty="0"/>
          </a:p>
        </p:txBody>
      </p:sp>
      <p:sp>
        <p:nvSpPr>
          <p:cNvPr id="27" name="Shape 25"/>
          <p:cNvSpPr/>
          <p:nvPr/>
        </p:nvSpPr>
        <p:spPr>
          <a:xfrm>
            <a:off x="4398264" y="2240280"/>
            <a:ext cx="54864" cy="320040"/>
          </a:xfrm>
          <a:prstGeom prst="rect">
            <a:avLst/>
          </a:prstGeom>
          <a:solidFill>
            <a:srgbClr val="9D2706"/>
          </a:solidFill>
          <a:ln/>
        </p:spPr>
      </p:sp>
      <p:sp>
        <p:nvSpPr>
          <p:cNvPr id="28" name="Text 26"/>
          <p:cNvSpPr/>
          <p:nvPr/>
        </p:nvSpPr>
        <p:spPr>
          <a:xfrm>
            <a:off x="4526280" y="2240280"/>
            <a:ext cx="3200400" cy="0"/>
          </a:xfrm>
          <a:prstGeom prst="rect">
            <a:avLst/>
          </a:prstGeom>
          <a:noFill/>
          <a:ln/>
        </p:spPr>
        <p:txBody>
          <a:bodyPr wrap="square" rtlCol="0" anchor="ctr"/>
          <a:lstStyle/>
          <a:p>
            <a:pPr indent="0" marL="0">
              <a:buNone/>
            </a:pPr>
            <a:r>
              <a:rPr lang="en-US" sz="1050" dirty="0">
                <a:solidFill>
                  <a:srgbClr val="5A6B7C"/>
                </a:solidFill>
              </a:rPr>
              <a:t>USDZ generation pipeline for instant Apple Quick Look.</a:t>
            </a:r>
            <a:endParaRPr lang="en-US" sz="1050" dirty="0"/>
          </a:p>
        </p:txBody>
      </p:sp>
      <p:sp>
        <p:nvSpPr>
          <p:cNvPr id="29" name="Shape 27"/>
          <p:cNvSpPr/>
          <p:nvPr/>
        </p:nvSpPr>
        <p:spPr>
          <a:xfrm>
            <a:off x="4398264" y="2788920"/>
            <a:ext cx="54864" cy="320040"/>
          </a:xfrm>
          <a:prstGeom prst="rect">
            <a:avLst/>
          </a:prstGeom>
          <a:solidFill>
            <a:srgbClr val="9D2706"/>
          </a:solidFill>
          <a:ln/>
        </p:spPr>
      </p:sp>
      <p:sp>
        <p:nvSpPr>
          <p:cNvPr id="30" name="Text 28"/>
          <p:cNvSpPr/>
          <p:nvPr/>
        </p:nvSpPr>
        <p:spPr>
          <a:xfrm>
            <a:off x="4526280" y="2788920"/>
            <a:ext cx="3200400" cy="0"/>
          </a:xfrm>
          <a:prstGeom prst="rect">
            <a:avLst/>
          </a:prstGeom>
          <a:noFill/>
          <a:ln/>
        </p:spPr>
        <p:txBody>
          <a:bodyPr wrap="square" rtlCol="0" anchor="ctr"/>
          <a:lstStyle/>
          <a:p>
            <a:pPr indent="0" marL="0">
              <a:buNone/>
            </a:pPr>
            <a:r>
              <a:rPr lang="en-US" sz="1050" dirty="0">
                <a:solidFill>
                  <a:srgbClr val="5A6B7C"/>
                </a:solidFill>
              </a:rPr>
              <a:t>In-browser TensorFlow weight loading target under 2MB.</a:t>
            </a:r>
            <a:endParaRPr lang="en-US" sz="1050" dirty="0"/>
          </a:p>
        </p:txBody>
      </p:sp>
      <p:sp>
        <p:nvSpPr>
          <p:cNvPr id="31" name="Shape 29"/>
          <p:cNvSpPr/>
          <p:nvPr/>
        </p:nvSpPr>
        <p:spPr>
          <a:xfrm>
            <a:off x="8147304" y="1005840"/>
            <a:ext cx="3611880" cy="2377440"/>
          </a:xfrm>
          <a:prstGeom prst="rect">
            <a:avLst/>
          </a:prstGeom>
          <a:solidFill>
            <a:srgbClr val="FFFFFF"/>
          </a:solidFill>
          <a:ln w="12700">
            <a:solidFill>
              <a:srgbClr val="E2E8F0"/>
            </a:solidFill>
            <a:prstDash val="solid"/>
          </a:ln>
        </p:spPr>
      </p:sp>
      <p:sp>
        <p:nvSpPr>
          <p:cNvPr id="32" name="Shape 30"/>
          <p:cNvSpPr/>
          <p:nvPr/>
        </p:nvSpPr>
        <p:spPr>
          <a:xfrm>
            <a:off x="8147304" y="1005840"/>
            <a:ext cx="3611880" cy="530352"/>
          </a:xfrm>
          <a:prstGeom prst="rect">
            <a:avLst/>
          </a:prstGeom>
          <a:solidFill>
            <a:srgbClr val="EDF2F7"/>
          </a:solidFill>
          <a:ln/>
        </p:spPr>
      </p:sp>
      <p:sp>
        <p:nvSpPr>
          <p:cNvPr id="33" name="Shape 31"/>
          <p:cNvSpPr/>
          <p:nvPr/>
        </p:nvSpPr>
        <p:spPr>
          <a:xfrm>
            <a:off x="8147304" y="1005840"/>
            <a:ext cx="64008" cy="2377440"/>
          </a:xfrm>
          <a:prstGeom prst="rect">
            <a:avLst/>
          </a:prstGeom>
          <a:solidFill>
            <a:srgbClr val="9D2706"/>
          </a:solidFill>
          <a:ln/>
        </p:spPr>
      </p:sp>
      <p:sp>
        <p:nvSpPr>
          <p:cNvPr id="34" name="Text 32"/>
          <p:cNvSpPr/>
          <p:nvPr/>
        </p:nvSpPr>
        <p:spPr>
          <a:xfrm>
            <a:off x="8311896" y="1115568"/>
            <a:ext cx="3337560" cy="0"/>
          </a:xfrm>
          <a:prstGeom prst="rect">
            <a:avLst/>
          </a:prstGeom>
          <a:noFill/>
          <a:ln/>
        </p:spPr>
        <p:txBody>
          <a:bodyPr wrap="square" rtlCol="0" anchor="ctr"/>
          <a:lstStyle/>
          <a:p>
            <a:pPr indent="0" marL="0">
              <a:buNone/>
            </a:pPr>
            <a:r>
              <a:rPr lang="en-US" sz="1300" b="1" dirty="0">
                <a:solidFill>
                  <a:srgbClr val="2C3E50"/>
                </a:solidFill>
              </a:rPr>
              <a:t>🔒  Security</a:t>
            </a:r>
            <a:endParaRPr lang="en-US" sz="1300" dirty="0"/>
          </a:p>
        </p:txBody>
      </p:sp>
      <p:sp>
        <p:nvSpPr>
          <p:cNvPr id="35" name="Shape 33"/>
          <p:cNvSpPr/>
          <p:nvPr/>
        </p:nvSpPr>
        <p:spPr>
          <a:xfrm>
            <a:off x="8311896" y="1691640"/>
            <a:ext cx="54864" cy="320040"/>
          </a:xfrm>
          <a:prstGeom prst="rect">
            <a:avLst/>
          </a:prstGeom>
          <a:solidFill>
            <a:srgbClr val="9D2706"/>
          </a:solidFill>
          <a:ln/>
        </p:spPr>
      </p:sp>
      <p:sp>
        <p:nvSpPr>
          <p:cNvPr id="36" name="Text 34"/>
          <p:cNvSpPr/>
          <p:nvPr/>
        </p:nvSpPr>
        <p:spPr>
          <a:xfrm>
            <a:off x="8439912" y="1691640"/>
            <a:ext cx="3200400" cy="0"/>
          </a:xfrm>
          <a:prstGeom prst="rect">
            <a:avLst/>
          </a:prstGeom>
          <a:noFill/>
          <a:ln/>
        </p:spPr>
        <p:txBody>
          <a:bodyPr wrap="square" rtlCol="0" anchor="ctr"/>
          <a:lstStyle/>
          <a:p>
            <a:pPr indent="0" marL="0">
              <a:buNone/>
            </a:pPr>
            <a:r>
              <a:rPr lang="en-US" sz="1050" dirty="0">
                <a:solidFill>
                  <a:srgbClr val="5A6B7C"/>
                </a:solidFill>
              </a:rPr>
              <a:t>Token rotations with JWT authorization for dashboards.</a:t>
            </a:r>
            <a:endParaRPr lang="en-US" sz="1050" dirty="0"/>
          </a:p>
        </p:txBody>
      </p:sp>
      <p:sp>
        <p:nvSpPr>
          <p:cNvPr id="37" name="Shape 35"/>
          <p:cNvSpPr/>
          <p:nvPr/>
        </p:nvSpPr>
        <p:spPr>
          <a:xfrm>
            <a:off x="8311896" y="2240280"/>
            <a:ext cx="54864" cy="320040"/>
          </a:xfrm>
          <a:prstGeom prst="rect">
            <a:avLst/>
          </a:prstGeom>
          <a:solidFill>
            <a:srgbClr val="9D2706"/>
          </a:solidFill>
          <a:ln/>
        </p:spPr>
      </p:sp>
      <p:sp>
        <p:nvSpPr>
          <p:cNvPr id="38" name="Text 36"/>
          <p:cNvSpPr/>
          <p:nvPr/>
        </p:nvSpPr>
        <p:spPr>
          <a:xfrm>
            <a:off x="8439912" y="2240280"/>
            <a:ext cx="3200400" cy="0"/>
          </a:xfrm>
          <a:prstGeom prst="rect">
            <a:avLst/>
          </a:prstGeom>
          <a:noFill/>
          <a:ln/>
        </p:spPr>
        <p:txBody>
          <a:bodyPr wrap="square" rtlCol="0" anchor="ctr"/>
          <a:lstStyle/>
          <a:p>
            <a:pPr indent="0" marL="0">
              <a:buNone/>
            </a:pPr>
            <a:r>
              <a:rPr lang="en-US" sz="1050" dirty="0">
                <a:solidFill>
                  <a:srgbClr val="5A6B7C"/>
                </a:solidFill>
              </a:rPr>
              <a:t>Shopify App credentials stored securely; OAuth handshake.</a:t>
            </a:r>
            <a:endParaRPr lang="en-US" sz="1050" dirty="0"/>
          </a:p>
        </p:txBody>
      </p:sp>
      <p:sp>
        <p:nvSpPr>
          <p:cNvPr id="39" name="Shape 37"/>
          <p:cNvSpPr/>
          <p:nvPr/>
        </p:nvSpPr>
        <p:spPr>
          <a:xfrm>
            <a:off x="8311896" y="2788920"/>
            <a:ext cx="54864" cy="320040"/>
          </a:xfrm>
          <a:prstGeom prst="rect">
            <a:avLst/>
          </a:prstGeom>
          <a:solidFill>
            <a:srgbClr val="9D2706"/>
          </a:solidFill>
          <a:ln/>
        </p:spPr>
      </p:sp>
      <p:sp>
        <p:nvSpPr>
          <p:cNvPr id="40" name="Text 38"/>
          <p:cNvSpPr/>
          <p:nvPr/>
        </p:nvSpPr>
        <p:spPr>
          <a:xfrm>
            <a:off x="8439912" y="2788920"/>
            <a:ext cx="3200400" cy="0"/>
          </a:xfrm>
          <a:prstGeom prst="rect">
            <a:avLst/>
          </a:prstGeom>
          <a:noFill/>
          <a:ln/>
        </p:spPr>
        <p:txBody>
          <a:bodyPr wrap="square" rtlCol="0" anchor="ctr"/>
          <a:lstStyle/>
          <a:p>
            <a:pPr indent="0" marL="0">
              <a:buNone/>
            </a:pPr>
            <a:r>
              <a:rPr lang="en-US" sz="1050" dirty="0">
                <a:solidFill>
                  <a:srgbClr val="5A6B7C"/>
                </a:solidFill>
              </a:rPr>
              <a:t>GDPR-compliant cookie limits and transaction logging.</a:t>
            </a:r>
            <a:endParaRPr lang="en-US" sz="1050" dirty="0"/>
          </a:p>
        </p:txBody>
      </p:sp>
      <p:sp>
        <p:nvSpPr>
          <p:cNvPr id="41" name="Shape 39"/>
          <p:cNvSpPr/>
          <p:nvPr/>
        </p:nvSpPr>
        <p:spPr>
          <a:xfrm>
            <a:off x="320040" y="3520440"/>
            <a:ext cx="3611880" cy="2377440"/>
          </a:xfrm>
          <a:prstGeom prst="rect">
            <a:avLst/>
          </a:prstGeom>
          <a:solidFill>
            <a:srgbClr val="FFFFFF"/>
          </a:solidFill>
          <a:ln w="12700">
            <a:solidFill>
              <a:srgbClr val="E2E8F0"/>
            </a:solidFill>
            <a:prstDash val="solid"/>
          </a:ln>
        </p:spPr>
      </p:sp>
      <p:sp>
        <p:nvSpPr>
          <p:cNvPr id="42" name="Shape 40"/>
          <p:cNvSpPr/>
          <p:nvPr/>
        </p:nvSpPr>
        <p:spPr>
          <a:xfrm>
            <a:off x="320040" y="3520440"/>
            <a:ext cx="3611880" cy="530352"/>
          </a:xfrm>
          <a:prstGeom prst="rect">
            <a:avLst/>
          </a:prstGeom>
          <a:solidFill>
            <a:srgbClr val="EDF2F7"/>
          </a:solidFill>
          <a:ln/>
        </p:spPr>
      </p:sp>
      <p:sp>
        <p:nvSpPr>
          <p:cNvPr id="43" name="Shape 41"/>
          <p:cNvSpPr/>
          <p:nvPr/>
        </p:nvSpPr>
        <p:spPr>
          <a:xfrm>
            <a:off x="320040" y="3520440"/>
            <a:ext cx="64008" cy="2377440"/>
          </a:xfrm>
          <a:prstGeom prst="rect">
            <a:avLst/>
          </a:prstGeom>
          <a:solidFill>
            <a:srgbClr val="9D2706"/>
          </a:solidFill>
          <a:ln/>
        </p:spPr>
      </p:sp>
      <p:sp>
        <p:nvSpPr>
          <p:cNvPr id="44" name="Text 42"/>
          <p:cNvSpPr/>
          <p:nvPr/>
        </p:nvSpPr>
        <p:spPr>
          <a:xfrm>
            <a:off x="484632" y="3630168"/>
            <a:ext cx="3337560" cy="0"/>
          </a:xfrm>
          <a:prstGeom prst="rect">
            <a:avLst/>
          </a:prstGeom>
          <a:noFill/>
          <a:ln/>
        </p:spPr>
        <p:txBody>
          <a:bodyPr wrap="square" rtlCol="0" anchor="ctr"/>
          <a:lstStyle/>
          <a:p>
            <a:pPr indent="0" marL="0">
              <a:buNone/>
            </a:pPr>
            <a:r>
              <a:rPr lang="en-US" sz="1300" b="1" dirty="0">
                <a:solidFill>
                  <a:srgbClr val="2C3E50"/>
                </a:solidFill>
              </a:rPr>
              <a:t>📈  Scalability</a:t>
            </a:r>
            <a:endParaRPr lang="en-US" sz="1300" dirty="0"/>
          </a:p>
        </p:txBody>
      </p:sp>
      <p:sp>
        <p:nvSpPr>
          <p:cNvPr id="45" name="Shape 43"/>
          <p:cNvSpPr/>
          <p:nvPr/>
        </p:nvSpPr>
        <p:spPr>
          <a:xfrm>
            <a:off x="484632" y="4206240"/>
            <a:ext cx="54864" cy="320040"/>
          </a:xfrm>
          <a:prstGeom prst="rect">
            <a:avLst/>
          </a:prstGeom>
          <a:solidFill>
            <a:srgbClr val="9D2706"/>
          </a:solidFill>
          <a:ln/>
        </p:spPr>
      </p:sp>
      <p:sp>
        <p:nvSpPr>
          <p:cNvPr id="46" name="Text 44"/>
          <p:cNvSpPr/>
          <p:nvPr/>
        </p:nvSpPr>
        <p:spPr>
          <a:xfrm>
            <a:off x="612648" y="4206240"/>
            <a:ext cx="3200400" cy="0"/>
          </a:xfrm>
          <a:prstGeom prst="rect">
            <a:avLst/>
          </a:prstGeom>
          <a:noFill/>
          <a:ln/>
        </p:spPr>
        <p:txBody>
          <a:bodyPr wrap="square" rtlCol="0" anchor="ctr"/>
          <a:lstStyle/>
          <a:p>
            <a:pPr indent="0" marL="0">
              <a:buNone/>
            </a:pPr>
            <a:r>
              <a:rPr lang="en-US" sz="1050" dirty="0">
                <a:solidFill>
                  <a:srgbClr val="5A6B7C"/>
                </a:solidFill>
              </a:rPr>
              <a:t>Database structures support isolated multi-tenant schemas.</a:t>
            </a:r>
            <a:endParaRPr lang="en-US" sz="1050" dirty="0"/>
          </a:p>
        </p:txBody>
      </p:sp>
      <p:sp>
        <p:nvSpPr>
          <p:cNvPr id="47" name="Shape 45"/>
          <p:cNvSpPr/>
          <p:nvPr/>
        </p:nvSpPr>
        <p:spPr>
          <a:xfrm>
            <a:off x="484632" y="4754880"/>
            <a:ext cx="54864" cy="320040"/>
          </a:xfrm>
          <a:prstGeom prst="rect">
            <a:avLst/>
          </a:prstGeom>
          <a:solidFill>
            <a:srgbClr val="9D2706"/>
          </a:solidFill>
          <a:ln/>
        </p:spPr>
      </p:sp>
      <p:sp>
        <p:nvSpPr>
          <p:cNvPr id="48" name="Text 46"/>
          <p:cNvSpPr/>
          <p:nvPr/>
        </p:nvSpPr>
        <p:spPr>
          <a:xfrm>
            <a:off x="612648" y="4754880"/>
            <a:ext cx="3200400" cy="0"/>
          </a:xfrm>
          <a:prstGeom prst="rect">
            <a:avLst/>
          </a:prstGeom>
          <a:noFill/>
          <a:ln/>
        </p:spPr>
        <p:txBody>
          <a:bodyPr wrap="square" rtlCol="0" anchor="ctr"/>
          <a:lstStyle/>
          <a:p>
            <a:pPr indent="0" marL="0">
              <a:buNone/>
            </a:pPr>
            <a:r>
              <a:rPr lang="en-US" sz="1050" dirty="0">
                <a:solidFill>
                  <a:srgbClr val="5A6B7C"/>
                </a:solidFill>
              </a:rPr>
              <a:t>Serverless function scaling for global API endpoint routing.</a:t>
            </a:r>
            <a:endParaRPr lang="en-US" sz="1050" dirty="0"/>
          </a:p>
        </p:txBody>
      </p:sp>
      <p:sp>
        <p:nvSpPr>
          <p:cNvPr id="49" name="Shape 47"/>
          <p:cNvSpPr/>
          <p:nvPr/>
        </p:nvSpPr>
        <p:spPr>
          <a:xfrm>
            <a:off x="484632" y="5303520"/>
            <a:ext cx="54864" cy="320040"/>
          </a:xfrm>
          <a:prstGeom prst="rect">
            <a:avLst/>
          </a:prstGeom>
          <a:solidFill>
            <a:srgbClr val="9D2706"/>
          </a:solidFill>
          <a:ln/>
        </p:spPr>
      </p:sp>
      <p:sp>
        <p:nvSpPr>
          <p:cNvPr id="50" name="Text 48"/>
          <p:cNvSpPr/>
          <p:nvPr/>
        </p:nvSpPr>
        <p:spPr>
          <a:xfrm>
            <a:off x="612648" y="5303520"/>
            <a:ext cx="3200400" cy="0"/>
          </a:xfrm>
          <a:prstGeom prst="rect">
            <a:avLst/>
          </a:prstGeom>
          <a:noFill/>
          <a:ln/>
        </p:spPr>
        <p:txBody>
          <a:bodyPr wrap="square" rtlCol="0" anchor="ctr"/>
          <a:lstStyle/>
          <a:p>
            <a:pPr indent="0" marL="0">
              <a:buNone/>
            </a:pPr>
            <a:r>
              <a:rPr lang="en-US" sz="1050" dirty="0">
                <a:solidFill>
                  <a:srgbClr val="5A6B7C"/>
                </a:solidFill>
              </a:rPr>
              <a:t>Migrate platform infrastructure to AWS at 500+ tenants.</a:t>
            </a:r>
            <a:endParaRPr lang="en-US" sz="1050" dirty="0"/>
          </a:p>
        </p:txBody>
      </p:sp>
      <p:sp>
        <p:nvSpPr>
          <p:cNvPr id="51" name="Shape 49"/>
          <p:cNvSpPr/>
          <p:nvPr/>
        </p:nvSpPr>
        <p:spPr>
          <a:xfrm>
            <a:off x="4233672" y="3520440"/>
            <a:ext cx="3611880" cy="2377440"/>
          </a:xfrm>
          <a:prstGeom prst="rect">
            <a:avLst/>
          </a:prstGeom>
          <a:solidFill>
            <a:srgbClr val="FFFFFF"/>
          </a:solidFill>
          <a:ln w="12700">
            <a:solidFill>
              <a:srgbClr val="E2E8F0"/>
            </a:solidFill>
            <a:prstDash val="solid"/>
          </a:ln>
        </p:spPr>
      </p:sp>
      <p:sp>
        <p:nvSpPr>
          <p:cNvPr id="52" name="Shape 50"/>
          <p:cNvSpPr/>
          <p:nvPr/>
        </p:nvSpPr>
        <p:spPr>
          <a:xfrm>
            <a:off x="4233672" y="3520440"/>
            <a:ext cx="3611880" cy="530352"/>
          </a:xfrm>
          <a:prstGeom prst="rect">
            <a:avLst/>
          </a:prstGeom>
          <a:solidFill>
            <a:srgbClr val="EDF2F7"/>
          </a:solidFill>
          <a:ln/>
        </p:spPr>
      </p:sp>
      <p:sp>
        <p:nvSpPr>
          <p:cNvPr id="53" name="Shape 51"/>
          <p:cNvSpPr/>
          <p:nvPr/>
        </p:nvSpPr>
        <p:spPr>
          <a:xfrm>
            <a:off x="4233672" y="3520440"/>
            <a:ext cx="64008" cy="2377440"/>
          </a:xfrm>
          <a:prstGeom prst="rect">
            <a:avLst/>
          </a:prstGeom>
          <a:solidFill>
            <a:srgbClr val="9D2706"/>
          </a:solidFill>
          <a:ln/>
        </p:spPr>
      </p:sp>
      <p:sp>
        <p:nvSpPr>
          <p:cNvPr id="54" name="Text 52"/>
          <p:cNvSpPr/>
          <p:nvPr/>
        </p:nvSpPr>
        <p:spPr>
          <a:xfrm>
            <a:off x="4398264" y="3630168"/>
            <a:ext cx="3337560" cy="0"/>
          </a:xfrm>
          <a:prstGeom prst="rect">
            <a:avLst/>
          </a:prstGeom>
          <a:noFill/>
          <a:ln/>
        </p:spPr>
        <p:txBody>
          <a:bodyPr wrap="square" rtlCol="0" anchor="ctr"/>
          <a:lstStyle/>
          <a:p>
            <a:pPr indent="0" marL="0">
              <a:buNone/>
            </a:pPr>
            <a:r>
              <a:rPr lang="en-US" sz="1300" b="1" dirty="0">
                <a:solidFill>
                  <a:srgbClr val="2C3E50"/>
                </a:solidFill>
              </a:rPr>
              <a:t>🛒  E-Commerce</a:t>
            </a:r>
            <a:endParaRPr lang="en-US" sz="1300" dirty="0"/>
          </a:p>
        </p:txBody>
      </p:sp>
      <p:sp>
        <p:nvSpPr>
          <p:cNvPr id="55" name="Shape 53"/>
          <p:cNvSpPr/>
          <p:nvPr/>
        </p:nvSpPr>
        <p:spPr>
          <a:xfrm>
            <a:off x="4398264" y="4206240"/>
            <a:ext cx="54864" cy="320040"/>
          </a:xfrm>
          <a:prstGeom prst="rect">
            <a:avLst/>
          </a:prstGeom>
          <a:solidFill>
            <a:srgbClr val="9D2706"/>
          </a:solidFill>
          <a:ln/>
        </p:spPr>
      </p:sp>
      <p:sp>
        <p:nvSpPr>
          <p:cNvPr id="56" name="Text 54"/>
          <p:cNvSpPr/>
          <p:nvPr/>
        </p:nvSpPr>
        <p:spPr>
          <a:xfrm>
            <a:off x="4526280" y="4206240"/>
            <a:ext cx="3200400" cy="0"/>
          </a:xfrm>
          <a:prstGeom prst="rect">
            <a:avLst/>
          </a:prstGeom>
          <a:noFill/>
          <a:ln/>
        </p:spPr>
        <p:txBody>
          <a:bodyPr wrap="square" rtlCol="0" anchor="ctr"/>
          <a:lstStyle/>
          <a:p>
            <a:pPr indent="0" marL="0">
              <a:buNone/>
            </a:pPr>
            <a:r>
              <a:rPr lang="en-US" sz="1050" dirty="0">
                <a:solidFill>
                  <a:srgbClr val="5A6B7C"/>
                </a:solidFill>
              </a:rPr>
              <a:t>Direct cart synchronization on custom options select.</a:t>
            </a:r>
            <a:endParaRPr lang="en-US" sz="1050" dirty="0"/>
          </a:p>
        </p:txBody>
      </p:sp>
      <p:sp>
        <p:nvSpPr>
          <p:cNvPr id="57" name="Shape 55"/>
          <p:cNvSpPr/>
          <p:nvPr/>
        </p:nvSpPr>
        <p:spPr>
          <a:xfrm>
            <a:off x="4398264" y="4754880"/>
            <a:ext cx="54864" cy="320040"/>
          </a:xfrm>
          <a:prstGeom prst="rect">
            <a:avLst/>
          </a:prstGeom>
          <a:solidFill>
            <a:srgbClr val="9D2706"/>
          </a:solidFill>
          <a:ln/>
        </p:spPr>
      </p:sp>
      <p:sp>
        <p:nvSpPr>
          <p:cNvPr id="58" name="Text 56"/>
          <p:cNvSpPr/>
          <p:nvPr/>
        </p:nvSpPr>
        <p:spPr>
          <a:xfrm>
            <a:off x="4526280" y="4754880"/>
            <a:ext cx="3200400" cy="0"/>
          </a:xfrm>
          <a:prstGeom prst="rect">
            <a:avLst/>
          </a:prstGeom>
          <a:noFill/>
          <a:ln/>
        </p:spPr>
        <p:txBody>
          <a:bodyPr wrap="square" rtlCol="0" anchor="ctr"/>
          <a:lstStyle/>
          <a:p>
            <a:pPr indent="0" marL="0">
              <a:buNone/>
            </a:pPr>
            <a:r>
              <a:rPr lang="en-US" sz="1050" dirty="0">
                <a:solidFill>
                  <a:srgbClr val="5A6B7C"/>
                </a:solidFill>
              </a:rPr>
              <a:t>Shopify variant IDs map to material/colour properties.</a:t>
            </a:r>
            <a:endParaRPr lang="en-US" sz="1050" dirty="0"/>
          </a:p>
        </p:txBody>
      </p:sp>
      <p:sp>
        <p:nvSpPr>
          <p:cNvPr id="59" name="Shape 57"/>
          <p:cNvSpPr/>
          <p:nvPr/>
        </p:nvSpPr>
        <p:spPr>
          <a:xfrm>
            <a:off x="4398264" y="5303520"/>
            <a:ext cx="54864" cy="320040"/>
          </a:xfrm>
          <a:prstGeom prst="rect">
            <a:avLst/>
          </a:prstGeom>
          <a:solidFill>
            <a:srgbClr val="9D2706"/>
          </a:solidFill>
          <a:ln/>
        </p:spPr>
      </p:sp>
      <p:sp>
        <p:nvSpPr>
          <p:cNvPr id="60" name="Text 58"/>
          <p:cNvSpPr/>
          <p:nvPr/>
        </p:nvSpPr>
        <p:spPr>
          <a:xfrm>
            <a:off x="4526280" y="5303520"/>
            <a:ext cx="3200400" cy="0"/>
          </a:xfrm>
          <a:prstGeom prst="rect">
            <a:avLst/>
          </a:prstGeom>
          <a:noFill/>
          <a:ln/>
        </p:spPr>
        <p:txBody>
          <a:bodyPr wrap="square" rtlCol="0" anchor="ctr"/>
          <a:lstStyle/>
          <a:p>
            <a:pPr indent="0" marL="0">
              <a:buNone/>
            </a:pPr>
            <a:r>
              <a:rPr lang="en-US" sz="1050" dirty="0">
                <a:solidFill>
                  <a:srgbClr val="5A6B7C"/>
                </a:solidFill>
              </a:rPr>
              <a:t>JSON webhooks trigger orders with specifications sheet pdf.</a:t>
            </a:r>
            <a:endParaRPr lang="en-US" sz="1050" dirty="0"/>
          </a:p>
        </p:txBody>
      </p:sp>
      <p:sp>
        <p:nvSpPr>
          <p:cNvPr id="61" name="Shape 59"/>
          <p:cNvSpPr/>
          <p:nvPr/>
        </p:nvSpPr>
        <p:spPr>
          <a:xfrm>
            <a:off x="8147304" y="3520440"/>
            <a:ext cx="3611880" cy="2377440"/>
          </a:xfrm>
          <a:prstGeom prst="rect">
            <a:avLst/>
          </a:prstGeom>
          <a:solidFill>
            <a:srgbClr val="FFFFFF"/>
          </a:solidFill>
          <a:ln w="12700">
            <a:solidFill>
              <a:srgbClr val="E2E8F0"/>
            </a:solidFill>
            <a:prstDash val="solid"/>
          </a:ln>
        </p:spPr>
      </p:sp>
      <p:sp>
        <p:nvSpPr>
          <p:cNvPr id="62" name="Shape 60"/>
          <p:cNvSpPr/>
          <p:nvPr/>
        </p:nvSpPr>
        <p:spPr>
          <a:xfrm>
            <a:off x="8147304" y="3520440"/>
            <a:ext cx="3611880" cy="530352"/>
          </a:xfrm>
          <a:prstGeom prst="rect">
            <a:avLst/>
          </a:prstGeom>
          <a:solidFill>
            <a:srgbClr val="EDF2F7"/>
          </a:solidFill>
          <a:ln/>
        </p:spPr>
      </p:sp>
      <p:sp>
        <p:nvSpPr>
          <p:cNvPr id="63" name="Shape 61"/>
          <p:cNvSpPr/>
          <p:nvPr/>
        </p:nvSpPr>
        <p:spPr>
          <a:xfrm>
            <a:off x="8147304" y="3520440"/>
            <a:ext cx="64008" cy="2377440"/>
          </a:xfrm>
          <a:prstGeom prst="rect">
            <a:avLst/>
          </a:prstGeom>
          <a:solidFill>
            <a:srgbClr val="9D2706"/>
          </a:solidFill>
          <a:ln/>
        </p:spPr>
      </p:sp>
      <p:sp>
        <p:nvSpPr>
          <p:cNvPr id="64" name="Text 62"/>
          <p:cNvSpPr/>
          <p:nvPr/>
        </p:nvSpPr>
        <p:spPr>
          <a:xfrm>
            <a:off x="8311896" y="3630168"/>
            <a:ext cx="3337560" cy="0"/>
          </a:xfrm>
          <a:prstGeom prst="rect">
            <a:avLst/>
          </a:prstGeom>
          <a:noFill/>
          <a:ln/>
        </p:spPr>
        <p:txBody>
          <a:bodyPr wrap="square" rtlCol="0" anchor="ctr"/>
          <a:lstStyle/>
          <a:p>
            <a:pPr indent="0" marL="0">
              <a:buNone/>
            </a:pPr>
            <a:r>
              <a:rPr lang="en-US" sz="1300" b="1" dirty="0">
                <a:solidFill>
                  <a:srgbClr val="2C3E50"/>
                </a:solidFill>
              </a:rPr>
              <a:t>🎨  3D Models</a:t>
            </a:r>
            <a:endParaRPr lang="en-US" sz="1300" dirty="0"/>
          </a:p>
        </p:txBody>
      </p:sp>
      <p:sp>
        <p:nvSpPr>
          <p:cNvPr id="65" name="Shape 63"/>
          <p:cNvSpPr/>
          <p:nvPr/>
        </p:nvSpPr>
        <p:spPr>
          <a:xfrm>
            <a:off x="8311896" y="4206240"/>
            <a:ext cx="54864" cy="320040"/>
          </a:xfrm>
          <a:prstGeom prst="rect">
            <a:avLst/>
          </a:prstGeom>
          <a:solidFill>
            <a:srgbClr val="9D2706"/>
          </a:solidFill>
          <a:ln/>
        </p:spPr>
      </p:sp>
      <p:sp>
        <p:nvSpPr>
          <p:cNvPr id="66" name="Text 64"/>
          <p:cNvSpPr/>
          <p:nvPr/>
        </p:nvSpPr>
        <p:spPr>
          <a:xfrm>
            <a:off x="8439912" y="4206240"/>
            <a:ext cx="3200400" cy="0"/>
          </a:xfrm>
          <a:prstGeom prst="rect">
            <a:avLst/>
          </a:prstGeom>
          <a:noFill/>
          <a:ln/>
        </p:spPr>
        <p:txBody>
          <a:bodyPr wrap="square" rtlCol="0" anchor="ctr"/>
          <a:lstStyle/>
          <a:p>
            <a:pPr indent="0" marL="0">
              <a:buNone/>
            </a:pPr>
            <a:r>
              <a:rPr lang="en-US" sz="1050" dirty="0">
                <a:solidFill>
                  <a:srgbClr val="5A6B7C"/>
                </a:solidFill>
              </a:rPr>
              <a:t>Draco compression keeps geometry bundles under 5MB.</a:t>
            </a:r>
            <a:endParaRPr lang="en-US" sz="1050" dirty="0"/>
          </a:p>
        </p:txBody>
      </p:sp>
      <p:sp>
        <p:nvSpPr>
          <p:cNvPr id="67" name="Shape 65"/>
          <p:cNvSpPr/>
          <p:nvPr/>
        </p:nvSpPr>
        <p:spPr>
          <a:xfrm>
            <a:off x="8311896" y="4754880"/>
            <a:ext cx="54864" cy="320040"/>
          </a:xfrm>
          <a:prstGeom prst="rect">
            <a:avLst/>
          </a:prstGeom>
          <a:solidFill>
            <a:srgbClr val="9D2706"/>
          </a:solidFill>
          <a:ln/>
        </p:spPr>
      </p:sp>
      <p:sp>
        <p:nvSpPr>
          <p:cNvPr id="68" name="Text 66"/>
          <p:cNvSpPr/>
          <p:nvPr/>
        </p:nvSpPr>
        <p:spPr>
          <a:xfrm>
            <a:off x="8439912" y="4754880"/>
            <a:ext cx="3200400" cy="0"/>
          </a:xfrm>
          <a:prstGeom prst="rect">
            <a:avLst/>
          </a:prstGeom>
          <a:noFill/>
          <a:ln/>
        </p:spPr>
        <p:txBody>
          <a:bodyPr wrap="square" rtlCol="0" anchor="ctr"/>
          <a:lstStyle/>
          <a:p>
            <a:pPr indent="0" marL="0">
              <a:buNone/>
            </a:pPr>
            <a:r>
              <a:rPr lang="en-US" sz="1050" dirty="0">
                <a:solidFill>
                  <a:srgbClr val="5A6B7C"/>
                </a:solidFill>
              </a:rPr>
              <a:t>Physically Based Rendering (PBR) materials for realistic view.</a:t>
            </a:r>
            <a:endParaRPr lang="en-US" sz="1050" dirty="0"/>
          </a:p>
        </p:txBody>
      </p:sp>
      <p:sp>
        <p:nvSpPr>
          <p:cNvPr id="69" name="Shape 67"/>
          <p:cNvSpPr/>
          <p:nvPr/>
        </p:nvSpPr>
        <p:spPr>
          <a:xfrm>
            <a:off x="8311896" y="5303520"/>
            <a:ext cx="54864" cy="320040"/>
          </a:xfrm>
          <a:prstGeom prst="rect">
            <a:avLst/>
          </a:prstGeom>
          <a:solidFill>
            <a:srgbClr val="9D2706"/>
          </a:solidFill>
          <a:ln/>
        </p:spPr>
      </p:sp>
      <p:sp>
        <p:nvSpPr>
          <p:cNvPr id="70" name="Text 68"/>
          <p:cNvSpPr/>
          <p:nvPr/>
        </p:nvSpPr>
        <p:spPr>
          <a:xfrm>
            <a:off x="8439912" y="5303520"/>
            <a:ext cx="3200400" cy="0"/>
          </a:xfrm>
          <a:prstGeom prst="rect">
            <a:avLst/>
          </a:prstGeom>
          <a:noFill/>
          <a:ln/>
        </p:spPr>
        <p:txBody>
          <a:bodyPr wrap="square" rtlCol="0" anchor="ctr"/>
          <a:lstStyle/>
          <a:p>
            <a:pPr indent="0" marL="0">
              <a:buNone/>
            </a:pPr>
            <a:r>
              <a:rPr lang="en-US" sz="1050" dirty="0">
                <a:solidFill>
                  <a:srgbClr val="5A6B7C"/>
                </a:solidFill>
              </a:rPr>
              <a:t>Initial pipeline testing verifies geometry coordinates.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9D2706"/>
          </a:solidFill>
          <a:ln/>
        </p:spPr>
      </p:sp>
      <p:sp>
        <p:nvSpPr>
          <p:cNvPr id="3" name="Shape 1"/>
          <p:cNvSpPr/>
          <p:nvPr/>
        </p:nvSpPr>
        <p:spPr>
          <a:xfrm>
            <a:off x="91440" y="0"/>
            <a:ext cx="12070080" cy="822960"/>
          </a:xfrm>
          <a:prstGeom prst="rect">
            <a:avLst/>
          </a:prstGeom>
          <a:solidFill>
            <a:srgbClr val="FFFFFF"/>
          </a:solidFill>
          <a:ln/>
        </p:spPr>
      </p:sp>
      <p:sp>
        <p:nvSpPr>
          <p:cNvPr id="4" name="Shape 2"/>
          <p:cNvSpPr/>
          <p:nvPr/>
        </p:nvSpPr>
        <p:spPr>
          <a:xfrm>
            <a:off x="91440" y="804672"/>
            <a:ext cx="12070080" cy="27432"/>
          </a:xfrm>
          <a:prstGeom prst="rect">
            <a:avLst/>
          </a:prstGeom>
          <a:solidFill>
            <a:srgbClr val="E2E8F0"/>
          </a:solidFill>
          <a:ln/>
        </p:spPr>
      </p:sp>
      <p:sp>
        <p:nvSpPr>
          <p:cNvPr id="5" name="Text 3"/>
          <p:cNvSpPr/>
          <p:nvPr/>
        </p:nvSpPr>
        <p:spPr>
          <a:xfrm>
            <a:off x="320040" y="182880"/>
            <a:ext cx="2286000" cy="457200"/>
          </a:xfrm>
          <a:prstGeom prst="rect">
            <a:avLst/>
          </a:prstGeom>
          <a:noFill/>
          <a:ln/>
        </p:spPr>
        <p:txBody>
          <a:bodyPr wrap="square" rtlCol="0" anchor="ctr"/>
          <a:lstStyle/>
          <a:p>
            <a:pPr indent="0" marL="0">
              <a:buNone/>
            </a:pPr>
            <a:r>
              <a:rPr lang="en-US" sz="1200" b="1" spc="400" kern="0" dirty="0">
                <a:solidFill>
                  <a:srgbClr val="9D2706"/>
                </a:solidFill>
              </a:rPr>
              <a:t>COGNAQ</a:t>
            </a:r>
            <a:endParaRPr lang="en-US" sz="1200" dirty="0"/>
          </a:p>
        </p:txBody>
      </p:sp>
      <p:sp>
        <p:nvSpPr>
          <p:cNvPr id="6" name="Text 4"/>
          <p:cNvSpPr/>
          <p:nvPr/>
        </p:nvSpPr>
        <p:spPr>
          <a:xfrm>
            <a:off x="2743200" y="109728"/>
            <a:ext cx="8869680" cy="594360"/>
          </a:xfrm>
          <a:prstGeom prst="rect">
            <a:avLst/>
          </a:prstGeom>
          <a:noFill/>
          <a:ln/>
        </p:spPr>
        <p:txBody>
          <a:bodyPr wrap="square" rtlCol="0" anchor="ctr"/>
          <a:lstStyle/>
          <a:p>
            <a:pPr algn="r" indent="0" marL="0">
              <a:buNone/>
            </a:pPr>
            <a:r>
              <a:rPr lang="en-US" sz="2200" b="1" dirty="0">
                <a:solidFill>
                  <a:srgbClr val="2C3E50"/>
                </a:solidFill>
              </a:rPr>
              <a:t>Deliverables &amp; Success Metrics</a:t>
            </a:r>
            <a:endParaRPr lang="en-US" sz="2200" dirty="0"/>
          </a:p>
        </p:txBody>
      </p:sp>
      <p:sp>
        <p:nvSpPr>
          <p:cNvPr id="7" name="Text 5"/>
          <p:cNvSpPr/>
          <p:nvPr/>
        </p:nvSpPr>
        <p:spPr>
          <a:xfrm>
            <a:off x="320040" y="868680"/>
            <a:ext cx="11216640" cy="0"/>
          </a:xfrm>
          <a:prstGeom prst="rect">
            <a:avLst/>
          </a:prstGeom>
          <a:noFill/>
          <a:ln/>
        </p:spPr>
        <p:txBody>
          <a:bodyPr wrap="square" rtlCol="0" anchor="ctr"/>
          <a:lstStyle/>
          <a:p>
            <a:pPr indent="0" marL="0">
              <a:buNone/>
            </a:pPr>
            <a:r>
              <a:rPr lang="en-US" sz="1100" i="1" dirty="0">
                <a:solidFill>
                  <a:srgbClr val="5A6B7C"/>
                </a:solidFill>
              </a:rPr>
              <a:t>Core launch components and performance parameters.</a:t>
            </a:r>
            <a:endParaRPr lang="en-US" sz="1100" dirty="0"/>
          </a:p>
        </p:txBody>
      </p:sp>
      <p:sp>
        <p:nvSpPr>
          <p:cNvPr id="8" name="Shape 6"/>
          <p:cNvSpPr/>
          <p:nvPr/>
        </p:nvSpPr>
        <p:spPr>
          <a:xfrm>
            <a:off x="91440" y="6309360"/>
            <a:ext cx="12070080" cy="91440"/>
          </a:xfrm>
          <a:prstGeom prst="rect">
            <a:avLst/>
          </a:prstGeom>
          <a:solidFill>
            <a:srgbClr val="FFFFFF"/>
          </a:solidFill>
          <a:ln/>
        </p:spPr>
      </p:sp>
      <p:sp>
        <p:nvSpPr>
          <p:cNvPr id="9" name="Shape 7"/>
          <p:cNvSpPr/>
          <p:nvPr/>
        </p:nvSpPr>
        <p:spPr>
          <a:xfrm>
            <a:off x="91440" y="6291072"/>
            <a:ext cx="12070080" cy="18288"/>
          </a:xfrm>
          <a:prstGeom prst="rect">
            <a:avLst/>
          </a:prstGeom>
          <a:solidFill>
            <a:srgbClr val="E2E8F0"/>
          </a:solidFill>
          <a:ln/>
        </p:spPr>
      </p:sp>
      <p:sp>
        <p:nvSpPr>
          <p:cNvPr id="10" name="Text 8"/>
          <p:cNvSpPr/>
          <p:nvPr/>
        </p:nvSpPr>
        <p:spPr>
          <a:xfrm>
            <a:off x="320040" y="6318504"/>
            <a:ext cx="4572000" cy="0"/>
          </a:xfrm>
          <a:prstGeom prst="rect">
            <a:avLst/>
          </a:prstGeom>
          <a:noFill/>
          <a:ln/>
        </p:spPr>
        <p:txBody>
          <a:bodyPr wrap="square" rtlCol="0" anchor="ctr"/>
          <a:lstStyle/>
          <a:p>
            <a:pPr indent="0" marL="0">
              <a:buNone/>
            </a:pPr>
            <a:r>
              <a:rPr lang="en-US" sz="800" b="1" spc="200" kern="0" dirty="0">
                <a:solidFill>
                  <a:srgbClr val="8A9BA8"/>
                </a:solidFill>
              </a:rPr>
              <a:t>PROJECT IMPLEMENTATION PLAN</a:t>
            </a:r>
            <a:endParaRPr lang="en-US" sz="800" dirty="0"/>
          </a:p>
        </p:txBody>
      </p:sp>
      <p:sp>
        <p:nvSpPr>
          <p:cNvPr id="11" name="Shape 9"/>
          <p:cNvSpPr/>
          <p:nvPr/>
        </p:nvSpPr>
        <p:spPr>
          <a:xfrm>
            <a:off x="320040" y="1005840"/>
            <a:ext cx="5669280" cy="841248"/>
          </a:xfrm>
          <a:prstGeom prst="rect">
            <a:avLst/>
          </a:prstGeom>
          <a:solidFill>
            <a:srgbClr val="FFFFFF"/>
          </a:solidFill>
          <a:ln w="12700">
            <a:solidFill>
              <a:srgbClr val="E2E8F0"/>
            </a:solidFill>
            <a:prstDash val="solid"/>
          </a:ln>
        </p:spPr>
      </p:sp>
      <p:sp>
        <p:nvSpPr>
          <p:cNvPr id="12" name="Shape 10"/>
          <p:cNvSpPr/>
          <p:nvPr/>
        </p:nvSpPr>
        <p:spPr>
          <a:xfrm>
            <a:off x="320040" y="1005840"/>
            <a:ext cx="685800" cy="841248"/>
          </a:xfrm>
          <a:prstGeom prst="rect">
            <a:avLst/>
          </a:prstGeom>
          <a:solidFill>
            <a:srgbClr val="9D2706"/>
          </a:solidFill>
          <a:ln/>
        </p:spPr>
      </p:sp>
      <p:sp>
        <p:nvSpPr>
          <p:cNvPr id="13" name="Text 11"/>
          <p:cNvSpPr/>
          <p:nvPr/>
        </p:nvSpPr>
        <p:spPr>
          <a:xfrm>
            <a:off x="320040" y="1234440"/>
            <a:ext cx="685800" cy="0"/>
          </a:xfrm>
          <a:prstGeom prst="rect">
            <a:avLst/>
          </a:prstGeom>
          <a:noFill/>
          <a:ln/>
        </p:spPr>
        <p:txBody>
          <a:bodyPr wrap="square" rtlCol="0" anchor="ctr"/>
          <a:lstStyle/>
          <a:p>
            <a:pPr algn="ctr" indent="0" marL="0">
              <a:buNone/>
            </a:pPr>
            <a:r>
              <a:rPr lang="en-US" sz="1800" b="1" dirty="0">
                <a:solidFill>
                  <a:srgbClr val="FFFFFF"/>
                </a:solidFill>
              </a:rPr>
              <a:t>1</a:t>
            </a:r>
            <a:endParaRPr lang="en-US" sz="1800" dirty="0"/>
          </a:p>
        </p:txBody>
      </p:sp>
      <p:sp>
        <p:nvSpPr>
          <p:cNvPr id="14" name="Text 12"/>
          <p:cNvSpPr/>
          <p:nvPr/>
        </p:nvSpPr>
        <p:spPr>
          <a:xfrm>
            <a:off x="1143000" y="1078992"/>
            <a:ext cx="4663440" cy="0"/>
          </a:xfrm>
          <a:prstGeom prst="rect">
            <a:avLst/>
          </a:prstGeom>
          <a:noFill/>
          <a:ln/>
        </p:spPr>
        <p:txBody>
          <a:bodyPr wrap="square" rtlCol="0" anchor="ctr"/>
          <a:lstStyle/>
          <a:p>
            <a:pPr indent="0" marL="0">
              <a:buNone/>
            </a:pPr>
            <a:r>
              <a:rPr lang="en-US" sz="1300" b="1" dirty="0">
                <a:solidFill>
                  <a:srgbClr val="2C3E50"/>
                </a:solidFill>
              </a:rPr>
              <a:t>Shopify App Listing</a:t>
            </a:r>
            <a:endParaRPr lang="en-US" sz="1300" dirty="0"/>
          </a:p>
        </p:txBody>
      </p:sp>
      <p:sp>
        <p:nvSpPr>
          <p:cNvPr id="15" name="Text 13"/>
          <p:cNvSpPr/>
          <p:nvPr/>
        </p:nvSpPr>
        <p:spPr>
          <a:xfrm>
            <a:off x="1143000" y="1417320"/>
            <a:ext cx="4663440" cy="0"/>
          </a:xfrm>
          <a:prstGeom prst="rect">
            <a:avLst/>
          </a:prstGeom>
          <a:noFill/>
          <a:ln/>
        </p:spPr>
        <p:txBody>
          <a:bodyPr wrap="square" rtlCol="0" anchor="ctr"/>
          <a:lstStyle/>
          <a:p>
            <a:pPr indent="0" marL="0">
              <a:buNone/>
            </a:pPr>
            <a:r>
              <a:rPr lang="en-US" sz="1100" dirty="0">
                <a:solidFill>
                  <a:srgbClr val="5A6B7C"/>
                </a:solidFill>
              </a:rPr>
              <a:t>Public app listing with OAuth setup for organic shop installs.</a:t>
            </a:r>
            <a:endParaRPr lang="en-US" sz="1100" dirty="0"/>
          </a:p>
        </p:txBody>
      </p:sp>
      <p:sp>
        <p:nvSpPr>
          <p:cNvPr id="16" name="Shape 14"/>
          <p:cNvSpPr/>
          <p:nvPr/>
        </p:nvSpPr>
        <p:spPr>
          <a:xfrm>
            <a:off x="6309360" y="1005840"/>
            <a:ext cx="5669280" cy="841248"/>
          </a:xfrm>
          <a:prstGeom prst="rect">
            <a:avLst/>
          </a:prstGeom>
          <a:solidFill>
            <a:srgbClr val="FFFFFF"/>
          </a:solidFill>
          <a:ln w="12700">
            <a:solidFill>
              <a:srgbClr val="E2E8F0"/>
            </a:solidFill>
            <a:prstDash val="solid"/>
          </a:ln>
        </p:spPr>
      </p:sp>
      <p:sp>
        <p:nvSpPr>
          <p:cNvPr id="17" name="Shape 15"/>
          <p:cNvSpPr/>
          <p:nvPr/>
        </p:nvSpPr>
        <p:spPr>
          <a:xfrm>
            <a:off x="6309360" y="1005840"/>
            <a:ext cx="685800" cy="841248"/>
          </a:xfrm>
          <a:prstGeom prst="rect">
            <a:avLst/>
          </a:prstGeom>
          <a:solidFill>
            <a:srgbClr val="9D2706"/>
          </a:solidFill>
          <a:ln/>
        </p:spPr>
      </p:sp>
      <p:sp>
        <p:nvSpPr>
          <p:cNvPr id="18" name="Text 16"/>
          <p:cNvSpPr/>
          <p:nvPr/>
        </p:nvSpPr>
        <p:spPr>
          <a:xfrm>
            <a:off x="6309360" y="1234440"/>
            <a:ext cx="685800" cy="0"/>
          </a:xfrm>
          <a:prstGeom prst="rect">
            <a:avLst/>
          </a:prstGeom>
          <a:noFill/>
          <a:ln/>
        </p:spPr>
        <p:txBody>
          <a:bodyPr wrap="square" rtlCol="0" anchor="ctr"/>
          <a:lstStyle/>
          <a:p>
            <a:pPr algn="ctr" indent="0" marL="0">
              <a:buNone/>
            </a:pPr>
            <a:r>
              <a:rPr lang="en-US" sz="1800" b="1" dirty="0">
                <a:solidFill>
                  <a:srgbClr val="FFFFFF"/>
                </a:solidFill>
              </a:rPr>
              <a:t>2</a:t>
            </a:r>
            <a:endParaRPr lang="en-US" sz="1800" dirty="0"/>
          </a:p>
        </p:txBody>
      </p:sp>
      <p:sp>
        <p:nvSpPr>
          <p:cNvPr id="19" name="Text 17"/>
          <p:cNvSpPr/>
          <p:nvPr/>
        </p:nvSpPr>
        <p:spPr>
          <a:xfrm>
            <a:off x="7132320" y="1078992"/>
            <a:ext cx="4663440" cy="0"/>
          </a:xfrm>
          <a:prstGeom prst="rect">
            <a:avLst/>
          </a:prstGeom>
          <a:noFill/>
          <a:ln/>
        </p:spPr>
        <p:txBody>
          <a:bodyPr wrap="square" rtlCol="0" anchor="ctr"/>
          <a:lstStyle/>
          <a:p>
            <a:pPr indent="0" marL="0">
              <a:buNone/>
            </a:pPr>
            <a:r>
              <a:rPr lang="en-US" sz="1300" b="1" dirty="0">
                <a:solidFill>
                  <a:srgbClr val="2C3E50"/>
                </a:solidFill>
              </a:rPr>
              <a:t>Merchant Admin Panel</a:t>
            </a:r>
            <a:endParaRPr lang="en-US" sz="1300" dirty="0"/>
          </a:p>
        </p:txBody>
      </p:sp>
      <p:sp>
        <p:nvSpPr>
          <p:cNvPr id="20" name="Text 18"/>
          <p:cNvSpPr/>
          <p:nvPr/>
        </p:nvSpPr>
        <p:spPr>
          <a:xfrm>
            <a:off x="7132320" y="1417320"/>
            <a:ext cx="4663440" cy="0"/>
          </a:xfrm>
          <a:prstGeom prst="rect">
            <a:avLst/>
          </a:prstGeom>
          <a:noFill/>
          <a:ln/>
        </p:spPr>
        <p:txBody>
          <a:bodyPr wrap="square" rtlCol="0" anchor="ctr"/>
          <a:lstStyle/>
          <a:p>
            <a:pPr indent="0" marL="0">
              <a:buNone/>
            </a:pPr>
            <a:r>
              <a:rPr lang="en-US" sz="1100" dirty="0">
                <a:solidFill>
                  <a:srgbClr val="5A6B7C"/>
                </a:solidFill>
              </a:rPr>
              <a:t>Self-serve panel handles upload, variant maps, and statistics.</a:t>
            </a:r>
            <a:endParaRPr lang="en-US" sz="1100" dirty="0"/>
          </a:p>
        </p:txBody>
      </p:sp>
      <p:sp>
        <p:nvSpPr>
          <p:cNvPr id="21" name="Shape 19"/>
          <p:cNvSpPr/>
          <p:nvPr/>
        </p:nvSpPr>
        <p:spPr>
          <a:xfrm>
            <a:off x="320040" y="1965960"/>
            <a:ext cx="5669280" cy="841248"/>
          </a:xfrm>
          <a:prstGeom prst="rect">
            <a:avLst/>
          </a:prstGeom>
          <a:solidFill>
            <a:srgbClr val="FFFFFF"/>
          </a:solidFill>
          <a:ln w="12700">
            <a:solidFill>
              <a:srgbClr val="E2E8F0"/>
            </a:solidFill>
            <a:prstDash val="solid"/>
          </a:ln>
        </p:spPr>
      </p:sp>
      <p:sp>
        <p:nvSpPr>
          <p:cNvPr id="22" name="Shape 20"/>
          <p:cNvSpPr/>
          <p:nvPr/>
        </p:nvSpPr>
        <p:spPr>
          <a:xfrm>
            <a:off x="320040" y="1965960"/>
            <a:ext cx="685800" cy="841248"/>
          </a:xfrm>
          <a:prstGeom prst="rect">
            <a:avLst/>
          </a:prstGeom>
          <a:solidFill>
            <a:srgbClr val="9D2706"/>
          </a:solidFill>
          <a:ln/>
        </p:spPr>
      </p:sp>
      <p:sp>
        <p:nvSpPr>
          <p:cNvPr id="23" name="Text 21"/>
          <p:cNvSpPr/>
          <p:nvPr/>
        </p:nvSpPr>
        <p:spPr>
          <a:xfrm>
            <a:off x="320040" y="2194560"/>
            <a:ext cx="685800" cy="0"/>
          </a:xfrm>
          <a:prstGeom prst="rect">
            <a:avLst/>
          </a:prstGeom>
          <a:noFill/>
          <a:ln/>
        </p:spPr>
        <p:txBody>
          <a:bodyPr wrap="square" rtlCol="0" anchor="ctr"/>
          <a:lstStyle/>
          <a:p>
            <a:pPr algn="ctr" indent="0" marL="0">
              <a:buNone/>
            </a:pPr>
            <a:r>
              <a:rPr lang="en-US" sz="1800" b="1" dirty="0">
                <a:solidFill>
                  <a:srgbClr val="FFFFFF"/>
                </a:solidFill>
              </a:rPr>
              <a:t>3</a:t>
            </a:r>
            <a:endParaRPr lang="en-US" sz="1800" dirty="0"/>
          </a:p>
        </p:txBody>
      </p:sp>
      <p:sp>
        <p:nvSpPr>
          <p:cNvPr id="24" name="Text 22"/>
          <p:cNvSpPr/>
          <p:nvPr/>
        </p:nvSpPr>
        <p:spPr>
          <a:xfrm>
            <a:off x="1143000" y="2039112"/>
            <a:ext cx="4663440" cy="0"/>
          </a:xfrm>
          <a:prstGeom prst="rect">
            <a:avLst/>
          </a:prstGeom>
          <a:noFill/>
          <a:ln/>
        </p:spPr>
        <p:txBody>
          <a:bodyPr wrap="square" rtlCol="0" anchor="ctr"/>
          <a:lstStyle/>
          <a:p>
            <a:pPr indent="0" marL="0">
              <a:buNone/>
            </a:pPr>
            <a:r>
              <a:rPr lang="en-US" sz="1300" b="1" dirty="0">
                <a:solidFill>
                  <a:srgbClr val="2C3E50"/>
                </a:solidFill>
              </a:rPr>
              <a:t>Embedded 3D Configurator</a:t>
            </a:r>
            <a:endParaRPr lang="en-US" sz="1300" dirty="0"/>
          </a:p>
        </p:txBody>
      </p:sp>
      <p:sp>
        <p:nvSpPr>
          <p:cNvPr id="25" name="Text 23"/>
          <p:cNvSpPr/>
          <p:nvPr/>
        </p:nvSpPr>
        <p:spPr>
          <a:xfrm>
            <a:off x="1143000" y="2377440"/>
            <a:ext cx="4663440" cy="0"/>
          </a:xfrm>
          <a:prstGeom prst="rect">
            <a:avLst/>
          </a:prstGeom>
          <a:noFill/>
          <a:ln/>
        </p:spPr>
        <p:txBody>
          <a:bodyPr wrap="square" rtlCol="0" anchor="ctr"/>
          <a:lstStyle/>
          <a:p>
            <a:pPr indent="0" marL="0">
              <a:buNone/>
            </a:pPr>
            <a:r>
              <a:rPr lang="en-US" sz="1100" dirty="0">
                <a:solidFill>
                  <a:srgbClr val="5A6B7C"/>
                </a:solidFill>
              </a:rPr>
              <a:t>Widget embeds natively in product detail pages; runs 60FPS.</a:t>
            </a:r>
            <a:endParaRPr lang="en-US" sz="1100" dirty="0"/>
          </a:p>
        </p:txBody>
      </p:sp>
      <p:sp>
        <p:nvSpPr>
          <p:cNvPr id="26" name="Shape 24"/>
          <p:cNvSpPr/>
          <p:nvPr/>
        </p:nvSpPr>
        <p:spPr>
          <a:xfrm>
            <a:off x="6309360" y="1965960"/>
            <a:ext cx="5669280" cy="841248"/>
          </a:xfrm>
          <a:prstGeom prst="rect">
            <a:avLst/>
          </a:prstGeom>
          <a:solidFill>
            <a:srgbClr val="FFFFFF"/>
          </a:solidFill>
          <a:ln w="12700">
            <a:solidFill>
              <a:srgbClr val="E2E8F0"/>
            </a:solidFill>
            <a:prstDash val="solid"/>
          </a:ln>
        </p:spPr>
      </p:sp>
      <p:sp>
        <p:nvSpPr>
          <p:cNvPr id="27" name="Shape 25"/>
          <p:cNvSpPr/>
          <p:nvPr/>
        </p:nvSpPr>
        <p:spPr>
          <a:xfrm>
            <a:off x="6309360" y="1965960"/>
            <a:ext cx="685800" cy="841248"/>
          </a:xfrm>
          <a:prstGeom prst="rect">
            <a:avLst/>
          </a:prstGeom>
          <a:solidFill>
            <a:srgbClr val="9D2706"/>
          </a:solidFill>
          <a:ln/>
        </p:spPr>
      </p:sp>
      <p:sp>
        <p:nvSpPr>
          <p:cNvPr id="28" name="Text 26"/>
          <p:cNvSpPr/>
          <p:nvPr/>
        </p:nvSpPr>
        <p:spPr>
          <a:xfrm>
            <a:off x="6309360" y="2194560"/>
            <a:ext cx="685800" cy="0"/>
          </a:xfrm>
          <a:prstGeom prst="rect">
            <a:avLst/>
          </a:prstGeom>
          <a:noFill/>
          <a:ln/>
        </p:spPr>
        <p:txBody>
          <a:bodyPr wrap="square" rtlCol="0" anchor="ctr"/>
          <a:lstStyle/>
          <a:p>
            <a:pPr algn="ctr" indent="0" marL="0">
              <a:buNone/>
            </a:pPr>
            <a:r>
              <a:rPr lang="en-US" sz="1800" b="1" dirty="0">
                <a:solidFill>
                  <a:srgbClr val="FFFFFF"/>
                </a:solidFill>
              </a:rPr>
              <a:t>4</a:t>
            </a:r>
            <a:endParaRPr lang="en-US" sz="1800" dirty="0"/>
          </a:p>
        </p:txBody>
      </p:sp>
      <p:sp>
        <p:nvSpPr>
          <p:cNvPr id="29" name="Text 27"/>
          <p:cNvSpPr/>
          <p:nvPr/>
        </p:nvSpPr>
        <p:spPr>
          <a:xfrm>
            <a:off x="7132320" y="2039112"/>
            <a:ext cx="4663440" cy="0"/>
          </a:xfrm>
          <a:prstGeom prst="rect">
            <a:avLst/>
          </a:prstGeom>
          <a:noFill/>
          <a:ln/>
        </p:spPr>
        <p:txBody>
          <a:bodyPr wrap="square" rtlCol="0" anchor="ctr"/>
          <a:lstStyle/>
          <a:p>
            <a:pPr indent="0" marL="0">
              <a:buNone/>
            </a:pPr>
            <a:r>
              <a:rPr lang="en-US" sz="1300" b="1" dirty="0">
                <a:solidFill>
                  <a:srgbClr val="2C3E50"/>
                </a:solidFill>
              </a:rPr>
              <a:t>WebXR Space AR</a:t>
            </a:r>
            <a:endParaRPr lang="en-US" sz="1300" dirty="0"/>
          </a:p>
        </p:txBody>
      </p:sp>
      <p:sp>
        <p:nvSpPr>
          <p:cNvPr id="30" name="Text 28"/>
          <p:cNvSpPr/>
          <p:nvPr/>
        </p:nvSpPr>
        <p:spPr>
          <a:xfrm>
            <a:off x="7132320" y="2377440"/>
            <a:ext cx="4663440" cy="0"/>
          </a:xfrm>
          <a:prstGeom prst="rect">
            <a:avLst/>
          </a:prstGeom>
          <a:noFill/>
          <a:ln/>
        </p:spPr>
        <p:txBody>
          <a:bodyPr wrap="square" rtlCol="0" anchor="ctr"/>
          <a:lstStyle/>
          <a:p>
            <a:pPr indent="0" marL="0">
              <a:buNone/>
            </a:pPr>
            <a:r>
              <a:rPr lang="en-US" sz="1100" dirty="0">
                <a:solidFill>
                  <a:srgbClr val="5A6B7C"/>
                </a:solidFill>
              </a:rPr>
              <a:t>'View in Your Room' functions natively inside mobile browser.</a:t>
            </a:r>
            <a:endParaRPr lang="en-US" sz="1100" dirty="0"/>
          </a:p>
        </p:txBody>
      </p:sp>
      <p:sp>
        <p:nvSpPr>
          <p:cNvPr id="31" name="Shape 29"/>
          <p:cNvSpPr/>
          <p:nvPr/>
        </p:nvSpPr>
        <p:spPr>
          <a:xfrm>
            <a:off x="320040" y="2926080"/>
            <a:ext cx="5669280" cy="841248"/>
          </a:xfrm>
          <a:prstGeom prst="rect">
            <a:avLst/>
          </a:prstGeom>
          <a:solidFill>
            <a:srgbClr val="FFFFFF"/>
          </a:solidFill>
          <a:ln w="12700">
            <a:solidFill>
              <a:srgbClr val="E2E8F0"/>
            </a:solidFill>
            <a:prstDash val="solid"/>
          </a:ln>
        </p:spPr>
      </p:sp>
      <p:sp>
        <p:nvSpPr>
          <p:cNvPr id="32" name="Shape 30"/>
          <p:cNvSpPr/>
          <p:nvPr/>
        </p:nvSpPr>
        <p:spPr>
          <a:xfrm>
            <a:off x="320040" y="2926080"/>
            <a:ext cx="685800" cy="841248"/>
          </a:xfrm>
          <a:prstGeom prst="rect">
            <a:avLst/>
          </a:prstGeom>
          <a:solidFill>
            <a:srgbClr val="9D2706"/>
          </a:solidFill>
          <a:ln/>
        </p:spPr>
      </p:sp>
      <p:sp>
        <p:nvSpPr>
          <p:cNvPr id="33" name="Text 31"/>
          <p:cNvSpPr/>
          <p:nvPr/>
        </p:nvSpPr>
        <p:spPr>
          <a:xfrm>
            <a:off x="320040" y="3154680"/>
            <a:ext cx="685800" cy="0"/>
          </a:xfrm>
          <a:prstGeom prst="rect">
            <a:avLst/>
          </a:prstGeom>
          <a:noFill/>
          <a:ln/>
        </p:spPr>
        <p:txBody>
          <a:bodyPr wrap="square" rtlCol="0" anchor="ctr"/>
          <a:lstStyle/>
          <a:p>
            <a:pPr algn="ctr" indent="0" marL="0">
              <a:buNone/>
            </a:pPr>
            <a:r>
              <a:rPr lang="en-US" sz="1800" b="1" dirty="0">
                <a:solidFill>
                  <a:srgbClr val="FFFFFF"/>
                </a:solidFill>
              </a:rPr>
              <a:t>5</a:t>
            </a:r>
            <a:endParaRPr lang="en-US" sz="1800" dirty="0"/>
          </a:p>
        </p:txBody>
      </p:sp>
      <p:sp>
        <p:nvSpPr>
          <p:cNvPr id="34" name="Text 32"/>
          <p:cNvSpPr/>
          <p:nvPr/>
        </p:nvSpPr>
        <p:spPr>
          <a:xfrm>
            <a:off x="1143000" y="2999232"/>
            <a:ext cx="4663440" cy="0"/>
          </a:xfrm>
          <a:prstGeom prst="rect">
            <a:avLst/>
          </a:prstGeom>
          <a:noFill/>
          <a:ln/>
        </p:spPr>
        <p:txBody>
          <a:bodyPr wrap="square" rtlCol="0" anchor="ctr"/>
          <a:lstStyle/>
          <a:p>
            <a:pPr indent="0" marL="0">
              <a:buNone/>
            </a:pPr>
            <a:r>
              <a:rPr lang="en-US" sz="1300" b="1" dirty="0">
                <a:solidFill>
                  <a:srgbClr val="2C3E50"/>
                </a:solidFill>
              </a:rPr>
              <a:t>MediaPipe Try-On AR</a:t>
            </a:r>
            <a:endParaRPr lang="en-US" sz="1300" dirty="0"/>
          </a:p>
        </p:txBody>
      </p:sp>
      <p:sp>
        <p:nvSpPr>
          <p:cNvPr id="35" name="Text 33"/>
          <p:cNvSpPr/>
          <p:nvPr/>
        </p:nvSpPr>
        <p:spPr>
          <a:xfrm>
            <a:off x="1143000" y="3337560"/>
            <a:ext cx="4663440" cy="0"/>
          </a:xfrm>
          <a:prstGeom prst="rect">
            <a:avLst/>
          </a:prstGeom>
          <a:noFill/>
          <a:ln/>
        </p:spPr>
        <p:txBody>
          <a:bodyPr wrap="square" rtlCol="0" anchor="ctr"/>
          <a:lstStyle/>
          <a:p>
            <a:pPr indent="0" marL="0">
              <a:buNone/>
            </a:pPr>
            <a:r>
              <a:rPr lang="en-US" sz="1100" dirty="0">
                <a:solidFill>
                  <a:srgbClr val="5A6B7C"/>
                </a:solidFill>
              </a:rPr>
              <a:t>On-device VTO overlays watches, glasses, and footwear instantly.</a:t>
            </a:r>
            <a:endParaRPr lang="en-US" sz="1100" dirty="0"/>
          </a:p>
        </p:txBody>
      </p:sp>
      <p:sp>
        <p:nvSpPr>
          <p:cNvPr id="36" name="Shape 34"/>
          <p:cNvSpPr/>
          <p:nvPr/>
        </p:nvSpPr>
        <p:spPr>
          <a:xfrm>
            <a:off x="6309360" y="2926080"/>
            <a:ext cx="5669280" cy="841248"/>
          </a:xfrm>
          <a:prstGeom prst="rect">
            <a:avLst/>
          </a:prstGeom>
          <a:solidFill>
            <a:srgbClr val="FFFFFF"/>
          </a:solidFill>
          <a:ln w="12700">
            <a:solidFill>
              <a:srgbClr val="E2E8F0"/>
            </a:solidFill>
            <a:prstDash val="solid"/>
          </a:ln>
        </p:spPr>
      </p:sp>
      <p:sp>
        <p:nvSpPr>
          <p:cNvPr id="37" name="Shape 35"/>
          <p:cNvSpPr/>
          <p:nvPr/>
        </p:nvSpPr>
        <p:spPr>
          <a:xfrm>
            <a:off x="6309360" y="2926080"/>
            <a:ext cx="685800" cy="841248"/>
          </a:xfrm>
          <a:prstGeom prst="rect">
            <a:avLst/>
          </a:prstGeom>
          <a:solidFill>
            <a:srgbClr val="9D2706"/>
          </a:solidFill>
          <a:ln/>
        </p:spPr>
      </p:sp>
      <p:sp>
        <p:nvSpPr>
          <p:cNvPr id="38" name="Text 36"/>
          <p:cNvSpPr/>
          <p:nvPr/>
        </p:nvSpPr>
        <p:spPr>
          <a:xfrm>
            <a:off x="6309360" y="3154680"/>
            <a:ext cx="685800" cy="0"/>
          </a:xfrm>
          <a:prstGeom prst="rect">
            <a:avLst/>
          </a:prstGeom>
          <a:noFill/>
          <a:ln/>
        </p:spPr>
        <p:txBody>
          <a:bodyPr wrap="square" rtlCol="0" anchor="ctr"/>
          <a:lstStyle/>
          <a:p>
            <a:pPr algn="ctr" indent="0" marL="0">
              <a:buNone/>
            </a:pPr>
            <a:r>
              <a:rPr lang="en-US" sz="1800" b="1" dirty="0">
                <a:solidFill>
                  <a:srgbClr val="FFFFFF"/>
                </a:solidFill>
              </a:rPr>
              <a:t>6</a:t>
            </a:r>
            <a:endParaRPr lang="en-US" sz="1800" dirty="0"/>
          </a:p>
        </p:txBody>
      </p:sp>
      <p:sp>
        <p:nvSpPr>
          <p:cNvPr id="39" name="Text 37"/>
          <p:cNvSpPr/>
          <p:nvPr/>
        </p:nvSpPr>
        <p:spPr>
          <a:xfrm>
            <a:off x="7132320" y="2999232"/>
            <a:ext cx="4663440" cy="0"/>
          </a:xfrm>
          <a:prstGeom prst="rect">
            <a:avLst/>
          </a:prstGeom>
          <a:noFill/>
          <a:ln/>
        </p:spPr>
        <p:txBody>
          <a:bodyPr wrap="square" rtlCol="0" anchor="ctr"/>
          <a:lstStyle/>
          <a:p>
            <a:pPr indent="0" marL="0">
              <a:buNone/>
            </a:pPr>
            <a:r>
              <a:rPr lang="en-US" sz="1300" b="1" dirty="0">
                <a:solidFill>
                  <a:srgbClr val="2C3E50"/>
                </a:solidFill>
              </a:rPr>
              <a:t>Asset Creation Engine</a:t>
            </a:r>
            <a:endParaRPr lang="en-US" sz="1300" dirty="0"/>
          </a:p>
        </p:txBody>
      </p:sp>
      <p:sp>
        <p:nvSpPr>
          <p:cNvPr id="40" name="Text 38"/>
          <p:cNvSpPr/>
          <p:nvPr/>
        </p:nvSpPr>
        <p:spPr>
          <a:xfrm>
            <a:off x="7132320" y="3337560"/>
            <a:ext cx="4663440" cy="0"/>
          </a:xfrm>
          <a:prstGeom prst="rect">
            <a:avLst/>
          </a:prstGeom>
          <a:noFill/>
          <a:ln/>
        </p:spPr>
        <p:txBody>
          <a:bodyPr wrap="square" rtlCol="0" anchor="ctr"/>
          <a:lstStyle/>
          <a:p>
            <a:pPr indent="0" marL="0">
              <a:buNone/>
            </a:pPr>
            <a:r>
              <a:rPr lang="en-US" sz="1100" dirty="0">
                <a:solidFill>
                  <a:srgbClr val="5A6B7C"/>
                </a:solidFill>
              </a:rPr>
              <a:t>Partner pipeline handles design file to optimised GLB builds.</a:t>
            </a:r>
            <a:endParaRPr lang="en-US" sz="1100" dirty="0"/>
          </a:p>
        </p:txBody>
      </p:sp>
      <p:sp>
        <p:nvSpPr>
          <p:cNvPr id="41" name="Shape 39"/>
          <p:cNvSpPr/>
          <p:nvPr/>
        </p:nvSpPr>
        <p:spPr>
          <a:xfrm>
            <a:off x="320040" y="3886200"/>
            <a:ext cx="5669280" cy="841248"/>
          </a:xfrm>
          <a:prstGeom prst="rect">
            <a:avLst/>
          </a:prstGeom>
          <a:solidFill>
            <a:srgbClr val="FFFFFF"/>
          </a:solidFill>
          <a:ln w="12700">
            <a:solidFill>
              <a:srgbClr val="E2E8F0"/>
            </a:solidFill>
            <a:prstDash val="solid"/>
          </a:ln>
        </p:spPr>
      </p:sp>
      <p:sp>
        <p:nvSpPr>
          <p:cNvPr id="42" name="Shape 40"/>
          <p:cNvSpPr/>
          <p:nvPr/>
        </p:nvSpPr>
        <p:spPr>
          <a:xfrm>
            <a:off x="320040" y="3886200"/>
            <a:ext cx="685800" cy="841248"/>
          </a:xfrm>
          <a:prstGeom prst="rect">
            <a:avLst/>
          </a:prstGeom>
          <a:solidFill>
            <a:srgbClr val="9D2706"/>
          </a:solidFill>
          <a:ln/>
        </p:spPr>
      </p:sp>
      <p:sp>
        <p:nvSpPr>
          <p:cNvPr id="43" name="Text 41"/>
          <p:cNvSpPr/>
          <p:nvPr/>
        </p:nvSpPr>
        <p:spPr>
          <a:xfrm>
            <a:off x="320040" y="4114800"/>
            <a:ext cx="685800" cy="0"/>
          </a:xfrm>
          <a:prstGeom prst="rect">
            <a:avLst/>
          </a:prstGeom>
          <a:noFill/>
          <a:ln/>
        </p:spPr>
        <p:txBody>
          <a:bodyPr wrap="square" rtlCol="0" anchor="ctr"/>
          <a:lstStyle/>
          <a:p>
            <a:pPr algn="ctr" indent="0" marL="0">
              <a:buNone/>
            </a:pPr>
            <a:r>
              <a:rPr lang="en-US" sz="1800" b="1" dirty="0">
                <a:solidFill>
                  <a:srgbClr val="FFFFFF"/>
                </a:solidFill>
              </a:rPr>
              <a:t>7</a:t>
            </a:r>
            <a:endParaRPr lang="en-US" sz="1800" dirty="0"/>
          </a:p>
        </p:txBody>
      </p:sp>
      <p:sp>
        <p:nvSpPr>
          <p:cNvPr id="44" name="Text 42"/>
          <p:cNvSpPr/>
          <p:nvPr/>
        </p:nvSpPr>
        <p:spPr>
          <a:xfrm>
            <a:off x="1143000" y="3959352"/>
            <a:ext cx="4663440" cy="0"/>
          </a:xfrm>
          <a:prstGeom prst="rect">
            <a:avLst/>
          </a:prstGeom>
          <a:noFill/>
          <a:ln/>
        </p:spPr>
        <p:txBody>
          <a:bodyPr wrap="square" rtlCol="0" anchor="ctr"/>
          <a:lstStyle/>
          <a:p>
            <a:pPr indent="0" marL="0">
              <a:buNone/>
            </a:pPr>
            <a:r>
              <a:rPr lang="en-US" sz="1300" b="1" dirty="0">
                <a:solidFill>
                  <a:srgbClr val="2C3E50"/>
                </a:solidFill>
              </a:rPr>
              <a:t>Stripe Billing Gateway</a:t>
            </a:r>
            <a:endParaRPr lang="en-US" sz="1300" dirty="0"/>
          </a:p>
        </p:txBody>
      </p:sp>
      <p:sp>
        <p:nvSpPr>
          <p:cNvPr id="45" name="Text 43"/>
          <p:cNvSpPr/>
          <p:nvPr/>
        </p:nvSpPr>
        <p:spPr>
          <a:xfrm>
            <a:off x="1143000" y="4297680"/>
            <a:ext cx="4663440" cy="0"/>
          </a:xfrm>
          <a:prstGeom prst="rect">
            <a:avLst/>
          </a:prstGeom>
          <a:noFill/>
          <a:ln/>
        </p:spPr>
        <p:txBody>
          <a:bodyPr wrap="square" rtlCol="0" anchor="ctr"/>
          <a:lstStyle/>
          <a:p>
            <a:pPr indent="0" marL="0">
              <a:buNone/>
            </a:pPr>
            <a:r>
              <a:rPr lang="en-US" sz="1100" dirty="0">
                <a:solidFill>
                  <a:srgbClr val="5A6B7C"/>
                </a:solidFill>
              </a:rPr>
              <a:t>Subscription tier payment management with custom upgrades.</a:t>
            </a:r>
            <a:endParaRPr lang="en-US" sz="1100" dirty="0"/>
          </a:p>
        </p:txBody>
      </p:sp>
      <p:sp>
        <p:nvSpPr>
          <p:cNvPr id="46" name="Shape 44"/>
          <p:cNvSpPr/>
          <p:nvPr/>
        </p:nvSpPr>
        <p:spPr>
          <a:xfrm>
            <a:off x="6309360" y="3886200"/>
            <a:ext cx="5669280" cy="841248"/>
          </a:xfrm>
          <a:prstGeom prst="rect">
            <a:avLst/>
          </a:prstGeom>
          <a:solidFill>
            <a:srgbClr val="FFFFFF"/>
          </a:solidFill>
          <a:ln w="12700">
            <a:solidFill>
              <a:srgbClr val="E2E8F0"/>
            </a:solidFill>
            <a:prstDash val="solid"/>
          </a:ln>
        </p:spPr>
      </p:sp>
      <p:sp>
        <p:nvSpPr>
          <p:cNvPr id="47" name="Shape 45"/>
          <p:cNvSpPr/>
          <p:nvPr/>
        </p:nvSpPr>
        <p:spPr>
          <a:xfrm>
            <a:off x="6309360" y="3886200"/>
            <a:ext cx="685800" cy="841248"/>
          </a:xfrm>
          <a:prstGeom prst="rect">
            <a:avLst/>
          </a:prstGeom>
          <a:solidFill>
            <a:srgbClr val="9D2706"/>
          </a:solidFill>
          <a:ln/>
        </p:spPr>
      </p:sp>
      <p:sp>
        <p:nvSpPr>
          <p:cNvPr id="48" name="Text 46"/>
          <p:cNvSpPr/>
          <p:nvPr/>
        </p:nvSpPr>
        <p:spPr>
          <a:xfrm>
            <a:off x="6309360" y="4114800"/>
            <a:ext cx="685800" cy="0"/>
          </a:xfrm>
          <a:prstGeom prst="rect">
            <a:avLst/>
          </a:prstGeom>
          <a:noFill/>
          <a:ln/>
        </p:spPr>
        <p:txBody>
          <a:bodyPr wrap="square" rtlCol="0" anchor="ctr"/>
          <a:lstStyle/>
          <a:p>
            <a:pPr algn="ctr" indent="0" marL="0">
              <a:buNone/>
            </a:pPr>
            <a:r>
              <a:rPr lang="en-US" sz="1800" b="1" dirty="0">
                <a:solidFill>
                  <a:srgbClr val="FFFFFF"/>
                </a:solidFill>
              </a:rPr>
              <a:t>8</a:t>
            </a:r>
            <a:endParaRPr lang="en-US" sz="1800" dirty="0"/>
          </a:p>
        </p:txBody>
      </p:sp>
      <p:sp>
        <p:nvSpPr>
          <p:cNvPr id="49" name="Text 47"/>
          <p:cNvSpPr/>
          <p:nvPr/>
        </p:nvSpPr>
        <p:spPr>
          <a:xfrm>
            <a:off x="7132320" y="3959352"/>
            <a:ext cx="4663440" cy="0"/>
          </a:xfrm>
          <a:prstGeom prst="rect">
            <a:avLst/>
          </a:prstGeom>
          <a:noFill/>
          <a:ln/>
        </p:spPr>
        <p:txBody>
          <a:bodyPr wrap="square" rtlCol="0" anchor="ctr"/>
          <a:lstStyle/>
          <a:p>
            <a:pPr indent="0" marL="0">
              <a:buNone/>
            </a:pPr>
            <a:r>
              <a:rPr lang="en-US" sz="1300" b="1" dirty="0">
                <a:solidFill>
                  <a:srgbClr val="2C3E50"/>
                </a:solidFill>
              </a:rPr>
              <a:t>Variant Inventory Sync</a:t>
            </a:r>
            <a:endParaRPr lang="en-US" sz="1300" dirty="0"/>
          </a:p>
        </p:txBody>
      </p:sp>
      <p:sp>
        <p:nvSpPr>
          <p:cNvPr id="50" name="Text 48"/>
          <p:cNvSpPr/>
          <p:nvPr/>
        </p:nvSpPr>
        <p:spPr>
          <a:xfrm>
            <a:off x="7132320" y="4297680"/>
            <a:ext cx="4663440" cy="0"/>
          </a:xfrm>
          <a:prstGeom prst="rect">
            <a:avLst/>
          </a:prstGeom>
          <a:noFill/>
          <a:ln/>
        </p:spPr>
        <p:txBody>
          <a:bodyPr wrap="square" rtlCol="0" anchor="ctr"/>
          <a:lstStyle/>
          <a:p>
            <a:pPr indent="0" marL="0">
              <a:buNone/>
            </a:pPr>
            <a:r>
              <a:rPr lang="en-US" sz="1100" dirty="0">
                <a:solidFill>
                  <a:srgbClr val="5A6B7C"/>
                </a:solidFill>
              </a:rPr>
              <a:t>Configurator choices connect directly to product inventory codes.</a:t>
            </a:r>
            <a:endParaRPr lang="en-US" sz="1100" dirty="0"/>
          </a:p>
        </p:txBody>
      </p:sp>
      <p:sp>
        <p:nvSpPr>
          <p:cNvPr id="51" name="Shape 49"/>
          <p:cNvSpPr/>
          <p:nvPr/>
        </p:nvSpPr>
        <p:spPr>
          <a:xfrm>
            <a:off x="91440" y="4956048"/>
            <a:ext cx="12070080" cy="1325880"/>
          </a:xfrm>
          <a:prstGeom prst="rect">
            <a:avLst/>
          </a:prstGeom>
          <a:solidFill>
            <a:srgbClr val="FFFFFF"/>
          </a:solidFill>
          <a:ln w="12700">
            <a:solidFill>
              <a:srgbClr val="E2E8F0"/>
            </a:solidFill>
            <a:prstDash val="solid"/>
          </a:ln>
        </p:spPr>
      </p:sp>
      <p:sp>
        <p:nvSpPr>
          <p:cNvPr id="52" name="Shape 50"/>
          <p:cNvSpPr/>
          <p:nvPr/>
        </p:nvSpPr>
        <p:spPr>
          <a:xfrm>
            <a:off x="91440" y="4956048"/>
            <a:ext cx="73152" cy="1325880"/>
          </a:xfrm>
          <a:prstGeom prst="rect">
            <a:avLst/>
          </a:prstGeom>
          <a:solidFill>
            <a:srgbClr val="9D2706"/>
          </a:solidFill>
          <a:ln/>
        </p:spPr>
      </p:sp>
      <p:sp>
        <p:nvSpPr>
          <p:cNvPr id="53" name="Text 51"/>
          <p:cNvSpPr/>
          <p:nvPr/>
        </p:nvSpPr>
        <p:spPr>
          <a:xfrm>
            <a:off x="320040" y="5047488"/>
            <a:ext cx="4572000" cy="0"/>
          </a:xfrm>
          <a:prstGeom prst="rect">
            <a:avLst/>
          </a:prstGeom>
          <a:noFill/>
          <a:ln/>
        </p:spPr>
        <p:txBody>
          <a:bodyPr wrap="square" rtlCol="0" anchor="ctr"/>
          <a:lstStyle/>
          <a:p>
            <a:pPr indent="0" marL="0">
              <a:buNone/>
            </a:pPr>
            <a:r>
              <a:rPr lang="en-US" sz="1200" b="1" dirty="0">
                <a:solidFill>
                  <a:srgbClr val="9D2706"/>
                </a:solidFill>
              </a:rPr>
              <a:t>Key Performance Indicators (KPIs):</a:t>
            </a:r>
            <a:endParaRPr lang="en-US" sz="1200" dirty="0"/>
          </a:p>
        </p:txBody>
      </p:sp>
      <p:sp>
        <p:nvSpPr>
          <p:cNvPr id="54" name="Shape 52"/>
          <p:cNvSpPr/>
          <p:nvPr/>
        </p:nvSpPr>
        <p:spPr>
          <a:xfrm>
            <a:off x="320040" y="5349240"/>
            <a:ext cx="2286000" cy="822960"/>
          </a:xfrm>
          <a:prstGeom prst="rect">
            <a:avLst/>
          </a:prstGeom>
          <a:solidFill>
            <a:srgbClr val="EDF2F7"/>
          </a:solidFill>
          <a:ln w="12700">
            <a:solidFill>
              <a:srgbClr val="E2E8F0"/>
            </a:solidFill>
            <a:prstDash val="solid"/>
          </a:ln>
        </p:spPr>
      </p:sp>
      <p:sp>
        <p:nvSpPr>
          <p:cNvPr id="55" name="Text 53"/>
          <p:cNvSpPr/>
          <p:nvPr/>
        </p:nvSpPr>
        <p:spPr>
          <a:xfrm>
            <a:off x="320040" y="5376672"/>
            <a:ext cx="2286000" cy="0"/>
          </a:xfrm>
          <a:prstGeom prst="rect">
            <a:avLst/>
          </a:prstGeom>
          <a:noFill/>
          <a:ln/>
        </p:spPr>
        <p:txBody>
          <a:bodyPr wrap="square" rtlCol="0" anchor="ctr"/>
          <a:lstStyle/>
          <a:p>
            <a:pPr algn="ctr" indent="0" marL="0">
              <a:buNone/>
            </a:pPr>
            <a:r>
              <a:rPr lang="en-US" sz="1800" b="1" dirty="0">
                <a:solidFill>
                  <a:srgbClr val="2C3E50"/>
                </a:solidFill>
              </a:rPr>
              <a:t>50+</a:t>
            </a:r>
            <a:endParaRPr lang="en-US" sz="1800" dirty="0"/>
          </a:p>
        </p:txBody>
      </p:sp>
      <p:sp>
        <p:nvSpPr>
          <p:cNvPr id="56" name="Text 54"/>
          <p:cNvSpPr/>
          <p:nvPr/>
        </p:nvSpPr>
        <p:spPr>
          <a:xfrm>
            <a:off x="320040" y="5669280"/>
            <a:ext cx="2286000" cy="0"/>
          </a:xfrm>
          <a:prstGeom prst="rect">
            <a:avLst/>
          </a:prstGeom>
          <a:noFill/>
          <a:ln/>
        </p:spPr>
        <p:txBody>
          <a:bodyPr wrap="square" rtlCol="0" anchor="ctr"/>
          <a:lstStyle/>
          <a:p>
            <a:pPr algn="ctr" indent="0" marL="0">
              <a:lnSpc>
                <a:spcPct val="130000"/>
              </a:lnSpc>
              <a:buNone/>
            </a:pPr>
            <a:r>
              <a:rPr lang="en-US" sz="950" dirty="0">
                <a:solidFill>
                  <a:srgbClr val="5A6B7C"/>
                </a:solidFill>
              </a:rPr>
              <a:t>Shopify installs</a:t>
            </a:r>
            <a:endParaRPr lang="en-US" sz="950" dirty="0"/>
          </a:p>
          <a:p>
            <a:pPr algn="ctr" indent="0" marL="0">
              <a:lnSpc>
                <a:spcPct val="130000"/>
              </a:lnSpc>
              <a:buNone/>
            </a:pPr>
            <a:r>
              <a:rPr lang="en-US" sz="950" dirty="0">
                <a:solidFill>
                  <a:srgbClr val="5A6B7C"/>
                </a:solidFill>
              </a:rPr>
              <a:t>in first 90 days</a:t>
            </a:r>
            <a:endParaRPr lang="en-US" sz="950" dirty="0"/>
          </a:p>
        </p:txBody>
      </p:sp>
      <p:sp>
        <p:nvSpPr>
          <p:cNvPr id="57" name="Shape 55"/>
          <p:cNvSpPr/>
          <p:nvPr/>
        </p:nvSpPr>
        <p:spPr>
          <a:xfrm>
            <a:off x="2697480" y="5349240"/>
            <a:ext cx="2286000" cy="822960"/>
          </a:xfrm>
          <a:prstGeom prst="rect">
            <a:avLst/>
          </a:prstGeom>
          <a:solidFill>
            <a:srgbClr val="EDF2F7"/>
          </a:solidFill>
          <a:ln w="12700">
            <a:solidFill>
              <a:srgbClr val="E2E8F0"/>
            </a:solidFill>
            <a:prstDash val="solid"/>
          </a:ln>
        </p:spPr>
      </p:sp>
      <p:sp>
        <p:nvSpPr>
          <p:cNvPr id="58" name="Text 56"/>
          <p:cNvSpPr/>
          <p:nvPr/>
        </p:nvSpPr>
        <p:spPr>
          <a:xfrm>
            <a:off x="2697480" y="5376672"/>
            <a:ext cx="2286000" cy="0"/>
          </a:xfrm>
          <a:prstGeom prst="rect">
            <a:avLst/>
          </a:prstGeom>
          <a:noFill/>
          <a:ln/>
        </p:spPr>
        <p:txBody>
          <a:bodyPr wrap="square" rtlCol="0" anchor="ctr"/>
          <a:lstStyle/>
          <a:p>
            <a:pPr algn="ctr" indent="0" marL="0">
              <a:buNone/>
            </a:pPr>
            <a:r>
              <a:rPr lang="en-US" sz="1800" b="1" dirty="0">
                <a:solidFill>
                  <a:srgbClr val="2C3E50"/>
                </a:solidFill>
              </a:rPr>
              <a:t>1,000+</a:t>
            </a:r>
            <a:endParaRPr lang="en-US" sz="1800" dirty="0"/>
          </a:p>
        </p:txBody>
      </p:sp>
      <p:sp>
        <p:nvSpPr>
          <p:cNvPr id="59" name="Text 57"/>
          <p:cNvSpPr/>
          <p:nvPr/>
        </p:nvSpPr>
        <p:spPr>
          <a:xfrm>
            <a:off x="2697480" y="5669280"/>
            <a:ext cx="2286000" cy="0"/>
          </a:xfrm>
          <a:prstGeom prst="rect">
            <a:avLst/>
          </a:prstGeom>
          <a:noFill/>
          <a:ln/>
        </p:spPr>
        <p:txBody>
          <a:bodyPr wrap="square" rtlCol="0" anchor="ctr"/>
          <a:lstStyle/>
          <a:p>
            <a:pPr algn="ctr" indent="0" marL="0">
              <a:lnSpc>
                <a:spcPct val="130000"/>
              </a:lnSpc>
              <a:buNone/>
            </a:pPr>
            <a:r>
              <a:rPr lang="en-US" sz="950" dirty="0">
                <a:solidFill>
                  <a:srgbClr val="5A6B7C"/>
                </a:solidFill>
              </a:rPr>
              <a:t>Monthly active</a:t>
            </a:r>
            <a:endParaRPr lang="en-US" sz="950" dirty="0"/>
          </a:p>
          <a:p>
            <a:pPr algn="ctr" indent="0" marL="0">
              <a:lnSpc>
                <a:spcPct val="130000"/>
              </a:lnSpc>
              <a:buNone/>
            </a:pPr>
            <a:r>
              <a:rPr lang="en-US" sz="950" dirty="0">
                <a:solidFill>
                  <a:srgbClr val="5A6B7C"/>
                </a:solidFill>
              </a:rPr>
              <a:t>AR sessions</a:t>
            </a:r>
            <a:endParaRPr lang="en-US" sz="950" dirty="0"/>
          </a:p>
        </p:txBody>
      </p:sp>
      <p:sp>
        <p:nvSpPr>
          <p:cNvPr id="60" name="Shape 58"/>
          <p:cNvSpPr/>
          <p:nvPr/>
        </p:nvSpPr>
        <p:spPr>
          <a:xfrm>
            <a:off x="5074920" y="5349240"/>
            <a:ext cx="2286000" cy="822960"/>
          </a:xfrm>
          <a:prstGeom prst="rect">
            <a:avLst/>
          </a:prstGeom>
          <a:solidFill>
            <a:srgbClr val="EDF2F7"/>
          </a:solidFill>
          <a:ln w="12700">
            <a:solidFill>
              <a:srgbClr val="E2E8F0"/>
            </a:solidFill>
            <a:prstDash val="solid"/>
          </a:ln>
        </p:spPr>
      </p:sp>
      <p:sp>
        <p:nvSpPr>
          <p:cNvPr id="61" name="Text 59"/>
          <p:cNvSpPr/>
          <p:nvPr/>
        </p:nvSpPr>
        <p:spPr>
          <a:xfrm>
            <a:off x="5074920" y="5376672"/>
            <a:ext cx="2286000" cy="0"/>
          </a:xfrm>
          <a:prstGeom prst="rect">
            <a:avLst/>
          </a:prstGeom>
          <a:noFill/>
          <a:ln/>
        </p:spPr>
        <p:txBody>
          <a:bodyPr wrap="square" rtlCol="0" anchor="ctr"/>
          <a:lstStyle/>
          <a:p>
            <a:pPr algn="ctr" indent="0" marL="0">
              <a:buNone/>
            </a:pPr>
            <a:r>
              <a:rPr lang="en-US" sz="1800" b="1" dirty="0">
                <a:solidFill>
                  <a:srgbClr val="2C3E50"/>
                </a:solidFill>
              </a:rPr>
              <a:t>&gt;25%</a:t>
            </a:r>
            <a:endParaRPr lang="en-US" sz="1800" dirty="0"/>
          </a:p>
        </p:txBody>
      </p:sp>
      <p:sp>
        <p:nvSpPr>
          <p:cNvPr id="62" name="Text 60"/>
          <p:cNvSpPr/>
          <p:nvPr/>
        </p:nvSpPr>
        <p:spPr>
          <a:xfrm>
            <a:off x="5074920" y="5669280"/>
            <a:ext cx="2286000" cy="0"/>
          </a:xfrm>
          <a:prstGeom prst="rect">
            <a:avLst/>
          </a:prstGeom>
          <a:noFill/>
          <a:ln/>
        </p:spPr>
        <p:txBody>
          <a:bodyPr wrap="square" rtlCol="0" anchor="ctr"/>
          <a:lstStyle/>
          <a:p>
            <a:pPr algn="ctr" indent="0" marL="0">
              <a:lnSpc>
                <a:spcPct val="130000"/>
              </a:lnSpc>
              <a:buNone/>
            </a:pPr>
            <a:r>
              <a:rPr lang="en-US" sz="950" dirty="0">
                <a:solidFill>
                  <a:srgbClr val="5A6B7C"/>
                </a:solidFill>
              </a:rPr>
              <a:t>Average conversion</a:t>
            </a:r>
            <a:endParaRPr lang="en-US" sz="950" dirty="0"/>
          </a:p>
          <a:p>
            <a:pPr algn="ctr" indent="0" marL="0">
              <a:lnSpc>
                <a:spcPct val="130000"/>
              </a:lnSpc>
              <a:buNone/>
            </a:pPr>
            <a:r>
              <a:rPr lang="en-US" sz="950" dirty="0">
                <a:solidFill>
                  <a:srgbClr val="5A6B7C"/>
                </a:solidFill>
              </a:rPr>
              <a:t>lift for merchants</a:t>
            </a:r>
            <a:endParaRPr lang="en-US" sz="950" dirty="0"/>
          </a:p>
        </p:txBody>
      </p:sp>
      <p:sp>
        <p:nvSpPr>
          <p:cNvPr id="63" name="Shape 61"/>
          <p:cNvSpPr/>
          <p:nvPr/>
        </p:nvSpPr>
        <p:spPr>
          <a:xfrm>
            <a:off x="7452360" y="5349240"/>
            <a:ext cx="2286000" cy="822960"/>
          </a:xfrm>
          <a:prstGeom prst="rect">
            <a:avLst/>
          </a:prstGeom>
          <a:solidFill>
            <a:srgbClr val="EDF2F7"/>
          </a:solidFill>
          <a:ln w="12700">
            <a:solidFill>
              <a:srgbClr val="E2E8F0"/>
            </a:solidFill>
            <a:prstDash val="solid"/>
          </a:ln>
        </p:spPr>
      </p:sp>
      <p:sp>
        <p:nvSpPr>
          <p:cNvPr id="64" name="Text 62"/>
          <p:cNvSpPr/>
          <p:nvPr/>
        </p:nvSpPr>
        <p:spPr>
          <a:xfrm>
            <a:off x="7452360" y="5376672"/>
            <a:ext cx="2286000" cy="0"/>
          </a:xfrm>
          <a:prstGeom prst="rect">
            <a:avLst/>
          </a:prstGeom>
          <a:noFill/>
          <a:ln/>
        </p:spPr>
        <p:txBody>
          <a:bodyPr wrap="square" rtlCol="0" anchor="ctr"/>
          <a:lstStyle/>
          <a:p>
            <a:pPr algn="ctr" indent="0" marL="0">
              <a:buNone/>
            </a:pPr>
            <a:r>
              <a:rPr lang="en-US" sz="1800" b="1" dirty="0">
                <a:solidFill>
                  <a:srgbClr val="2C3E50"/>
                </a:solidFill>
              </a:rPr>
              <a:t>&lt;3s</a:t>
            </a:r>
            <a:endParaRPr lang="en-US" sz="1800" dirty="0"/>
          </a:p>
        </p:txBody>
      </p:sp>
      <p:sp>
        <p:nvSpPr>
          <p:cNvPr id="65" name="Text 63"/>
          <p:cNvSpPr/>
          <p:nvPr/>
        </p:nvSpPr>
        <p:spPr>
          <a:xfrm>
            <a:off x="7452360" y="5669280"/>
            <a:ext cx="2286000" cy="0"/>
          </a:xfrm>
          <a:prstGeom prst="rect">
            <a:avLst/>
          </a:prstGeom>
          <a:noFill/>
          <a:ln/>
        </p:spPr>
        <p:txBody>
          <a:bodyPr wrap="square" rtlCol="0" anchor="ctr"/>
          <a:lstStyle/>
          <a:p>
            <a:pPr algn="ctr" indent="0" marL="0">
              <a:lnSpc>
                <a:spcPct val="130000"/>
              </a:lnSpc>
              <a:buNone/>
            </a:pPr>
            <a:r>
              <a:rPr lang="en-US" sz="950" dirty="0">
                <a:solidFill>
                  <a:srgbClr val="5A6B7C"/>
                </a:solidFill>
              </a:rPr>
              <a:t>Configurator widget</a:t>
            </a:r>
            <a:endParaRPr lang="en-US" sz="950" dirty="0"/>
          </a:p>
          <a:p>
            <a:pPr algn="ctr" indent="0" marL="0">
              <a:lnSpc>
                <a:spcPct val="130000"/>
              </a:lnSpc>
              <a:buNone/>
            </a:pPr>
            <a:r>
              <a:rPr lang="en-US" sz="950" dirty="0">
                <a:solidFill>
                  <a:srgbClr val="5A6B7C"/>
                </a:solidFill>
              </a:rPr>
              <a:t>mobile load speed</a:t>
            </a:r>
            <a:endParaRPr lang="en-US" sz="950" dirty="0"/>
          </a:p>
        </p:txBody>
      </p:sp>
      <p:sp>
        <p:nvSpPr>
          <p:cNvPr id="66" name="Shape 64"/>
          <p:cNvSpPr/>
          <p:nvPr/>
        </p:nvSpPr>
        <p:spPr>
          <a:xfrm>
            <a:off x="9829800" y="5349240"/>
            <a:ext cx="2286000" cy="822960"/>
          </a:xfrm>
          <a:prstGeom prst="rect">
            <a:avLst/>
          </a:prstGeom>
          <a:solidFill>
            <a:srgbClr val="EDF2F7"/>
          </a:solidFill>
          <a:ln w="12700">
            <a:solidFill>
              <a:srgbClr val="E2E8F0"/>
            </a:solidFill>
            <a:prstDash val="solid"/>
          </a:ln>
        </p:spPr>
      </p:sp>
      <p:sp>
        <p:nvSpPr>
          <p:cNvPr id="67" name="Text 65"/>
          <p:cNvSpPr/>
          <p:nvPr/>
        </p:nvSpPr>
        <p:spPr>
          <a:xfrm>
            <a:off x="9829800" y="5376672"/>
            <a:ext cx="2286000" cy="0"/>
          </a:xfrm>
          <a:prstGeom prst="rect">
            <a:avLst/>
          </a:prstGeom>
          <a:noFill/>
          <a:ln/>
        </p:spPr>
        <p:txBody>
          <a:bodyPr wrap="square" rtlCol="0" anchor="ctr"/>
          <a:lstStyle/>
          <a:p>
            <a:pPr algn="ctr" indent="0" marL="0">
              <a:buNone/>
            </a:pPr>
            <a:r>
              <a:rPr lang="en-US" sz="1800" b="1" dirty="0">
                <a:solidFill>
                  <a:srgbClr val="2C3E50"/>
                </a:solidFill>
              </a:rPr>
              <a:t>$10K+</a:t>
            </a:r>
            <a:endParaRPr lang="en-US" sz="1800" dirty="0"/>
          </a:p>
        </p:txBody>
      </p:sp>
      <p:sp>
        <p:nvSpPr>
          <p:cNvPr id="68" name="Text 66"/>
          <p:cNvSpPr/>
          <p:nvPr/>
        </p:nvSpPr>
        <p:spPr>
          <a:xfrm>
            <a:off x="9829800" y="5669280"/>
            <a:ext cx="2286000" cy="0"/>
          </a:xfrm>
          <a:prstGeom prst="rect">
            <a:avLst/>
          </a:prstGeom>
          <a:noFill/>
          <a:ln/>
        </p:spPr>
        <p:txBody>
          <a:bodyPr wrap="square" rtlCol="0" anchor="ctr"/>
          <a:lstStyle/>
          <a:p>
            <a:pPr algn="ctr" indent="0" marL="0">
              <a:lnSpc>
                <a:spcPct val="130000"/>
              </a:lnSpc>
              <a:buNone/>
            </a:pPr>
            <a:r>
              <a:rPr lang="en-US" sz="950" dirty="0">
                <a:solidFill>
                  <a:srgbClr val="5A6B7C"/>
                </a:solidFill>
              </a:rPr>
              <a:t>MRR targets by</a:t>
            </a:r>
            <a:endParaRPr lang="en-US" sz="950" dirty="0"/>
          </a:p>
          <a:p>
            <a:pPr algn="ctr" indent="0" marL="0">
              <a:lnSpc>
                <a:spcPct val="130000"/>
              </a:lnSpc>
              <a:buNone/>
            </a:pPr>
            <a:r>
              <a:rPr lang="en-US" sz="950" dirty="0">
                <a:solidFill>
                  <a:srgbClr val="5A6B7C"/>
                </a:solidFill>
              </a:rPr>
              <a:t>month 6 launch</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9D2706"/>
          </a:solidFill>
          <a:ln/>
        </p:spPr>
      </p:sp>
      <p:sp>
        <p:nvSpPr>
          <p:cNvPr id="3" name="Shape 1"/>
          <p:cNvSpPr/>
          <p:nvPr/>
        </p:nvSpPr>
        <p:spPr>
          <a:xfrm>
            <a:off x="182880" y="0"/>
            <a:ext cx="4572000" cy="6858000"/>
          </a:xfrm>
          <a:prstGeom prst="rect">
            <a:avLst/>
          </a:prstGeom>
          <a:solidFill>
            <a:srgbClr val="FFFFFF"/>
          </a:solidFill>
          <a:ln/>
        </p:spPr>
      </p:sp>
      <p:sp>
        <p:nvSpPr>
          <p:cNvPr id="4" name="Shape 2"/>
          <p:cNvSpPr/>
          <p:nvPr/>
        </p:nvSpPr>
        <p:spPr>
          <a:xfrm>
            <a:off x="4754880" y="0"/>
            <a:ext cx="27432" cy="6858000"/>
          </a:xfrm>
          <a:prstGeom prst="rect">
            <a:avLst/>
          </a:prstGeom>
          <a:solidFill>
            <a:srgbClr val="E2E8F0"/>
          </a:solidFill>
          <a:ln/>
        </p:spPr>
      </p:sp>
      <p:sp>
        <p:nvSpPr>
          <p:cNvPr id="5" name="Text 3"/>
          <p:cNvSpPr/>
          <p:nvPr/>
        </p:nvSpPr>
        <p:spPr>
          <a:xfrm>
            <a:off x="731520" y="1371600"/>
            <a:ext cx="347472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6" name="Text 4"/>
          <p:cNvSpPr/>
          <p:nvPr/>
        </p:nvSpPr>
        <p:spPr>
          <a:xfrm>
            <a:off x="731520" y="2560320"/>
            <a:ext cx="3474720" cy="731520"/>
          </a:xfrm>
          <a:prstGeom prst="rect">
            <a:avLst/>
          </a:prstGeom>
          <a:noFill/>
          <a:ln/>
        </p:spPr>
        <p:txBody>
          <a:bodyPr wrap="square" rtlCol="0" anchor="ctr"/>
          <a:lstStyle/>
          <a:p>
            <a:pPr algn="ctr" indent="0" marL="0">
              <a:buNone/>
            </a:pPr>
            <a:r>
              <a:rPr lang="en-US" sz="3200" b="1" dirty="0">
                <a:solidFill>
                  <a:srgbClr val="9D2706"/>
                </a:solidFill>
              </a:rPr>
              <a:t>What's Next</a:t>
            </a:r>
            <a:endParaRPr lang="en-US" sz="3200" dirty="0"/>
          </a:p>
        </p:txBody>
      </p:sp>
      <p:sp>
        <p:nvSpPr>
          <p:cNvPr id="7" name="Shape 5"/>
          <p:cNvSpPr/>
          <p:nvPr/>
        </p:nvSpPr>
        <p:spPr>
          <a:xfrm>
            <a:off x="1097280" y="3474720"/>
            <a:ext cx="2743200" cy="36576"/>
          </a:xfrm>
          <a:prstGeom prst="rect">
            <a:avLst/>
          </a:prstGeom>
          <a:solidFill>
            <a:srgbClr val="9D2706"/>
          </a:solidFill>
          <a:ln/>
        </p:spPr>
      </p:sp>
      <p:sp>
        <p:nvSpPr>
          <p:cNvPr id="8" name="Text 6"/>
          <p:cNvSpPr/>
          <p:nvPr/>
        </p:nvSpPr>
        <p:spPr>
          <a:xfrm>
            <a:off x="731520" y="3749040"/>
            <a:ext cx="3474720" cy="0"/>
          </a:xfrm>
          <a:prstGeom prst="rect">
            <a:avLst/>
          </a:prstGeom>
          <a:noFill/>
          <a:ln/>
        </p:spPr>
        <p:txBody>
          <a:bodyPr wrap="square" rtlCol="0" anchor="ctr"/>
          <a:lstStyle/>
          <a:p>
            <a:pPr algn="ctr" indent="0" marL="0">
              <a:lnSpc>
                <a:spcPct val="150000"/>
              </a:lnSpc>
              <a:buNone/>
            </a:pPr>
            <a:r>
              <a:rPr lang="en-US" sz="1200" dirty="0">
                <a:solidFill>
                  <a:srgbClr val="5A6B7C"/>
                </a:solidFill>
              </a:rPr>
              <a:t>Immediate engineering action plan</a:t>
            </a:r>
            <a:endParaRPr lang="en-US" sz="1200" dirty="0"/>
          </a:p>
          <a:p>
            <a:pPr algn="ctr" indent="0" marL="0">
              <a:lnSpc>
                <a:spcPct val="150000"/>
              </a:lnSpc>
              <a:buNone/>
            </a:pPr>
            <a:r>
              <a:rPr lang="en-US" sz="1200" dirty="0">
                <a:solidFill>
                  <a:srgbClr val="5A6B7C"/>
                </a:solidFill>
              </a:rPr>
              <a:t>to execute platform release.</a:t>
            </a:r>
            <a:endParaRPr lang="en-US" sz="1200" dirty="0"/>
          </a:p>
        </p:txBody>
      </p:sp>
      <p:sp>
        <p:nvSpPr>
          <p:cNvPr id="9" name="Text 7"/>
          <p:cNvSpPr/>
          <p:nvPr/>
        </p:nvSpPr>
        <p:spPr>
          <a:xfrm>
            <a:off x="5303520" y="731520"/>
            <a:ext cx="6583680" cy="0"/>
          </a:xfrm>
          <a:prstGeom prst="rect">
            <a:avLst/>
          </a:prstGeom>
          <a:noFill/>
          <a:ln/>
        </p:spPr>
        <p:txBody>
          <a:bodyPr wrap="square" rtlCol="0" anchor="ctr"/>
          <a:lstStyle/>
          <a:p>
            <a:pPr indent="0" marL="0">
              <a:buNone/>
            </a:pPr>
            <a:r>
              <a:rPr lang="en-US" sz="2200" b="1" dirty="0">
                <a:solidFill>
                  <a:srgbClr val="2C3E50"/>
                </a:solidFill>
              </a:rPr>
              <a:t>Immediate Action Items</a:t>
            </a:r>
            <a:endParaRPr lang="en-US" sz="2200" dirty="0"/>
          </a:p>
        </p:txBody>
      </p:sp>
      <p:sp>
        <p:nvSpPr>
          <p:cNvPr id="10" name="Shape 8"/>
          <p:cNvSpPr/>
          <p:nvPr/>
        </p:nvSpPr>
        <p:spPr>
          <a:xfrm>
            <a:off x="5303520" y="1188720"/>
            <a:ext cx="6400800" cy="36576"/>
          </a:xfrm>
          <a:prstGeom prst="rect">
            <a:avLst/>
          </a:prstGeom>
          <a:solidFill>
            <a:srgbClr val="9D2706"/>
          </a:solidFill>
          <a:ln/>
        </p:spPr>
      </p:sp>
      <p:sp>
        <p:nvSpPr>
          <p:cNvPr id="11" name="Shape 9"/>
          <p:cNvSpPr/>
          <p:nvPr/>
        </p:nvSpPr>
        <p:spPr>
          <a:xfrm>
            <a:off x="5303520" y="1371600"/>
            <a:ext cx="365760" cy="365760"/>
          </a:xfrm>
          <a:prstGeom prst="rect">
            <a:avLst/>
          </a:prstGeom>
          <a:solidFill>
            <a:srgbClr val="9D2706"/>
          </a:solidFill>
          <a:ln/>
        </p:spPr>
      </p:sp>
      <p:sp>
        <p:nvSpPr>
          <p:cNvPr id="12" name="Text 10"/>
          <p:cNvSpPr/>
          <p:nvPr/>
        </p:nvSpPr>
        <p:spPr>
          <a:xfrm>
            <a:off x="5303520" y="1417320"/>
            <a:ext cx="365760" cy="0"/>
          </a:xfrm>
          <a:prstGeom prst="rect">
            <a:avLst/>
          </a:prstGeom>
          <a:noFill/>
          <a:ln/>
        </p:spPr>
        <p:txBody>
          <a:bodyPr wrap="square" rtlCol="0" anchor="ctr"/>
          <a:lstStyle/>
          <a:p>
            <a:pPr algn="ctr" indent="0" marL="0">
              <a:buNone/>
            </a:pPr>
            <a:r>
              <a:rPr lang="en-US" sz="1200" b="1" dirty="0">
                <a:solidFill>
                  <a:srgbClr val="FFFFFF"/>
                </a:solidFill>
              </a:rPr>
              <a:t>1</a:t>
            </a:r>
            <a:endParaRPr lang="en-US" sz="1200" dirty="0"/>
          </a:p>
        </p:txBody>
      </p:sp>
      <p:sp>
        <p:nvSpPr>
          <p:cNvPr id="13" name="Text 11"/>
          <p:cNvSpPr/>
          <p:nvPr/>
        </p:nvSpPr>
        <p:spPr>
          <a:xfrm>
            <a:off x="5806440" y="1371600"/>
            <a:ext cx="6400800" cy="0"/>
          </a:xfrm>
          <a:prstGeom prst="rect">
            <a:avLst/>
          </a:prstGeom>
          <a:noFill/>
          <a:ln/>
        </p:spPr>
        <p:txBody>
          <a:bodyPr wrap="square" rtlCol="0" anchor="ctr"/>
          <a:lstStyle/>
          <a:p>
            <a:pPr indent="0" marL="0">
              <a:buNone/>
            </a:pPr>
            <a:r>
              <a:rPr lang="en-US" sz="1300" b="1" dirty="0">
                <a:solidFill>
                  <a:srgbClr val="2C3E50"/>
                </a:solidFill>
              </a:rPr>
              <a:t>Phase 2 Kickoff</a:t>
            </a:r>
            <a:endParaRPr lang="en-US" sz="1300" dirty="0"/>
          </a:p>
        </p:txBody>
      </p:sp>
      <p:sp>
        <p:nvSpPr>
          <p:cNvPr id="14" name="Text 12"/>
          <p:cNvSpPr/>
          <p:nvPr/>
        </p:nvSpPr>
        <p:spPr>
          <a:xfrm>
            <a:off x="5806440" y="1600200"/>
            <a:ext cx="6400800" cy="0"/>
          </a:xfrm>
          <a:prstGeom prst="rect">
            <a:avLst/>
          </a:prstGeom>
          <a:noFill/>
          <a:ln/>
        </p:spPr>
        <p:txBody>
          <a:bodyPr wrap="square" rtlCol="0" anchor="ctr"/>
          <a:lstStyle/>
          <a:p>
            <a:pPr indent="0" marL="0">
              <a:buNone/>
            </a:pPr>
            <a:r>
              <a:rPr lang="en-US" sz="1100" dirty="0">
                <a:solidFill>
                  <a:srgbClr val="5A6B7C"/>
                </a:solidFill>
              </a:rPr>
              <a:t>Develop SaaS dashboard interface: merchant login &amp; rule builders.</a:t>
            </a:r>
            <a:endParaRPr lang="en-US" sz="1100" dirty="0"/>
          </a:p>
        </p:txBody>
      </p:sp>
      <p:sp>
        <p:nvSpPr>
          <p:cNvPr id="15" name="Shape 13"/>
          <p:cNvSpPr/>
          <p:nvPr/>
        </p:nvSpPr>
        <p:spPr>
          <a:xfrm>
            <a:off x="5303520" y="2103120"/>
            <a:ext cx="365760" cy="365760"/>
          </a:xfrm>
          <a:prstGeom prst="rect">
            <a:avLst/>
          </a:prstGeom>
          <a:solidFill>
            <a:srgbClr val="9D2706"/>
          </a:solidFill>
          <a:ln/>
        </p:spPr>
      </p:sp>
      <p:sp>
        <p:nvSpPr>
          <p:cNvPr id="16" name="Text 14"/>
          <p:cNvSpPr/>
          <p:nvPr/>
        </p:nvSpPr>
        <p:spPr>
          <a:xfrm>
            <a:off x="5303520" y="2148840"/>
            <a:ext cx="365760" cy="0"/>
          </a:xfrm>
          <a:prstGeom prst="rect">
            <a:avLst/>
          </a:prstGeom>
          <a:noFill/>
          <a:ln/>
        </p:spPr>
        <p:txBody>
          <a:bodyPr wrap="square" rtlCol="0" anchor="ctr"/>
          <a:lstStyle/>
          <a:p>
            <a:pPr algn="ctr" indent="0" marL="0">
              <a:buNone/>
            </a:pPr>
            <a:r>
              <a:rPr lang="en-US" sz="1200" b="1" dirty="0">
                <a:solidFill>
                  <a:srgbClr val="FFFFFF"/>
                </a:solidFill>
              </a:rPr>
              <a:t>2</a:t>
            </a:r>
            <a:endParaRPr lang="en-US" sz="1200" dirty="0"/>
          </a:p>
        </p:txBody>
      </p:sp>
      <p:sp>
        <p:nvSpPr>
          <p:cNvPr id="17" name="Text 15"/>
          <p:cNvSpPr/>
          <p:nvPr/>
        </p:nvSpPr>
        <p:spPr>
          <a:xfrm>
            <a:off x="5806440" y="2103120"/>
            <a:ext cx="6400800" cy="0"/>
          </a:xfrm>
          <a:prstGeom prst="rect">
            <a:avLst/>
          </a:prstGeom>
          <a:noFill/>
          <a:ln/>
        </p:spPr>
        <p:txBody>
          <a:bodyPr wrap="square" rtlCol="0" anchor="ctr"/>
          <a:lstStyle/>
          <a:p>
            <a:pPr indent="0" marL="0">
              <a:buNone/>
            </a:pPr>
            <a:r>
              <a:rPr lang="en-US" sz="1300" b="1" dirty="0">
                <a:solidFill>
                  <a:srgbClr val="2C3E50"/>
                </a:solidFill>
              </a:rPr>
              <a:t>3D Artist Network Setup</a:t>
            </a:r>
            <a:endParaRPr lang="en-US" sz="1300" dirty="0"/>
          </a:p>
        </p:txBody>
      </p:sp>
      <p:sp>
        <p:nvSpPr>
          <p:cNvPr id="18" name="Text 16"/>
          <p:cNvSpPr/>
          <p:nvPr/>
        </p:nvSpPr>
        <p:spPr>
          <a:xfrm>
            <a:off x="5806440" y="2331720"/>
            <a:ext cx="6400800" cy="0"/>
          </a:xfrm>
          <a:prstGeom prst="rect">
            <a:avLst/>
          </a:prstGeom>
          <a:noFill/>
          <a:ln/>
        </p:spPr>
        <p:txBody>
          <a:bodyPr wrap="square" rtlCol="0" anchor="ctr"/>
          <a:lstStyle/>
          <a:p>
            <a:pPr indent="0" marL="0">
              <a:buNone/>
            </a:pPr>
            <a:r>
              <a:rPr lang="en-US" sz="1100" dirty="0">
                <a:solidFill>
                  <a:srgbClr val="5A6B7C"/>
                </a:solidFill>
              </a:rPr>
              <a:t>Onboard and align with 3D studios for standardized GLB production.</a:t>
            </a:r>
            <a:endParaRPr lang="en-US" sz="1100" dirty="0"/>
          </a:p>
        </p:txBody>
      </p:sp>
      <p:sp>
        <p:nvSpPr>
          <p:cNvPr id="19" name="Shape 17"/>
          <p:cNvSpPr/>
          <p:nvPr/>
        </p:nvSpPr>
        <p:spPr>
          <a:xfrm>
            <a:off x="5303520" y="2834640"/>
            <a:ext cx="365760" cy="365760"/>
          </a:xfrm>
          <a:prstGeom prst="rect">
            <a:avLst/>
          </a:prstGeom>
          <a:solidFill>
            <a:srgbClr val="9D2706"/>
          </a:solidFill>
          <a:ln/>
        </p:spPr>
      </p:sp>
      <p:sp>
        <p:nvSpPr>
          <p:cNvPr id="20" name="Text 18"/>
          <p:cNvSpPr/>
          <p:nvPr/>
        </p:nvSpPr>
        <p:spPr>
          <a:xfrm>
            <a:off x="5303520" y="2880360"/>
            <a:ext cx="365760" cy="0"/>
          </a:xfrm>
          <a:prstGeom prst="rect">
            <a:avLst/>
          </a:prstGeom>
          <a:noFill/>
          <a:ln/>
        </p:spPr>
        <p:txBody>
          <a:bodyPr wrap="square" rtlCol="0" anchor="ctr"/>
          <a:lstStyle/>
          <a:p>
            <a:pPr algn="ctr" indent="0" marL="0">
              <a:buNone/>
            </a:pPr>
            <a:r>
              <a:rPr lang="en-US" sz="1200" b="1" dirty="0">
                <a:solidFill>
                  <a:srgbClr val="FFFFFF"/>
                </a:solidFill>
              </a:rPr>
              <a:t>3</a:t>
            </a:r>
            <a:endParaRPr lang="en-US" sz="1200" dirty="0"/>
          </a:p>
        </p:txBody>
      </p:sp>
      <p:sp>
        <p:nvSpPr>
          <p:cNvPr id="21" name="Text 19"/>
          <p:cNvSpPr/>
          <p:nvPr/>
        </p:nvSpPr>
        <p:spPr>
          <a:xfrm>
            <a:off x="5806440" y="2834640"/>
            <a:ext cx="6400800" cy="0"/>
          </a:xfrm>
          <a:prstGeom prst="rect">
            <a:avLst/>
          </a:prstGeom>
          <a:noFill/>
          <a:ln/>
        </p:spPr>
        <p:txBody>
          <a:bodyPr wrap="square" rtlCol="0" anchor="ctr"/>
          <a:lstStyle/>
          <a:p>
            <a:pPr indent="0" marL="0">
              <a:buNone/>
            </a:pPr>
            <a:r>
              <a:rPr lang="en-US" sz="1300" b="1" dirty="0">
                <a:solidFill>
                  <a:srgbClr val="2C3E50"/>
                </a:solidFill>
              </a:rPr>
              <a:t>AR WebXR Prototyping</a:t>
            </a:r>
            <a:endParaRPr lang="en-US" sz="1300" dirty="0"/>
          </a:p>
        </p:txBody>
      </p:sp>
      <p:sp>
        <p:nvSpPr>
          <p:cNvPr id="22" name="Text 20"/>
          <p:cNvSpPr/>
          <p:nvPr/>
        </p:nvSpPr>
        <p:spPr>
          <a:xfrm>
            <a:off x="5806440" y="3063240"/>
            <a:ext cx="6400800" cy="0"/>
          </a:xfrm>
          <a:prstGeom prst="rect">
            <a:avLst/>
          </a:prstGeom>
          <a:noFill/>
          <a:ln/>
        </p:spPr>
        <p:txBody>
          <a:bodyPr wrap="square" rtlCol="0" anchor="ctr"/>
          <a:lstStyle/>
          <a:p>
            <a:pPr indent="0" marL="0">
              <a:buNone/>
            </a:pPr>
            <a:r>
              <a:rPr lang="en-US" sz="1100" dirty="0">
                <a:solidFill>
                  <a:srgbClr val="5A6B7C"/>
                </a:solidFill>
              </a:rPr>
              <a:t>Assemble initial WebXR spatial viewer for pilot furniture merchant.</a:t>
            </a:r>
            <a:endParaRPr lang="en-US" sz="1100" dirty="0"/>
          </a:p>
        </p:txBody>
      </p:sp>
      <p:sp>
        <p:nvSpPr>
          <p:cNvPr id="23" name="Shape 21"/>
          <p:cNvSpPr/>
          <p:nvPr/>
        </p:nvSpPr>
        <p:spPr>
          <a:xfrm>
            <a:off x="5303520" y="3566160"/>
            <a:ext cx="365760" cy="365760"/>
          </a:xfrm>
          <a:prstGeom prst="rect">
            <a:avLst/>
          </a:prstGeom>
          <a:solidFill>
            <a:srgbClr val="9D2706"/>
          </a:solidFill>
          <a:ln/>
        </p:spPr>
      </p:sp>
      <p:sp>
        <p:nvSpPr>
          <p:cNvPr id="24" name="Text 22"/>
          <p:cNvSpPr/>
          <p:nvPr/>
        </p:nvSpPr>
        <p:spPr>
          <a:xfrm>
            <a:off x="5303520" y="3611880"/>
            <a:ext cx="365760" cy="0"/>
          </a:xfrm>
          <a:prstGeom prst="rect">
            <a:avLst/>
          </a:prstGeom>
          <a:noFill/>
          <a:ln/>
        </p:spPr>
        <p:txBody>
          <a:bodyPr wrap="square" rtlCol="0" anchor="ctr"/>
          <a:lstStyle/>
          <a:p>
            <a:pPr algn="ctr" indent="0" marL="0">
              <a:buNone/>
            </a:pPr>
            <a:r>
              <a:rPr lang="en-US" sz="1200" b="1" dirty="0">
                <a:solidFill>
                  <a:srgbClr val="FFFFFF"/>
                </a:solidFill>
              </a:rPr>
              <a:t>4</a:t>
            </a:r>
            <a:endParaRPr lang="en-US" sz="1200" dirty="0"/>
          </a:p>
        </p:txBody>
      </p:sp>
      <p:sp>
        <p:nvSpPr>
          <p:cNvPr id="25" name="Text 23"/>
          <p:cNvSpPr/>
          <p:nvPr/>
        </p:nvSpPr>
        <p:spPr>
          <a:xfrm>
            <a:off x="5806440" y="3566160"/>
            <a:ext cx="6400800" cy="0"/>
          </a:xfrm>
          <a:prstGeom prst="rect">
            <a:avLst/>
          </a:prstGeom>
          <a:noFill/>
          <a:ln/>
        </p:spPr>
        <p:txBody>
          <a:bodyPr wrap="square" rtlCol="0" anchor="ctr"/>
          <a:lstStyle/>
          <a:p>
            <a:pPr indent="0" marL="0">
              <a:buNone/>
            </a:pPr>
            <a:r>
              <a:rPr lang="en-US" sz="1300" b="1" dirty="0">
                <a:solidFill>
                  <a:srgbClr val="2C3E50"/>
                </a:solidFill>
              </a:rPr>
              <a:t>Shopify App Scaffolding</a:t>
            </a:r>
            <a:endParaRPr lang="en-US" sz="1300" dirty="0"/>
          </a:p>
        </p:txBody>
      </p:sp>
      <p:sp>
        <p:nvSpPr>
          <p:cNvPr id="26" name="Text 24"/>
          <p:cNvSpPr/>
          <p:nvPr/>
        </p:nvSpPr>
        <p:spPr>
          <a:xfrm>
            <a:off x="5806440" y="3794760"/>
            <a:ext cx="6400800" cy="0"/>
          </a:xfrm>
          <a:prstGeom prst="rect">
            <a:avLst/>
          </a:prstGeom>
          <a:noFill/>
          <a:ln/>
        </p:spPr>
        <p:txBody>
          <a:bodyPr wrap="square" rtlCol="0" anchor="ctr"/>
          <a:lstStyle/>
          <a:p>
            <a:pPr indent="0" marL="0">
              <a:buNone/>
            </a:pPr>
            <a:r>
              <a:rPr lang="en-US" sz="1100" dirty="0">
                <a:solidFill>
                  <a:srgbClr val="5A6B7C"/>
                </a:solidFill>
              </a:rPr>
              <a:t>Register Shopify Developer tenant and initialize App Bridge.</a:t>
            </a:r>
            <a:endParaRPr lang="en-US" sz="1100" dirty="0"/>
          </a:p>
        </p:txBody>
      </p:sp>
      <p:sp>
        <p:nvSpPr>
          <p:cNvPr id="27" name="Shape 25"/>
          <p:cNvSpPr/>
          <p:nvPr/>
        </p:nvSpPr>
        <p:spPr>
          <a:xfrm>
            <a:off x="5303520" y="4297680"/>
            <a:ext cx="365760" cy="365760"/>
          </a:xfrm>
          <a:prstGeom prst="rect">
            <a:avLst/>
          </a:prstGeom>
          <a:solidFill>
            <a:srgbClr val="9D2706"/>
          </a:solidFill>
          <a:ln/>
        </p:spPr>
      </p:sp>
      <p:sp>
        <p:nvSpPr>
          <p:cNvPr id="28" name="Text 26"/>
          <p:cNvSpPr/>
          <p:nvPr/>
        </p:nvSpPr>
        <p:spPr>
          <a:xfrm>
            <a:off x="5303520" y="4343400"/>
            <a:ext cx="365760" cy="0"/>
          </a:xfrm>
          <a:prstGeom prst="rect">
            <a:avLst/>
          </a:prstGeom>
          <a:noFill/>
          <a:ln/>
        </p:spPr>
        <p:txBody>
          <a:bodyPr wrap="square" rtlCol="0" anchor="ctr"/>
          <a:lstStyle/>
          <a:p>
            <a:pPr algn="ctr" indent="0" marL="0">
              <a:buNone/>
            </a:pPr>
            <a:r>
              <a:rPr lang="en-US" sz="1200" b="1" dirty="0">
                <a:solidFill>
                  <a:srgbClr val="FFFFFF"/>
                </a:solidFill>
              </a:rPr>
              <a:t>5</a:t>
            </a:r>
            <a:endParaRPr lang="en-US" sz="1200" dirty="0"/>
          </a:p>
        </p:txBody>
      </p:sp>
      <p:sp>
        <p:nvSpPr>
          <p:cNvPr id="29" name="Text 27"/>
          <p:cNvSpPr/>
          <p:nvPr/>
        </p:nvSpPr>
        <p:spPr>
          <a:xfrm>
            <a:off x="5806440" y="4297680"/>
            <a:ext cx="6400800" cy="0"/>
          </a:xfrm>
          <a:prstGeom prst="rect">
            <a:avLst/>
          </a:prstGeom>
          <a:noFill/>
          <a:ln/>
        </p:spPr>
        <p:txBody>
          <a:bodyPr wrap="square" rtlCol="0" anchor="ctr"/>
          <a:lstStyle/>
          <a:p>
            <a:pPr indent="0" marL="0">
              <a:buNone/>
            </a:pPr>
            <a:r>
              <a:rPr lang="en-US" sz="1300" b="1" dirty="0">
                <a:solidFill>
                  <a:srgbClr val="2C3E50"/>
                </a:solidFill>
              </a:rPr>
              <a:t>Stripe Subscription API</a:t>
            </a:r>
            <a:endParaRPr lang="en-US" sz="1300" dirty="0"/>
          </a:p>
        </p:txBody>
      </p:sp>
      <p:sp>
        <p:nvSpPr>
          <p:cNvPr id="30" name="Text 28"/>
          <p:cNvSpPr/>
          <p:nvPr/>
        </p:nvSpPr>
        <p:spPr>
          <a:xfrm>
            <a:off x="5806440" y="4526280"/>
            <a:ext cx="6400800" cy="0"/>
          </a:xfrm>
          <a:prstGeom prst="rect">
            <a:avLst/>
          </a:prstGeom>
          <a:noFill/>
          <a:ln/>
        </p:spPr>
        <p:txBody>
          <a:bodyPr wrap="square" rtlCol="0" anchor="ctr"/>
          <a:lstStyle/>
          <a:p>
            <a:pPr indent="0" marL="0">
              <a:buNone/>
            </a:pPr>
            <a:r>
              <a:rPr lang="en-US" sz="1100" dirty="0">
                <a:solidFill>
                  <a:srgbClr val="5A6B7C"/>
                </a:solidFill>
              </a:rPr>
              <a:t>Integrate subscription checkout webhooks before merchant onboarding.</a:t>
            </a:r>
            <a:endParaRPr lang="en-US" sz="1100" dirty="0"/>
          </a:p>
        </p:txBody>
      </p:sp>
      <p:sp>
        <p:nvSpPr>
          <p:cNvPr id="31" name="Shape 29"/>
          <p:cNvSpPr/>
          <p:nvPr/>
        </p:nvSpPr>
        <p:spPr>
          <a:xfrm>
            <a:off x="5303520" y="5029200"/>
            <a:ext cx="365760" cy="365760"/>
          </a:xfrm>
          <a:prstGeom prst="rect">
            <a:avLst/>
          </a:prstGeom>
          <a:solidFill>
            <a:srgbClr val="9D2706"/>
          </a:solidFill>
          <a:ln/>
        </p:spPr>
      </p:sp>
      <p:sp>
        <p:nvSpPr>
          <p:cNvPr id="32" name="Text 30"/>
          <p:cNvSpPr/>
          <p:nvPr/>
        </p:nvSpPr>
        <p:spPr>
          <a:xfrm>
            <a:off x="5303520" y="5074920"/>
            <a:ext cx="365760" cy="0"/>
          </a:xfrm>
          <a:prstGeom prst="rect">
            <a:avLst/>
          </a:prstGeom>
          <a:noFill/>
          <a:ln/>
        </p:spPr>
        <p:txBody>
          <a:bodyPr wrap="square" rtlCol="0" anchor="ctr"/>
          <a:lstStyle/>
          <a:p>
            <a:pPr algn="ctr" indent="0" marL="0">
              <a:buNone/>
            </a:pPr>
            <a:r>
              <a:rPr lang="en-US" sz="1200" b="1" dirty="0">
                <a:solidFill>
                  <a:srgbClr val="FFFFFF"/>
                </a:solidFill>
              </a:rPr>
              <a:t>6</a:t>
            </a:r>
            <a:endParaRPr lang="en-US" sz="1200" dirty="0"/>
          </a:p>
        </p:txBody>
      </p:sp>
      <p:sp>
        <p:nvSpPr>
          <p:cNvPr id="33" name="Text 31"/>
          <p:cNvSpPr/>
          <p:nvPr/>
        </p:nvSpPr>
        <p:spPr>
          <a:xfrm>
            <a:off x="5806440" y="5029200"/>
            <a:ext cx="6400800" cy="0"/>
          </a:xfrm>
          <a:prstGeom prst="rect">
            <a:avLst/>
          </a:prstGeom>
          <a:noFill/>
          <a:ln/>
        </p:spPr>
        <p:txBody>
          <a:bodyPr wrap="square" rtlCol="0" anchor="ctr"/>
          <a:lstStyle/>
          <a:p>
            <a:pPr indent="0" marL="0">
              <a:buNone/>
            </a:pPr>
            <a:r>
              <a:rPr lang="en-US" sz="1300" b="1" dirty="0">
                <a:solidFill>
                  <a:srgbClr val="2C3E50"/>
                </a:solidFill>
              </a:rPr>
              <a:t>Pilot Merchant Selection</a:t>
            </a:r>
            <a:endParaRPr lang="en-US" sz="1300" dirty="0"/>
          </a:p>
        </p:txBody>
      </p:sp>
      <p:sp>
        <p:nvSpPr>
          <p:cNvPr id="34" name="Text 32"/>
          <p:cNvSpPr/>
          <p:nvPr/>
        </p:nvSpPr>
        <p:spPr>
          <a:xfrm>
            <a:off x="5806440" y="5257800"/>
            <a:ext cx="6400800" cy="0"/>
          </a:xfrm>
          <a:prstGeom prst="rect">
            <a:avLst/>
          </a:prstGeom>
          <a:noFill/>
          <a:ln/>
        </p:spPr>
        <p:txBody>
          <a:bodyPr wrap="square" rtlCol="0" anchor="ctr"/>
          <a:lstStyle/>
          <a:p>
            <a:pPr indent="0" marL="0">
              <a:buNone/>
            </a:pPr>
            <a:r>
              <a:rPr lang="en-US" sz="1100" dirty="0">
                <a:solidFill>
                  <a:srgbClr val="5A6B7C"/>
                </a:solidFill>
              </a:rPr>
              <a:t>Select 3 active merchants for initial beta testing run.</a:t>
            </a:r>
            <a:endParaRPr lang="en-US" sz="1100" dirty="0"/>
          </a:p>
        </p:txBody>
      </p:sp>
      <p:sp>
        <p:nvSpPr>
          <p:cNvPr id="35" name="Shape 33"/>
          <p:cNvSpPr/>
          <p:nvPr/>
        </p:nvSpPr>
        <p:spPr>
          <a:xfrm>
            <a:off x="5303520" y="5852160"/>
            <a:ext cx="6583680" cy="36576"/>
          </a:xfrm>
          <a:prstGeom prst="rect">
            <a:avLst/>
          </a:prstGeom>
          <a:solidFill>
            <a:srgbClr val="E2E8F0"/>
          </a:solidFill>
          <a:ln/>
        </p:spPr>
      </p:sp>
      <p:sp>
        <p:nvSpPr>
          <p:cNvPr id="36" name="Text 34"/>
          <p:cNvSpPr/>
          <p:nvPr/>
        </p:nvSpPr>
        <p:spPr>
          <a:xfrm>
            <a:off x="5303520" y="5943600"/>
            <a:ext cx="6583680" cy="0"/>
          </a:xfrm>
          <a:prstGeom prst="rect">
            <a:avLst/>
          </a:prstGeom>
          <a:noFill/>
          <a:ln/>
        </p:spPr>
        <p:txBody>
          <a:bodyPr wrap="square" rtlCol="0" anchor="ctr"/>
          <a:lstStyle/>
          <a:p>
            <a:pPr indent="0" marL="0">
              <a:buNone/>
            </a:pPr>
            <a:r>
              <a:rPr lang="en-US" sz="1000" i="1" dirty="0">
                <a:solidFill>
                  <a:srgbClr val="8A9BA8"/>
                </a:solidFill>
              </a:rPr>
              <a:t>github.com/Vaidyakrushna/Cognaq  |  Version 3.0  |  July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2026-07-12T14:27:17Z</dcterms:created>
  <dcterms:modified xsi:type="dcterms:W3CDTF">2026-07-12T14:27:17Z</dcterms:modified>
</cp:coreProperties>
</file>